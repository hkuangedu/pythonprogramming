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APPLE (AAPL)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0A0A8"/>
                </a:solidFill>
              </a:rPr>
              <a:t>Competitive Landscape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6868B"/>
                </a:solidFill>
              </a:rPr>
              <a:t>Prepared May 2026  |  Technology Sector  |  NASDAQ: AAPL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MARKET OVERVIEW &amp; APPLE'S 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1E3"/>
                </a:solidFill>
              </a:rPr>
              <a:t>$3.3T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48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6868B"/>
                </a:solidFill>
              </a:rPr>
              <a:t>Market Cap
(#1 globally)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79" y="128016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79" y="1417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1E3"/>
                </a:solidFill>
              </a:rPr>
              <a:t>$391B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2148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6868B"/>
                </a:solidFill>
              </a:rPr>
              <a:t>FY2024
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28016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417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1E3"/>
                </a:solidFill>
              </a:rPr>
              <a:t>31%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48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6868B"/>
                </a:solidFill>
              </a:rPr>
              <a:t>Net Profit
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19" y="128016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19" y="1417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1E3"/>
                </a:solidFill>
              </a:rPr>
              <a:t>2.2B+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19" y="2148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6868B"/>
                </a:solidFill>
              </a:rPr>
              <a:t>Active
Devices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128016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41732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71E3"/>
                </a:solidFill>
              </a:rPr>
              <a:t>$110B+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148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6868B"/>
                </a:solidFill>
              </a:rPr>
              <a:t>Annual
R&amp;D + CapEx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1546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• Apple operates across five segments: iPhone (52%), Services (22%), Mac (8%), iPad (7%), Wearables/Home (11%)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7947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• Services segment (App Store, iCloud, Apple TV+, Apple Pay) growing at ~14% YoY — highest-margin 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434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• Geographic mix: Americas 42%, Europe 25%, Greater China 19%, Rest of Asia Pacific 14%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0749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• Installed base of 2.2B+ active devices creates a durable, high-switching-cost ecosystem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COMPETITORS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868B"/>
                </a:solidFill>
              </a:rPr>
              <a:t>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097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868B"/>
                </a:solidFill>
              </a:rPr>
              <a:t>Mkt 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097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868B"/>
                </a:solidFill>
              </a:rPr>
              <a:t>Core 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6868B"/>
                </a:solidFill>
              </a:rPr>
              <a:t>Key Products/Initiatives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11612880" cy="80467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54480"/>
            <a:ext cx="1645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</a:rPr>
              <a:t>Microsoft
(MSFT)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554480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$3.1T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554480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Cloud/AI/Enterprise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155448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Azure, Office 365, Copilot AI suite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116128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68879"/>
            <a:ext cx="1645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</a:rPr>
              <a:t>Alphabet
(GOOGL)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468879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$2.0T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468879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Search/Cloud/AI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468879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Android, Google Cloud, Gemini 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337560"/>
            <a:ext cx="11612880" cy="80467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383279"/>
            <a:ext cx="1645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</a:rPr>
              <a:t>Samsung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383279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$0.3T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383279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Hardware/Semicon.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383279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Galaxy devices, OLED displays, DRAM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251960"/>
            <a:ext cx="116128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297680"/>
            <a:ext cx="1645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</a:rPr>
              <a:t>Meta
(META)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297680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$1.4T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297680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Social/AR/VR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29768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Vision Pro rival, Ray-Ban glasses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166360"/>
            <a:ext cx="11612880" cy="80467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5212080"/>
            <a:ext cx="16459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</a:rPr>
              <a:t>Amazon
(AMZN)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5212080"/>
            <a:ext cx="1097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$2.2T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212080"/>
            <a:ext cx="2011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Cloud/Devices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5212080"/>
            <a:ext cx="5303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</a:rPr>
              <a:t>AWS, Alexa, Echo, Fire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APPLE'S COMPETITIVE MOATS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64592" cy="178308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</a:rPr>
              <a:t>Ecosystem Lock-In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868B"/>
                </a:solidFill>
              </a:rPr>
              <a:t>iMessage, AirDrop, Handoff, iCloud create seamless device interoperability. Switching cost estimated at $1,000–$1,500 per user. Churn rate &lt;5%/year.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43000"/>
            <a:ext cx="164592" cy="1783080"/>
          </a:xfrm>
          <a:prstGeom prst="rect">
            <a:avLst/>
          </a:prstGeom>
          <a:solidFill>
            <a:srgbClr val="30B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</a:rPr>
              <a:t>Brand &amp; Premium Pricing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868B"/>
                </a:solidFill>
              </a:rPr>
              <a:t>Consistent #1 in brand loyalty (ACSI). ASP of $850+ vs. Android ~$300. Premium pricing power sustained across economic cycles.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54680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154680"/>
            <a:ext cx="164592" cy="178308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</a:rPr>
              <a:t>Vertical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868B"/>
                </a:solidFill>
              </a:rPr>
              <a:t>Custom silicon (M-series, A-series chips) provides 2–3 year CPU/GPU performance lead. Owns chip design, software, services, and retail distribution.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154680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154680"/>
            <a:ext cx="164592" cy="178308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2461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</a:rPr>
              <a:t>Services Flywheel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6576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868B"/>
                </a:solidFill>
              </a:rPr>
              <a:t>$96B+ annual services revenue growing 14% YoY at ~75% gross margin. App Store, Apple Pay, iCloud, Apple TV+, AppleCare compound with installed base.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166360"/>
            <a:ext cx="557784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166360"/>
            <a:ext cx="164592" cy="1783080"/>
          </a:xfrm>
          <a:prstGeom prst="rect">
            <a:avLst/>
          </a:prstGeom>
          <a:solidFill>
            <a:srgbClr val="FF4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</a:rPr>
              <a:t>Supply Chain Mastery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868B"/>
                </a:solidFill>
              </a:rPr>
              <a:t>Multi-decade supplier relationships, TSMC allocation priority, and $110B+ annual procurement give unmatched cost structure and component security.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COMPARATIVE ANALYSIS — 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521440" cy="59436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17043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99" y="1170432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79" y="1170432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Microsoft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59" y="1170432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Alphabet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170432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1170432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Amazon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19072"/>
            <a:ext cx="11521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7922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Revenue (FY24)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599" y="1792224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1E3"/>
                </a:solidFill>
              </a:rPr>
              <a:t>$391B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79" y="1792224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$245B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59" y="1792224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$350B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792224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$165B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1792224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$620B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340864"/>
            <a:ext cx="11521440" cy="5943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41401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Revenue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599" y="2414016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1E3"/>
                </a:solidFill>
              </a:rPr>
              <a:t>+6%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2414016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+16%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59" y="2414016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+14%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414016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+22%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414016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+11%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962656"/>
            <a:ext cx="11521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0358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Gross Margin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599" y="3035808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1E3"/>
                </a:solidFill>
              </a:rPr>
              <a:t>46%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79" y="3035808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70%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59" y="3035808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57%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035808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81%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3035808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49%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584448"/>
            <a:ext cx="11521440" cy="5943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Net Margin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599" y="3657600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1E3"/>
                </a:solidFill>
              </a:rPr>
              <a:t>31%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9079" y="3657600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35%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59" y="3657600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26%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3657600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38%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3657600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9%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206240"/>
            <a:ext cx="11521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427939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EV/EBITDA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599" y="4279392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1E3"/>
                </a:solidFill>
              </a:rPr>
              <a:t>27x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9079" y="4279392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31x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59" y="4279392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18x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4279392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22x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279392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24x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828032"/>
            <a:ext cx="11521440" cy="59436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490118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P/E (NTM)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14599" y="4901184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1E3"/>
                </a:solidFill>
              </a:rPr>
              <a:t>32x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9079" y="4901184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36x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3559" y="4901184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21x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4901184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25x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4901184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44x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449824"/>
            <a:ext cx="11521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552297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FCF Yield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14599" y="5522976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1E3"/>
                </a:solidFill>
              </a:rPr>
              <a:t>3.1%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69079" y="5522976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2.6%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23559" y="5522976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4.2%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5522976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3.8%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32520" y="5522976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D1D1F"/>
                </a:solidFill>
              </a:rPr>
              <a:t>2.1%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6868B"/>
                </a:solidFill>
              </a:rPr>
              <a:t>Source: Bloomberg, FactSet consensus estimates. FY2024 actuals.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D1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STRATEGIC RISKS &amp;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0015"/>
                </a:solidFill>
              </a:rPr>
              <a:t>KEY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C759"/>
                </a:solidFill>
              </a:rPr>
              <a:t>KEY OPPORTUNITIES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566928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137160" cy="1078992"/>
          </a:xfrm>
          <a:prstGeom prst="rect">
            <a:avLst/>
          </a:prstGeom>
          <a:solidFill>
            <a:srgbClr val="D7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China Revenue Concentration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868B"/>
                </a:solidFill>
              </a:rPr>
              <a:t>19% of revenue from Greater China; geopolitical risk and local brand competition from Huawei resurgence.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43200"/>
            <a:ext cx="566928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743200"/>
            <a:ext cx="137160" cy="1078992"/>
          </a:xfrm>
          <a:prstGeom prst="rect">
            <a:avLst/>
          </a:prstGeom>
          <a:solidFill>
            <a:srgbClr val="D7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8892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Regulatory / Antitrust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5468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868B"/>
                </a:solidFill>
              </a:rPr>
              <a:t>EU Digital Markets Act, DOJ App Store investigation. Potential 30% fee reduction could impact $30B+ Services revenue.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566928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137160" cy="1078992"/>
          </a:xfrm>
          <a:prstGeom prst="rect">
            <a:avLst/>
          </a:prstGeom>
          <a:solidFill>
            <a:srgbClr val="D7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77639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AI Hardware Catch-Up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4340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868B"/>
                </a:solidFill>
              </a:rPr>
              <a:t>On-device AI (Apple Intelligence) lags Qualcomm/Snapdragon X Elite in raw AI performance benchmarks.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120640"/>
            <a:ext cx="566928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5120640"/>
            <a:ext cx="137160" cy="1078992"/>
          </a:xfrm>
          <a:prstGeom prst="rect">
            <a:avLst/>
          </a:prstGeom>
          <a:solidFill>
            <a:srgbClr val="D7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16636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Services Growth Dependency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3212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868B"/>
                </a:solidFill>
              </a:rPr>
              <a:t>Multiple expansion requires Services to sustain 14%+ growth; any deceleration re-rates the stock materially.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554480"/>
            <a:ext cx="566928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554480"/>
            <a:ext cx="137160" cy="1078992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60020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Apple Intelligence / GenAI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96596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868B"/>
                </a:solidFill>
              </a:rPr>
              <a:t>On-device LLM integration across 2.2B devices — largest private AI distribution channel. ChatGPT partnership.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743200"/>
            <a:ext cx="566928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2743200"/>
            <a:ext cx="137160" cy="1078992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78892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Financial Services Expansion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15468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868B"/>
                </a:solidFill>
              </a:rPr>
              <a:t>Apple Card, Apple Pay Later, Savings Account — path to $50B+ fintech revenue by 2030.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931920"/>
            <a:ext cx="566928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931920"/>
            <a:ext cx="137160" cy="1078992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977639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Vision Pro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34340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868B"/>
                </a:solidFill>
              </a:rPr>
              <a:t>visionOS ecosystem still nascent; enterprise adoption in healthcare/AEC could open new TAM.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5120640"/>
            <a:ext cx="566928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5120640"/>
            <a:ext cx="137160" cy="1078992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516636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1D1F"/>
                </a:solidFill>
              </a:rPr>
              <a:t>India Manufacturing &amp; Market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532120"/>
            <a:ext cx="5349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6868B"/>
                </a:solidFill>
              </a:rPr>
              <a:t>Shifting 25%+ production to India; domestic market of 1.4B with rising middle class.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SUMMARY &amp; INVESTMENT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C759"/>
                </a:solidFill>
              </a:rPr>
              <a:t>Bull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00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 Services flywheel compounds with 2.2B device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5856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 Apple Intelligence drives upgrade supercycle (FY25–26)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16936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 India manufacturing de-risks China concentration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7530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 Buyback yield (~3.5%) + dividend support total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3367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+ Vision Pro creates next computing platform option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143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522"/>
                </a:solidFill>
              </a:rPr>
              <a:t>Bear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600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- 32x P/E leaves little room for execution misses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258568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- China risk (Huawei + regulatory) threatens top-line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916936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- EU antitrust reduces App Store fee economics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575304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- Slowing iPhone ASP growth limits revenue upside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23367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- AI compute intensity may strain margin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1430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600"/>
                </a:solidFill>
              </a:rPr>
              <a:t>Verdict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600200"/>
            <a:ext cx="3931920" cy="3291840"/>
          </a:xfrm>
          <a:prstGeom prst="rect">
            <a:avLst/>
          </a:prstGeom>
          <a:solidFill>
            <a:srgbClr val="2C2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691640"/>
            <a:ext cx="36118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Apple is the world's most valuable company for a reason: its ecosystem moat, vertical integration, and Services flywheel are structurally durable.
At current multiples (32x NTM P/E), the stock prices in continued Services outperformance and an AI-driven device cycle. The risk/reward is balanced — compelling for long-term holders, but entry timing matters.
Target price range: $205–$240 (base case)
Bull case: $265+ | Bear case: $175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