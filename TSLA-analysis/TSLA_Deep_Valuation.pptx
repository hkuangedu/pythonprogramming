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9144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TESLA, INC. (TSLA)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6868B"/>
                </a:solidFill>
              </a:rPr>
              <a:t>Deep Valuation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6868B"/>
                </a:solidFill>
              </a:rPr>
              <a:t>Prepared May 2026  ·  NASDAQ: TSLA  ·  Consumer Discretionary / AI &amp; Autonomy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06068"/>
                </a:solidFill>
              </a:rPr>
              <a:t>Models included: 3-Statement · DCF · Comp Analysis · Sum of the Parts · Scenario Bridge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INVESTMENT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7830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31937"/>
                </a:solidFill>
              </a:rPr>
              <a:t>$887B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</a:rPr>
              <a:t>Market Cap</a:t>
            </a:r>
          </a:p>
        </p:txBody>
      </p:sp>
      <p:sp>
        <p:nvSpPr>
          <p:cNvPr id="7" name="Rectangle 6"/>
          <p:cNvSpPr/>
          <p:nvPr/>
        </p:nvSpPr>
        <p:spPr>
          <a:xfrm>
            <a:off x="2258568" y="1143000"/>
            <a:ext cx="17830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8568" y="123444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31937"/>
                </a:solidFill>
              </a:rPr>
              <a:t>$97.7B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9202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</a:rPr>
              <a:t>FY2024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2816" y="1143000"/>
            <a:ext cx="17830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2816" y="123444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31937"/>
                </a:solidFill>
              </a:rPr>
              <a:t>$12.5B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2816" y="19202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</a:rPr>
              <a:t>FY2024 EBITDA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1143000"/>
            <a:ext cx="17830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23444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31937"/>
                </a:solidFill>
              </a:rPr>
              <a:t>71x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19202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</a:rPr>
              <a:t>EV / EBITDA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312" y="1143000"/>
            <a:ext cx="17830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23444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31937"/>
                </a:solidFill>
              </a:rPr>
              <a:t>~$278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202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</a:rPr>
              <a:t>Current Price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95560" y="1143000"/>
            <a:ext cx="17830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123444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31937"/>
                </a:solidFill>
              </a:rPr>
              <a:t>1.79M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60" y="192024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</a:rPr>
              <a:t>FY2024 Deliveries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788920"/>
            <a:ext cx="3749039" cy="34290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788920"/>
            <a:ext cx="164592" cy="34290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85292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C759"/>
                </a:solidFill>
              </a:rPr>
              <a:t>Bull Case (~$439/share)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310128"/>
            <a:ext cx="3429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FSD reaches 10M+ subscribers. Cybercab launches at scale. Optimus ships 500K+ units. Energy becomes #1 grid-storage provider globally. Tesla transitions from auto OEM to AI/robotics platform.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2788920"/>
            <a:ext cx="3749039" cy="34290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59" y="2788920"/>
            <a:ext cx="164592" cy="3429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285292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1E3"/>
                </a:solidFill>
              </a:rPr>
              <a:t>Base Case (~$164/share)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3310128"/>
            <a:ext cx="3429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Energy doubles by FY2027. FSD reaches 5M subscribers at $99/mo. Cybercab pilots in 2–3 cities. Affordable model drives deliveries to 2.8M. Margins recover to 10–12% EBIT by FY2026.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788920"/>
            <a:ext cx="3749039" cy="34290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2788920"/>
            <a:ext cx="164592" cy="3429000"/>
          </a:xfrm>
          <a:prstGeom prst="rect">
            <a:avLst/>
          </a:prstGeom>
          <a:solidFill>
            <a:srgbClr val="D7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285292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0015"/>
                </a:solidFill>
              </a:rPr>
              <a:t>Bear Case (~$64/share)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3310128"/>
            <a:ext cx="3429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Chinese competition (BYD, Huawei) erodes margin. FSD regulatory hurdles delay monetization. Optimus R&amp;D drag exceeds $5B/yr with no revenue. Auto gross margin falls to 14–15%.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BUSINESS OVERVIEW — SEGMENTS &amp;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2743200" cy="51663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2743200" cy="5029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Automotive
52% → 79%*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6 models: Model 3/Y (volume), S/X (premium), Cybertruck, Semi
• FY2024: 1.79M deliveries, $77.1B revenue
• Declining ASP (~$43K) reflects mix shift to lower-trim models
• Gross margin 17.9% — compressed from 28% peak in 2022
• FSD: $8K one-time or $99/mo subscription; not yet L4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2968" y="1097280"/>
            <a:ext cx="2743200" cy="51663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72968" y="1097280"/>
            <a:ext cx="2743200" cy="502920"/>
          </a:xfrm>
          <a:prstGeom prst="rect">
            <a:avLst/>
          </a:prstGeom>
          <a:solidFill>
            <a:srgbClr val="00B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115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Energy Gen &amp; Storage
10%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169164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Megapack: utility-scale battery (3 MWh each)
• FY2024: $10.1B revenue, +165% in 2yr
• Gross margin 24.6% in Q4'24 — best-in-class
• AI data centers driving Megapack demand
• Powerwall: residential storage; 50GWh deployed cumulative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7336" y="1097280"/>
            <a:ext cx="2743200" cy="51663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7336" y="1097280"/>
            <a:ext cx="2743200" cy="5029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115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Services &amp; Other
11%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69164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Service centers, body shops, Tesla Insurance
• Supercharger: 65K+ connectors; licensed to Ford, GM, Rivian, BMW
• FSD subscription revenue (nascent)
• Gross margin 7.3% — services still a cost center
• Path to 15-20% GM as high-margin FSD scales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61704" y="1097280"/>
            <a:ext cx="2743200" cy="51663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61704" y="1097280"/>
            <a:ext cx="2743200" cy="5029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3144" y="1115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Emerging Platforms
(Option Value)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169164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Optimus Gen 2: humanoid robot, target $20-30K/unit
• Cybercab: driverless robotaxi, announced for 2026
• Dojo supercomputer: Tesla-built AI training chip
• FSD v13 → targeting Level 4 unsupervised by 2026
• $30T total addressable market for physical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FINANCIAL PERFORMANCE — FY2021A–FY2029E ($M)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2011680" cy="438912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5176" y="1133856"/>
            <a:ext cx="1938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1097280"/>
            <a:ext cx="1417320" cy="438912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76856" y="113385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FY2021A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097280"/>
            <a:ext cx="1417320" cy="438912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13385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FY2022A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097280"/>
            <a:ext cx="1417320" cy="438912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1496" y="113385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FY2023A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097280"/>
            <a:ext cx="1417320" cy="438912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13385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FY2024A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1097280"/>
            <a:ext cx="1417320" cy="438912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46136" y="113385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FY2025E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1097280"/>
            <a:ext cx="1417320" cy="438912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3456" y="113385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FY2026E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44200" y="1097280"/>
            <a:ext cx="1417320" cy="438912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0776" y="113385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FY2027E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1572768"/>
            <a:ext cx="201168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" y="1609344"/>
            <a:ext cx="1938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1572768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76856" y="160934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$53,823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1572768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94176" y="160934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$81,462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1572768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1496" y="160934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$96,773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1572768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160934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$97,690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1572768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46136" y="160934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$105,500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1572768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63456" y="160934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$130,500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44200" y="1572768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0776" y="160934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$166,000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048256"/>
            <a:ext cx="2011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" y="2084832"/>
            <a:ext cx="1938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1937"/>
                </a:solidFill>
              </a:rPr>
              <a:t>Rev. Growth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2048256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76856" y="2084832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+73%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2048256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94176" y="2084832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+51%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74920" y="2048256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11496" y="2084832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+19%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048256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28816" y="2084832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+0.9%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2048256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46136" y="2084832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+7.9%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2048256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63456" y="2084832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+23.7%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744200" y="2048256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780776" y="2084832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+27.2%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2523744"/>
            <a:ext cx="201168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5176" y="2560320"/>
            <a:ext cx="1938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Gross Profit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40280" y="2523744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76856" y="2560320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$13,606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2523744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94176" y="2560320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$20,853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74920" y="2523744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11496" y="2560320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$17,660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2523744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28816" y="2560320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$17,522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09560" y="2523744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46136" y="2560320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$19,500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26880" y="2523744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63456" y="2560320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$26,100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744200" y="2523744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80776" y="2560320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$36,520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" y="2999232"/>
            <a:ext cx="2011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5176" y="3035808"/>
            <a:ext cx="1938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1937"/>
                </a:solidFill>
              </a:rPr>
              <a:t>Gross Margin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40280" y="2999232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76856" y="3035808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25.3%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0" y="2999232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94176" y="3035808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25.6%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74920" y="2999232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11496" y="3035808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18.2%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92240" y="2999232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28816" y="3035808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17.9%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909560" y="2999232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46136" y="3035808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18.5%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26880" y="2999232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63456" y="3035808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20.0%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744200" y="2999232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780776" y="3035808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22.0%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" y="3474720"/>
            <a:ext cx="201168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65176" y="3511296"/>
            <a:ext cx="1938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EBIT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40280" y="3474720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276856" y="351129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 $6,523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0" y="3474720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94176" y="351129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$13,656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74920" y="3474720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11496" y="351129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 $8,891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92240" y="3474720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528816" y="351129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 $7,071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09560" y="3474720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46136" y="351129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 $8,968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326880" y="3474720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363456" y="351129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$13,050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744200" y="3474720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780776" y="351129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$19,920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28600" y="3950208"/>
            <a:ext cx="2011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65176" y="3986784"/>
            <a:ext cx="1938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1937"/>
                </a:solidFill>
              </a:rPr>
              <a:t>EBIT Margin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240280" y="3950208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276856" y="398678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12.1%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0" y="3950208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94176" y="398678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16.8%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4920" y="3950208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111496" y="398678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9.2%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492240" y="3950208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528816" y="398678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7.2%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909560" y="3950208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946136" y="398678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8.5%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326880" y="3950208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363456" y="398678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10.0%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744200" y="3950208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780776" y="398678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12.0%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8600" y="4425696"/>
            <a:ext cx="201168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65176" y="4462272"/>
            <a:ext cx="1938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EBITDA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240280" y="4425696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276856" y="4462272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$9,023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57600" y="4425696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694176" y="4462272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$17,256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074920" y="4425696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111496" y="4462272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$13,491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492240" y="4425696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528816" y="4462272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$12,471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909560" y="4425696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946136" y="4462272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$14,968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326880" y="4425696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363456" y="4462272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$20,050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744200" y="4425696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780776" y="4462272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$28,420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28600" y="4901184"/>
            <a:ext cx="2011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65176" y="4937760"/>
            <a:ext cx="1938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1937"/>
                </a:solidFill>
              </a:rPr>
              <a:t>Net Income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240280" y="4901184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276856" y="4937760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 $5,519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657600" y="4901184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694176" y="4937760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$12,556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074920" y="4901184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111496" y="4937760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$15,000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492240" y="4901184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528816" y="4937760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 $7,092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909560" y="4901184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946136" y="4937760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 $8,000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326880" y="4901184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363456" y="4937760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$11,000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744200" y="4901184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780776" y="4937760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$16,800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28600" y="5376672"/>
            <a:ext cx="201168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65176" y="5413248"/>
            <a:ext cx="1938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1937"/>
                </a:solidFill>
              </a:rPr>
              <a:t>EPS (adj.)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240280" y="5376672"/>
            <a:ext cx="14173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276856" y="5413248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 $1.72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657600" y="5376672"/>
            <a:ext cx="14173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694176" y="5413248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 $3.90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074920" y="5376672"/>
            <a:ext cx="14173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111496" y="5413248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 $2.84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492240" y="5376672"/>
            <a:ext cx="14173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528816" y="5413248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 $2.22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09560" y="5376672"/>
            <a:ext cx="14173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946136" y="5413248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 $2.51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326880" y="5376672"/>
            <a:ext cx="14173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363456" y="5413248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 $3.46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744200" y="5376672"/>
            <a:ext cx="14173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780776" y="5413248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 $5.28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28600" y="5852160"/>
            <a:ext cx="201168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65176" y="5888736"/>
            <a:ext cx="1938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Free Cash Flow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240280" y="5852160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276856" y="588873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 $4,982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3657600" y="5852160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694176" y="588873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 $7,327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074920" y="5852160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111496" y="588873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 $4,358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492240" y="5852160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528816" y="588873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 $3,620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909560" y="5852160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946136" y="588873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 $6,000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9326880" y="5852160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363456" y="588873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 $9,500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0744200" y="5852160"/>
            <a:ext cx="1417320" cy="43891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0780776" y="5888736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$14,000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228600" y="6327648"/>
            <a:ext cx="201168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265176" y="6364224"/>
            <a:ext cx="1938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1937"/>
                </a:solidFill>
              </a:rPr>
              <a:t>FCF Margin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240280" y="6327648"/>
            <a:ext cx="14173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2276856" y="636422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9.3%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3657600" y="6327648"/>
            <a:ext cx="14173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3694176" y="636422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9.0%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074920" y="6327648"/>
            <a:ext cx="14173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111496" y="636422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4.5%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492240" y="6327648"/>
            <a:ext cx="14173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528816" y="636422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3.7%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909560" y="6327648"/>
            <a:ext cx="14173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946136" y="636422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5.7%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326880" y="6327648"/>
            <a:ext cx="14173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9363456" y="636422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7.3%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10744200" y="6327648"/>
            <a:ext cx="1417320" cy="43891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0780776" y="6364224"/>
            <a:ext cx="1344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8.4%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28600" y="64922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6868B"/>
                </a:solidFill>
              </a:rPr>
              <a:t>† FY2023 reported NI = $15B incl. $5.9B non-recurring DTA benefit; adj. NI = $9.1B  |  FY2025–2027E: FactSet consensus / proprietary estimates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DCF VALUATION — BASE CASE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3840480" cy="5212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1937"/>
                </a:solidFill>
              </a:rPr>
              <a:t>KEY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276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WACC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2763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71E3"/>
                </a:solidFill>
              </a:rPr>
              <a:t>10.0%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Risk-Free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5740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71E3"/>
                </a:solidFill>
              </a:rPr>
              <a:t>4.35%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Beta (levered)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87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71E3"/>
                </a:solidFill>
              </a:rPr>
              <a:t>2.10x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169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Cost of Equity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91693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71E3"/>
                </a:solidFill>
              </a:rPr>
              <a:t>14.9%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3467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Terminal Growth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34670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71E3"/>
                </a:solidFill>
              </a:rPr>
              <a:t>4.0%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Terminal EV/EBITDA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77647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71E3"/>
                </a:solidFill>
              </a:rPr>
              <a:t>20.0x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062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Tax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2062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71E3"/>
                </a:solidFill>
              </a:rPr>
              <a:t>10.0%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63600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Forecast Horizon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6360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71E3"/>
                </a:solidFill>
              </a:rPr>
              <a:t>5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06577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Net Cash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06577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71E3"/>
                </a:solidFill>
              </a:rPr>
              <a:t>$28.9B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49554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Diluted Shares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4955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71E3"/>
                </a:solidFill>
              </a:rPr>
              <a:t>3,194M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1097280"/>
            <a:ext cx="7680960" cy="521208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11430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UNLEVERED FCF PROJECTION  &amp;  VALUATION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160020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</a:rPr>
              <a:t>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5272" y="160020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FY25E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7144" y="160020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FY26E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9016" y="160020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FY27E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160020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FY28E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59" y="160020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FY29E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2130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500"/>
                </a:solidFill>
              </a:rPr>
              <a:t>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05272" y="2130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$106B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67144" y="2130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$131B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9016" y="2130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$166B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90888" y="2130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$210B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52759" y="2130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$260B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266090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500"/>
                </a:solidFill>
              </a:rPr>
              <a:t>EBIT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05272" y="266090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$9.0B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67144" y="266090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$13.1B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29016" y="266090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$19.9B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90888" y="266090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$27.3B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59" y="266090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$35.4B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400" y="31912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500"/>
                </a:solidFill>
              </a:rPr>
              <a:t>NOPAT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05272" y="31912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$8.1B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67144" y="31912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$11.7B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29016" y="31912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$17.9B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90888" y="31912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$24.6B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52759" y="31912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$31.8B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43400" y="372160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500"/>
                </a:solidFill>
              </a:rPr>
              <a:t>UFCF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05272" y="372160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$5.6B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67144" y="372160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$9.2B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29016" y="372160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$14.4B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90888" y="372160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$21.1B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52759" y="372160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$30.5B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43400" y="42519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500"/>
                </a:solidFill>
              </a:rPr>
              <a:t>PV(UFCF)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05272" y="42519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$5.1B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67144" y="42519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$7.6B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29016" y="42519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$10.8B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90888" y="42519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$14.4B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59" y="42519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$18.9B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43400" y="48920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</a:rPr>
              <a:t>Sum of PV(UFCF) = $56.8B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43400" y="5285232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1937"/>
                </a:solidFill>
              </a:rPr>
              <a:t>Valuation Output:  Base EV $656B  →  Equity $685B  →  $215/share  (GGM cross-check: $195/share)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43400" y="5742432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6868B"/>
                </a:solidFill>
              </a:rPr>
              <a:t>Current price $278 implies WACC ~8.5% or terminal multiple of 26x — market is pricing significant optionality beyond 5-yr horizon.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SUM OF THE PARTS — SEGMENT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0972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</a:rPr>
              <a:t>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0972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70015"/>
                </a:solidFill>
              </a:rPr>
              <a:t>Bear 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0972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1E3"/>
                </a:solidFill>
              </a:rPr>
              <a:t>Base 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0972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</a:rPr>
              <a:t>Bull 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0972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</a:rPr>
              <a:t>Valuation Basis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54480"/>
            <a:ext cx="11704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54480"/>
            <a:ext cx="109728" cy="62179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0020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</a:rPr>
              <a:t>Automotive
(ex-FSD)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664207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70015"/>
                </a:solidFill>
              </a:rPr>
              <a:t>$97B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664207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1D1F"/>
                </a:solidFill>
              </a:rPr>
              <a:t>$139B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664207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</a:rPr>
              <a:t>$187B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6868B"/>
                </a:solidFill>
              </a:rPr>
              <a:t>8x FY2027E EBITDA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12848"/>
            <a:ext cx="11704320" cy="62179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212848"/>
            <a:ext cx="109728" cy="621792"/>
          </a:xfrm>
          <a:prstGeom prst="rect">
            <a:avLst/>
          </a:prstGeom>
          <a:solidFill>
            <a:srgbClr val="00B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258568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</a:rPr>
              <a:t>Energy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32257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70015"/>
                </a:solidFill>
              </a:rPr>
              <a:t>$65B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32257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1D1F"/>
                </a:solidFill>
              </a:rPr>
              <a:t>$116B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32257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</a:rPr>
              <a:t>$175B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30428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6868B"/>
                </a:solidFill>
              </a:rPr>
              <a:t>22x FY2027E EBITDA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871215"/>
            <a:ext cx="11704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2871215"/>
            <a:ext cx="109728" cy="6217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916935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</a:rPr>
              <a:t>FSD / Software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298094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70015"/>
                </a:solidFill>
              </a:rPr>
              <a:t>$0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298094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1D1F"/>
                </a:solidFill>
              </a:rPr>
              <a:t>$100B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298094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</a:rPr>
              <a:t>$300B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96265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6868B"/>
                </a:solidFill>
              </a:rPr>
              <a:t>25-40x FY2027E Revenue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529584"/>
            <a:ext cx="11704320" cy="62179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529584"/>
            <a:ext cx="109728" cy="621792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575304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</a:rPr>
              <a:t>Cybercab / Robotaxi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363931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70015"/>
                </a:solidFill>
              </a:rPr>
              <a:t>$0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63931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1D1F"/>
                </a:solidFill>
              </a:rPr>
              <a:t>$30B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363931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</a:rPr>
              <a:t>$150B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62102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6868B"/>
                </a:solidFill>
              </a:rPr>
              <a:t>Network optionality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187952"/>
            <a:ext cx="11704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4187952"/>
            <a:ext cx="109728" cy="621792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233672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</a:rPr>
              <a:t>Supercharger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42976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70015"/>
                </a:solidFill>
              </a:rPr>
              <a:t>$12B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42976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1D1F"/>
                </a:solidFill>
              </a:rPr>
              <a:t>$24B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42976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</a:rPr>
              <a:t>$40B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42793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6868B"/>
                </a:solidFill>
              </a:rPr>
              <a:t>20x FY2027E EBITDA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4846320"/>
            <a:ext cx="11704320" cy="62179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8600" y="4846320"/>
            <a:ext cx="109728" cy="62179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8920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</a:rPr>
              <a:t>Insurance &amp; Other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040" y="495604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70015"/>
                </a:solidFill>
              </a:rPr>
              <a:t>$3B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495604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1D1F"/>
                </a:solidFill>
              </a:rPr>
              <a:t>$10B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60" y="495604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</a:rPr>
              <a:t>$20B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493775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6868B"/>
                </a:solidFill>
              </a:rPr>
              <a:t>10x revenue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5504688"/>
            <a:ext cx="11704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8600" y="5504688"/>
            <a:ext cx="109728" cy="621792"/>
          </a:xfrm>
          <a:prstGeom prst="rect">
            <a:avLst/>
          </a:prstGeom>
          <a:solidFill>
            <a:srgbClr val="FF4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550408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</a:rPr>
              <a:t>Optimus Robots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06040" y="561441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70015"/>
                </a:solidFill>
              </a:rPr>
              <a:t>$0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0" y="561441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1D1F"/>
                </a:solidFill>
              </a:rPr>
              <a:t>$75B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60" y="561441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C759"/>
                </a:solidFill>
              </a:rPr>
              <a:t>$500B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0" y="55961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6868B"/>
                </a:solidFill>
              </a:rPr>
              <a:t>DCF / option value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6400800"/>
            <a:ext cx="11704320" cy="38404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64465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EQUITY VALUE (incl. $28.9B net cash)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06040" y="64465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70015"/>
                </a:solidFill>
              </a:rPr>
              <a:t>$235B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0" y="64465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500"/>
                </a:solidFill>
              </a:rPr>
              <a:t>$551B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23560" y="64465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4C759"/>
                </a:solidFill>
              </a:rPr>
              <a:t>$1,401B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06040" y="66751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70015"/>
                </a:solidFill>
              </a:rPr>
              <a:t>→ $74/sh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66751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9500"/>
                </a:solidFill>
              </a:rPr>
              <a:t>→ $173/sh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23560" y="66751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4C759"/>
                </a:solidFill>
              </a:rPr>
              <a:t>→ $439/sh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COMPARABLE COMPANY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1920240" cy="47548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5176" y="11521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8840" y="1097280"/>
            <a:ext cx="1188720" cy="47548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85416" y="115214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Mkt Cap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097280"/>
            <a:ext cx="1097280" cy="47548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115214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EV/Rev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097280"/>
            <a:ext cx="1188720" cy="47548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115214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EV/EBITDA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097280"/>
            <a:ext cx="1097280" cy="47548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0136" y="115214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P/E NTM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097280"/>
            <a:ext cx="1188720" cy="47548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115214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Rev Growth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1097280"/>
            <a:ext cx="1188720" cy="47548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46136" y="115214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EBIT Margin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097280"/>
            <a:ext cx="3200400" cy="47548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1152144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Commentary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1600200"/>
            <a:ext cx="1920240" cy="475488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" y="165506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Tesla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1600200"/>
            <a:ext cx="1188720" cy="475488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85416" y="165506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$887B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1600200"/>
            <a:ext cx="1097280" cy="475488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74136" y="165506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8.8x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1600200"/>
            <a:ext cx="1188720" cy="475488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1416" y="165506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68.8x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23560" y="1600200"/>
            <a:ext cx="1097280" cy="475488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0136" y="165506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125x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1600200"/>
            <a:ext cx="1188720" cy="475488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7416" y="165506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+0.9%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1600200"/>
            <a:ext cx="1188720" cy="475488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46136" y="165506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7.2%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1600200"/>
            <a:ext cx="3200400" cy="475488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4856" y="1655064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Priced as AI platform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103120"/>
            <a:ext cx="192024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" y="215798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BYD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48840" y="2103120"/>
            <a:ext cx="118872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85416" y="215798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$88B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37560" y="2103120"/>
            <a:ext cx="109728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74136" y="215798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0.9x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34840" y="2103120"/>
            <a:ext cx="118872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71416" y="215798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8.5x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23560" y="2103120"/>
            <a:ext cx="109728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0136" y="215798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22x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20840" y="2103120"/>
            <a:ext cx="118872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57416" y="215798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+15%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09560" y="2103120"/>
            <a:ext cx="118872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46136" y="215798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6.0%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2103120"/>
            <a:ext cx="320040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34856" y="2157984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China EV leader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2606040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5176" y="266090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GM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48840" y="260604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85416" y="266090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$56B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37560" y="2606040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74136" y="266090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0.5x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34840" y="260604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71416" y="266090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3.1x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23560" y="2606040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0136" y="266090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5.2x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20840" y="260604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57416" y="266090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+0.9%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09560" y="260604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46136" y="266090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6.2%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98280" y="2606040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34856" y="2660904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Legacy scale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" y="3108960"/>
            <a:ext cx="192024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5176" y="316382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Ford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148840" y="3108960"/>
            <a:ext cx="118872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185416" y="316382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$45B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37560" y="3108960"/>
            <a:ext cx="109728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74136" y="316382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0.5x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4840" y="3108960"/>
            <a:ext cx="118872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71416" y="316382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4.0x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23560" y="3108960"/>
            <a:ext cx="109728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60136" y="316382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9.1x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20840" y="3108960"/>
            <a:ext cx="118872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57416" y="316382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+4.8%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09560" y="3108960"/>
            <a:ext cx="118872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946136" y="316382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4.0%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98280" y="3108960"/>
            <a:ext cx="320040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34856" y="3163824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EV transition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" y="3611880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65176" y="36667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BMW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148840" y="361188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185416" y="366674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$55B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337560" y="3611880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374136" y="366674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0.4x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434840" y="361188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71416" y="366674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3.5x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23560" y="3611880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660136" y="366674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5.1x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720840" y="361188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757416" y="366674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-1.2%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909560" y="361188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946136" y="366674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7.3%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98280" y="3611880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134856" y="3666744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Premium ICE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28600" y="4114800"/>
            <a:ext cx="192024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65176" y="4169663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NVIDIA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148840" y="4114800"/>
            <a:ext cx="118872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185416" y="4169663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$3.2T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337560" y="4114800"/>
            <a:ext cx="109728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374136" y="4169663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25.0x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434840" y="4114800"/>
            <a:ext cx="118872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471416" y="4169663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48.5x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623560" y="4114800"/>
            <a:ext cx="109728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660136" y="4169663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38x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720840" y="4114800"/>
            <a:ext cx="118872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757416" y="4169663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+78%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909560" y="4114800"/>
            <a:ext cx="118872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946136" y="4169663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62.0%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098280" y="4114800"/>
            <a:ext cx="320040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134856" y="4169663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AI hardware leader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8600" y="4617720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65176" y="467258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Alphabet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148840" y="461772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185416" y="467258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$2.0T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337560" y="4617720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374136" y="467258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5.5x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434840" y="461772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471416" y="467258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17.9x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623560" y="4617720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660136" y="467258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21x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720840" y="461772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757416" y="467258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+14%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909560" y="461772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946136" y="467258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31.5%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098280" y="4617720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134856" y="4672584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Waymo competitor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28600" y="5120640"/>
            <a:ext cx="192024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65176" y="517550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Mobileye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148840" y="5120640"/>
            <a:ext cx="118872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185416" y="517550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$12B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337560" y="5120640"/>
            <a:ext cx="109728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374136" y="517550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4.5x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434840" y="5120640"/>
            <a:ext cx="118872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471416" y="517550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25.0x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623560" y="5120640"/>
            <a:ext cx="109728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660136" y="517550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45x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720840" y="5120640"/>
            <a:ext cx="118872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757416" y="517550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+14%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909560" y="5120640"/>
            <a:ext cx="118872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946136" y="517550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D1D1F"/>
                </a:solidFill>
              </a:rPr>
              <a:t>18.0%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098280" y="5120640"/>
            <a:ext cx="3200400" cy="4754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134856" y="5175504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ADAS direct comp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28600" y="5623560"/>
            <a:ext cx="192024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65176" y="567842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Auto Median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148840" y="5623560"/>
            <a:ext cx="118872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185416" y="567842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31937"/>
                </a:solidFill>
              </a:rPr>
              <a:t>—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337560" y="5623560"/>
            <a:ext cx="109728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374136" y="567842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31937"/>
                </a:solidFill>
              </a:rPr>
              <a:t>0.5x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434840" y="5623560"/>
            <a:ext cx="118872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471416" y="567842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31937"/>
                </a:solidFill>
              </a:rPr>
              <a:t>3.8x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623560" y="5623560"/>
            <a:ext cx="109728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660136" y="567842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31937"/>
                </a:solidFill>
              </a:rPr>
              <a:t>5.6x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720840" y="5623560"/>
            <a:ext cx="118872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757416" y="567842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31937"/>
                </a:solidFill>
              </a:rPr>
              <a:t>3.0%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909560" y="5623560"/>
            <a:ext cx="118872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946136" y="567842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31937"/>
                </a:solidFill>
              </a:rPr>
              <a:t>6.1%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098280" y="5623560"/>
            <a:ext cx="320040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134856" y="5678424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1937"/>
                </a:solidFill>
              </a:rPr>
              <a:t/>
            </a:r>
          </a:p>
        </p:txBody>
      </p:sp>
      <p:sp>
        <p:nvSpPr>
          <p:cNvPr id="164" name="Rectangle 163"/>
          <p:cNvSpPr/>
          <p:nvPr/>
        </p:nvSpPr>
        <p:spPr>
          <a:xfrm>
            <a:off x="228600" y="6126480"/>
            <a:ext cx="192024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65176" y="61813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Tech Median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148840" y="6126480"/>
            <a:ext cx="118872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185416" y="618134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31937"/>
                </a:solidFill>
              </a:rPr>
              <a:t>—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3337560" y="6126480"/>
            <a:ext cx="109728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374136" y="618134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31937"/>
                </a:solidFill>
              </a:rPr>
              <a:t>5.5x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434840" y="6126480"/>
            <a:ext cx="118872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4471416" y="618134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31937"/>
                </a:solidFill>
              </a:rPr>
              <a:t>25.0x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5623560" y="6126480"/>
            <a:ext cx="109728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5660136" y="618134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31937"/>
                </a:solidFill>
              </a:rPr>
              <a:t>41x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720840" y="6126480"/>
            <a:ext cx="118872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757416" y="618134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31937"/>
                </a:solidFill>
              </a:rPr>
              <a:t>+46%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7909560" y="6126480"/>
            <a:ext cx="118872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7946136" y="618134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31937"/>
                </a:solidFill>
              </a:rPr>
              <a:t>40.0%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9098280" y="6126480"/>
            <a:ext cx="320040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9134856" y="6181344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1937"/>
                </a:solidFill>
              </a:rPr>
              <a:t/>
            </a:r>
          </a:p>
        </p:txBody>
      </p:sp>
      <p:sp>
        <p:nvSpPr>
          <p:cNvPr id="180" name="Rectangle 179"/>
          <p:cNvSpPr/>
          <p:nvPr/>
        </p:nvSpPr>
        <p:spPr>
          <a:xfrm>
            <a:off x="228600" y="6629400"/>
            <a:ext cx="1920240" cy="47548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265176" y="668426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C759"/>
                </a:solidFill>
              </a:rPr>
              <a:t>TSLA Premium to Auto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148840" y="6629400"/>
            <a:ext cx="1188720" cy="47548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2185416" y="668426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4C759"/>
                </a:solidFill>
              </a:rPr>
              <a:t>—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3337560" y="6629400"/>
            <a:ext cx="1097280" cy="47548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3374136" y="668426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4C759"/>
                </a:solidFill>
              </a:rPr>
              <a:t>17×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434840" y="6629400"/>
            <a:ext cx="1188720" cy="47548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471416" y="668426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4C759"/>
                </a:solidFill>
              </a:rPr>
              <a:t>18×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5623560" y="6629400"/>
            <a:ext cx="1097280" cy="47548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5660136" y="6684264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4C759"/>
                </a:solidFill>
              </a:rPr>
              <a:t>22×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720840" y="6629400"/>
            <a:ext cx="1188720" cy="47548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757416" y="668426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4C759"/>
                </a:solidFill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7909560" y="6629400"/>
            <a:ext cx="1188720" cy="47548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7946136" y="6684264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4C759"/>
                </a:solidFill>
              </a:rPr>
              <a:t>—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098280" y="6629400"/>
            <a:ext cx="3200400" cy="47548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9134856" y="6684264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C759"/>
                </a:solidFill>
              </a:rPr>
              <a:t>13–68x premium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28600" y="653796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6868B"/>
                </a:solidFill>
              </a:rPr>
              <a:t>Tesla trades at 8.8x EV/Revenue and 69x EV/EBITDA — aligned with AI/software peers, not auto. Market assigns ~$700B of $887B market cap to non-auto optionality.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SCENARIO ANALYSIS — BEAR · BASE · BULL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43000"/>
            <a:ext cx="3749039" cy="544068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3749039" cy="822960"/>
          </a:xfrm>
          <a:prstGeom prst="rect">
            <a:avLst/>
          </a:prstGeom>
          <a:solidFill>
            <a:srgbClr val="D7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BEAR CASE
~$64/share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3474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FY2029 Revenue: $175B
EBIT Margin: 9.0%
EBITDA: $26B
Assumptions:
• China competition erodes auto margins to 15%
• FSD stuck at L2+; no monetization breakthrough
• Optimus delayed; R&amp;D drag $3-5B/yr
• Energy growth slows to 10%/yr
• Deliveries 2.2M (affordable model delayed)
SOTP: Auto $97B + Energy $65B + no optionality
= EV $174B + cash = Equity $203B → $64/sh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143000"/>
            <a:ext cx="3749039" cy="544068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143000"/>
            <a:ext cx="3749039" cy="8229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70432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BASE CASE
~$164/share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57400"/>
            <a:ext cx="3474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FY2029 Revenue: $260B
EBIT Margin: 13.6%
EBITDA: $48B
Assumptions:
• Affordable model launches FY2026; 2.8M deliveries
• FSD subscription: 5M users @ $99/mo by FY2027
• Cybercab pilots Austin, SF, 1 international city
• Megapack grows to $22B by FY2028 (28% margin)
• Optimus: ~10K units initial deployment FY2027
SOTP: Segments $493B + cash = Equity $522B → $164/sh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143000"/>
            <a:ext cx="3749039" cy="544068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143000"/>
            <a:ext cx="3749039" cy="82296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70432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BULL CASE
~$439/share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57400"/>
            <a:ext cx="3474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FY2029 Revenue: $350B+
EBIT Margin: 18%+
EBITDA: $80B+
Assumptions:
• FSD L4 approved nationally; OEM licensing begins
• Robotaxi: 500K+ Cybercabs; $2B+ annual revenue
• Optimus: 500K+ units @ $25K ASP; $12.5B revenue
• Dojo accelerates AI training cost by 10x
• Energy 25GWh/yr global, 30%+ margins
SOTP: Segments $1.37T + cash = Equity $1.4T → $439/sh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CATALYSTS — POSITIVE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566928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164592" cy="178308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704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Affordable Model
(~$25K)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664207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Expected H1 2026 launch. Target &gt;1M incremental annual units. Largest addressable market (~$25K price point = 60% of global new car market). Could drive 50%+ revenue growth in FY2026–2027.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66928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64592" cy="1783080"/>
          </a:xfrm>
          <a:prstGeom prst="rect">
            <a:avLst/>
          </a:prstGeom>
          <a:solidFill>
            <a:srgbClr val="34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1704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FSD to Level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64207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FSD v12/13 showing rapid improvement. Unsupervised driving in Austin pilot (2025). L4 approval = $1,000+/mo subscription or one-time $15K. At 10M subs: $10B+ annual recurring revenue.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017520"/>
            <a:ext cx="566928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3017520"/>
            <a:ext cx="164592" cy="17830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30906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Cybercab Robotaxi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584448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Announced June 2023, expected FY2026. No pedals/steering wheel → lower COGS. Network effects: more rides = better AI = lower accident rate. Rides: ~$0.40-$0.50/mile vs. Uber ~$2.50 → massive structural cost advantage.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017520"/>
            <a:ext cx="566928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017520"/>
            <a:ext cx="164592" cy="178308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0906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Optimus Robots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584448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Gen 2 (2024): 30 kph, 20 kg payload. Target $20–30K per unit. $30T robot labor TAM. Tesla's advantages: vertical integration, AI training data, manufacturing scale (Model Y tooling learnings). Elon target: 1B units long-term.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937760"/>
            <a:ext cx="566928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4937760"/>
            <a:ext cx="164592" cy="1783080"/>
          </a:xfrm>
          <a:prstGeom prst="rect">
            <a:avLst/>
          </a:prstGeom>
          <a:solidFill>
            <a:srgbClr val="00B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50109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Megapack / Grid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5504688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AI data centers require 24/7 power + storage. Megapack backlog &gt;$10B. IRA incentives extend 10yr. Utility procurement contracts signed in AU, EU, US. 24.6% gross margin in Q4'24 — expanding as Giga Nevada 2 ramps.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937760"/>
            <a:ext cx="566928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937760"/>
            <a:ext cx="164592" cy="1783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50109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Dojo + AI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5504688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Custom AI training chip (D1) designed for FSD training. Could offer AI-as-a-service to third parties. Real-world video data from 5B+ miles of fleet driving = most valuable autonomous driving dataset in the world.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5669280" cy="1783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164592" cy="1783080"/>
          </a:xfrm>
          <a:prstGeom prst="rect">
            <a:avLst/>
          </a:prstGeom>
          <a:solidFill>
            <a:srgbClr val="D7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704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Chinese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664207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BYD sold 1.76M EVs in FY2024 vs Tesla's 1.79M. BYD Seal vs Model 3: 40% cheaper. Huawei's AITO brand growing rapidly. China = 19% of Tesla revenue at risk.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669280" cy="1783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64592" cy="1783080"/>
          </a:xfrm>
          <a:prstGeom prst="rect">
            <a:avLst/>
          </a:prstGeom>
          <a:solidFill>
            <a:srgbClr val="D7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1704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FSD Regulatory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664207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NHTSA investigations ongoing. FSD still classified L2 (driver required). EU has stricter type-approval rules for L3+. One fatal supervised-FSD accident could delay nationwide L4 approval by 2–5 years.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999232"/>
            <a:ext cx="5669280" cy="1783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999232"/>
            <a:ext cx="164592" cy="1783080"/>
          </a:xfrm>
          <a:prstGeom prst="rect">
            <a:avLst/>
          </a:prstGeom>
          <a:solidFill>
            <a:srgbClr val="D7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307238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Margin Compression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566160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Price cuts since 2022: Model 3 from $47K to $38K. Every 1% gross margin decline = ~$1B EBITDA impact. Structural pressure from commodity costs, labor, and competition.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99232"/>
            <a:ext cx="5669280" cy="1783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999232"/>
            <a:ext cx="164592" cy="17830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07238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Elon Musk Key-Man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566160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Musk also runs SpaceX, X, xAI, Boring Co., DOGE advisory. Tesla requires his technical vision and recruiting brand. Political controversy affecting brand perception (EU, CA boycotts). Compensation package ($56B) still under legal review.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901184"/>
            <a:ext cx="5669280" cy="1783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4901184"/>
            <a:ext cx="164592" cy="17830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497433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Execution on New 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5468112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Cybertruck ramp slower than expected. Semi in very limited production. Affordable model delayed 2+ years from original timeline. Optimus and Cybercab both carry high execution risk.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901184"/>
            <a:ext cx="5669280" cy="17830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901184"/>
            <a:ext cx="164592" cy="17830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97433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Valuation Multiple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5468112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At 69x EV/EBITDA, any guidance miss or delay re-rates the stock 30–40%. Rising interest rates compress growth multiples. If FSD or Optimus fail to scale, stock could de-rate to 20x like a traditional OEM.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VALUATION SUMMARY — PRICE TARGET RANGE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11704320" cy="118872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CURRENT PRICE: ~$278/share  |  MARKET CAP: ~$887B  |  EV: ~$858B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9500"/>
                </a:solidFill>
              </a:rPr>
              <a:t>At $278, market implies: Auto at fair value + ~$600B premium for FSD / Optimus / Robotaxi / Energy optionality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2468880"/>
            <a:ext cx="11704320" cy="475488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5328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5328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Price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53288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Assumption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999232"/>
            <a:ext cx="11704320" cy="457200"/>
          </a:xfrm>
          <a:prstGeom prst="rect">
            <a:avLst/>
          </a:prstGeom>
          <a:solidFill>
            <a:srgbClr val="28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0540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DCF (10% WACC)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540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1E3"/>
                </a:solidFill>
              </a:rPr>
              <a:t>$195–$215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054096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5-yr UFCF, exit multiple 20x / GGM 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493008"/>
            <a:ext cx="11704320" cy="4572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5478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SOTP Bear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5478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70015"/>
                </a:solidFill>
              </a:rPr>
              <a:t>~$64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54787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Auto + Energy only; no FSD/Optimus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986783"/>
            <a:ext cx="11704320" cy="457200"/>
          </a:xfrm>
          <a:prstGeom prst="rect">
            <a:avLst/>
          </a:prstGeom>
          <a:solidFill>
            <a:srgbClr val="28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04164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SOTP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04164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1E3"/>
                </a:solidFill>
              </a:rPr>
              <a:t>~$164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041647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All segments, base-case optionality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480560"/>
            <a:ext cx="11704320" cy="4572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5354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SOTP Bull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5354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4C759"/>
                </a:solidFill>
              </a:rPr>
              <a:t>~$439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535424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FSD licensed + Optimus 500K+ + Robotaxi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974336"/>
            <a:ext cx="11704320" cy="457200"/>
          </a:xfrm>
          <a:prstGeom prst="rect">
            <a:avLst/>
          </a:prstGeom>
          <a:solidFill>
            <a:srgbClr val="28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02919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Auto Comps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02919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1E3"/>
                </a:solidFill>
              </a:rPr>
              <a:t>$30–$80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029199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3–8x FY2027E EBITDA, no tech premium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5468112"/>
            <a:ext cx="11704320" cy="45720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5229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Tech Comps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5229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1E3"/>
                </a:solidFill>
              </a:rPr>
              <a:t>$300–$500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5522976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20–30x EV/Revenue applied to $260B FY2029E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5961888"/>
            <a:ext cx="11704320" cy="457200"/>
          </a:xfrm>
          <a:prstGeom prst="rect">
            <a:avLst/>
          </a:prstGeom>
          <a:solidFill>
            <a:srgbClr val="28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01675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Consensus 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601675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500"/>
                </a:solidFill>
              </a:rPr>
              <a:t>~$280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6016751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</a:rPr>
              <a:t>FactSet: 35 buys, 15 holds, 10 sells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" y="6464808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E31937"/>
                </a:solidFill>
              </a:rPr>
              <a:t>Conclusion: Tesla is valued as a call option on autonomous AI + robotics, not as an auto OEM. Fundamental downside ~$64 (bear); upside ~$440+ (bull). For long-term investors: disciplined entry below $200 offers favorable risk/reward.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