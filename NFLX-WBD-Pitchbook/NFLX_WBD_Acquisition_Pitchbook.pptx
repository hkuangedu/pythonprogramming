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044"/>
        </a:solidFill>
        <a:effectLst/>
      </p:bgPr>
    </p:bg>
    <p:spTree>
      <p:nvGrpSpPr>
        <p:cNvPr id="1" name=""/>
        <p:cNvGrpSpPr/>
        <p:nvPr/>
      </p:nvGrpSpPr>
      <p:grpSpPr/>
      <p:sp>
        <p:nvSpPr>
          <p:cNvPr id="2" name="Rectangle 1"/>
          <p:cNvSpPr/>
          <p:nvPr/>
        </p:nvSpPr>
        <p:spPr>
          <a:xfrm>
            <a:off x="0" y="0"/>
            <a:ext cx="12188952" cy="457200"/>
          </a:xfrm>
          <a:prstGeom prst="rect">
            <a:avLst/>
          </a:prstGeom>
          <a:solidFill>
            <a:srgbClr val="08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08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48716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840480"/>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9728"/>
            <a:ext cx="320040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18872"/>
            <a:ext cx="3182112" cy="274320"/>
          </a:xfrm>
          <a:prstGeom prst="rect">
            <a:avLst/>
          </a:prstGeom>
          <a:noFill/>
        </p:spPr>
        <p:txBody>
          <a:bodyPr wrap="square">
            <a:spAutoFit/>
          </a:bodyPr>
          <a:lstStyle/>
          <a:p>
            <a:pPr algn="l"/>
            <a:r>
              <a:rPr sz="850" b="1" i="0">
                <a:solidFill>
                  <a:srgbClr val="0F2044"/>
                </a:solidFill>
              </a:rPr>
              <a:t>STRICTLY CONFIDENTIAL — PROJECT STARLIGHT</a:t>
            </a:r>
          </a:p>
        </p:txBody>
      </p:sp>
      <p:sp>
        <p:nvSpPr>
          <p:cNvPr id="8" name="TextBox 7"/>
          <p:cNvSpPr txBox="1"/>
          <p:nvPr/>
        </p:nvSpPr>
        <p:spPr>
          <a:xfrm>
            <a:off x="1097280" y="960120"/>
            <a:ext cx="10058400" cy="685800"/>
          </a:xfrm>
          <a:prstGeom prst="rect">
            <a:avLst/>
          </a:prstGeom>
          <a:noFill/>
        </p:spPr>
        <p:txBody>
          <a:bodyPr wrap="square">
            <a:spAutoFit/>
          </a:bodyPr>
          <a:lstStyle/>
          <a:p>
            <a:pPr algn="ctr"/>
            <a:r>
              <a:rPr sz="1600" b="0" i="1">
                <a:solidFill>
                  <a:srgbClr val="C9A84C"/>
                </a:solidFill>
              </a:rPr>
              <a:t>Project Starlight</a:t>
            </a:r>
          </a:p>
        </p:txBody>
      </p:sp>
      <p:sp>
        <p:nvSpPr>
          <p:cNvPr id="9" name="TextBox 8"/>
          <p:cNvSpPr txBox="1"/>
          <p:nvPr/>
        </p:nvSpPr>
        <p:spPr>
          <a:xfrm>
            <a:off x="640080" y="1600200"/>
            <a:ext cx="10881360" cy="1463040"/>
          </a:xfrm>
          <a:prstGeom prst="rect">
            <a:avLst/>
          </a:prstGeom>
          <a:noFill/>
        </p:spPr>
        <p:txBody>
          <a:bodyPr wrap="square">
            <a:spAutoFit/>
          </a:bodyPr>
          <a:lstStyle/>
          <a:p>
            <a:pPr algn="ctr"/>
            <a:r>
              <a:rPr sz="3800" b="1" i="0">
                <a:solidFill>
                  <a:srgbClr val="FFFFFF"/>
                </a:solidFill>
              </a:rPr>
              <a:t>Strategic Acquisition of
Warner Bros. Discovery</a:t>
            </a:r>
          </a:p>
        </p:txBody>
      </p:sp>
      <p:sp>
        <p:nvSpPr>
          <p:cNvPr id="10" name="TextBox 9"/>
          <p:cNvSpPr txBox="1"/>
          <p:nvPr/>
        </p:nvSpPr>
        <p:spPr>
          <a:xfrm>
            <a:off x="640080" y="4005072"/>
            <a:ext cx="10881360" cy="475488"/>
          </a:xfrm>
          <a:prstGeom prst="rect">
            <a:avLst/>
          </a:prstGeom>
          <a:noFill/>
        </p:spPr>
        <p:txBody>
          <a:bodyPr wrap="square">
            <a:spAutoFit/>
          </a:bodyPr>
          <a:lstStyle/>
          <a:p>
            <a:pPr algn="ctr"/>
            <a:r>
              <a:rPr sz="1400" b="0" i="0">
                <a:solidFill>
                  <a:srgbClr val="A0B0C8"/>
                </a:solidFill>
              </a:rPr>
              <a:t>Presented to Netflix Management  |  May 2025</a:t>
            </a:r>
          </a:p>
        </p:txBody>
      </p:sp>
      <p:sp>
        <p:nvSpPr>
          <p:cNvPr id="11" name="TextBox 10"/>
          <p:cNvSpPr txBox="1"/>
          <p:nvPr/>
        </p:nvSpPr>
        <p:spPr>
          <a:xfrm>
            <a:off x="640080" y="4663440"/>
            <a:ext cx="10881360" cy="411480"/>
          </a:xfrm>
          <a:prstGeom prst="rect">
            <a:avLst/>
          </a:prstGeom>
          <a:noFill/>
        </p:spPr>
        <p:txBody>
          <a:bodyPr wrap="square">
            <a:spAutoFit/>
          </a:bodyPr>
          <a:lstStyle/>
          <a:p>
            <a:pPr algn="ctr"/>
            <a:r>
              <a:rPr sz="1200" b="0" i="1">
                <a:solidFill>
                  <a:srgbClr val="8A8A9A"/>
                </a:solidFill>
              </a:rPr>
              <a:t>PREPARED BY YOUR FINANCIAL ADVISOR  ·  FOR DISCUSSION PURPOSES ONLY</a:t>
            </a:r>
          </a:p>
        </p:txBody>
      </p:sp>
      <p:sp>
        <p:nvSpPr>
          <p:cNvPr id="12" name="TextBox 11"/>
          <p:cNvSpPr txBox="1"/>
          <p:nvPr/>
        </p:nvSpPr>
        <p:spPr>
          <a:xfrm>
            <a:off x="640080" y="6455664"/>
            <a:ext cx="10881360" cy="365760"/>
          </a:xfrm>
          <a:prstGeom prst="rect">
            <a:avLst/>
          </a:prstGeom>
          <a:noFill/>
        </p:spPr>
        <p:txBody>
          <a:bodyPr wrap="square">
            <a:spAutoFit/>
          </a:bodyPr>
          <a:lstStyle/>
          <a:p>
            <a:pPr algn="ctr"/>
            <a:r>
              <a:rPr sz="900" b="0" i="1">
                <a:solidFill>
                  <a:srgbClr val="8A8A9A"/>
                </a:solidFill>
              </a:rPr>
              <a:t>This presentation is confidential and intended solely for the use of the management of Netflix, Inc. and its authorized representatives.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64592"/>
            <a:ext cx="11430000" cy="594360"/>
          </a:xfrm>
          <a:prstGeom prst="rect">
            <a:avLst/>
          </a:prstGeom>
          <a:noFill/>
        </p:spPr>
        <p:txBody>
          <a:bodyPr wrap="square">
            <a:spAutoFit/>
          </a:bodyPr>
          <a:lstStyle/>
          <a:p>
            <a:pPr algn="l"/>
            <a:r>
              <a:rPr sz="2000" b="1" i="0">
                <a:solidFill>
                  <a:srgbClr val="FFFFFF"/>
                </a:solidFill>
              </a:rPr>
              <a:t>IMPORTANT DISCLAIMER &amp; CONFIDENTIALITY NOTICE</a:t>
            </a:r>
          </a:p>
        </p:txBody>
      </p:sp>
      <p:sp>
        <p:nvSpPr>
          <p:cNvPr id="5" name="Rectangle 4"/>
          <p:cNvSpPr/>
          <p:nvPr/>
        </p:nvSpPr>
        <p:spPr>
          <a:xfrm>
            <a:off x="320040" y="1234440"/>
            <a:ext cx="11548872"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25880"/>
            <a:ext cx="11201400" cy="4892040"/>
          </a:xfrm>
          <a:prstGeom prst="rect">
            <a:avLst/>
          </a:prstGeom>
          <a:noFill/>
        </p:spPr>
        <p:txBody>
          <a:bodyPr wrap="square">
            <a:spAutoFit/>
          </a:bodyPr>
          <a:lstStyle/>
          <a:p>
            <a:pPr algn="l"/>
            <a:r>
              <a:rPr sz="950" b="0" i="0">
                <a:solidFill>
                  <a:srgbClr val="1A1A2E"/>
                </a:solidFill>
              </a:rPr>
              <a:t>CONFIDENTIALITY
This presentation has been prepared exclusively for Netflix, Inc. ("Netflix" or the "Company") and its authorized representatives by its Financial Advisor. This material is strictly confidential and may not be reproduced, distributed, or disclosed to any other person without the prior written consent of the Financial Advisor.
NOT AN OFFER
This presentation does not constitute an offer to sell or a solicitation of an offer to buy any securities. Nothing herein shall be deemed to constitute investment advice, and it shall not form the basis of any contract. All financial projections are illustrative and should not be relied upon as indicators of future performance.
FORWARD-LOOKING STATEMENTS
Certain statements in this presentation constitute forward-looking statements involving risks and uncertainties. Actual results may differ materially from those anticipated due to factors beyond the parties' control, including regulatory approvals, market conditions, and integration execution. Neither Netflix nor the Financial Advisor makes any representation or warranty as to the accuracy or completeness of this information.
SOURCES
Financial data sourced from public filings (Netflix 10-K FY2024; Warner Bros. Discovery 10-K FY2024), Bloomberg, FactSet, and Financial Advisor research. Market data as of May 2025. WBD FY2024 Adjusted EBITDA per company guidance. All synergy estimates are Financial Advisor projections.
FOR MANAGEMENT DISCUSSION PURPOSES ONLY — NOT FOR DISTRIBUTION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Table of Contents</a:t>
            </a:r>
          </a:p>
        </p:txBody>
      </p:sp>
      <p:sp>
        <p:nvSpPr>
          <p:cNvPr id="5" name="Rectangle 4"/>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164592"/>
            <a:ext cx="11430000" cy="594360"/>
          </a:xfrm>
          <a:prstGeom prst="rect">
            <a:avLst/>
          </a:prstGeom>
          <a:noFill/>
        </p:spPr>
        <p:txBody>
          <a:bodyPr wrap="square">
            <a:spAutoFit/>
          </a:bodyPr>
          <a:lstStyle/>
          <a:p>
            <a:pPr algn="l"/>
            <a:r>
              <a:rPr sz="2200" b="1" i="0">
                <a:solidFill>
                  <a:srgbClr val="FFFFFF"/>
                </a:solidFill>
              </a:rPr>
              <a:t>Table of Contents</a:t>
            </a:r>
          </a:p>
        </p:txBody>
      </p:sp>
      <p:sp>
        <p:nvSpPr>
          <p:cNvPr id="8" name="Rectangle 7"/>
          <p:cNvSpPr/>
          <p:nvPr/>
        </p:nvSpPr>
        <p:spPr>
          <a:xfrm>
            <a:off x="320040" y="1234440"/>
            <a:ext cx="11548872" cy="41148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289304"/>
            <a:ext cx="640080" cy="310896"/>
          </a:xfrm>
          <a:prstGeom prst="rect">
            <a:avLst/>
          </a:prstGeom>
          <a:noFill/>
        </p:spPr>
        <p:txBody>
          <a:bodyPr wrap="square">
            <a:spAutoFit/>
          </a:bodyPr>
          <a:lstStyle/>
          <a:p>
            <a:pPr algn="l"/>
            <a:r>
              <a:rPr sz="1100" b="1" i="0">
                <a:solidFill>
                  <a:srgbClr val="FFFFFF"/>
                </a:solidFill>
              </a:rPr>
              <a:t>I</a:t>
            </a:r>
          </a:p>
        </p:txBody>
      </p:sp>
      <p:sp>
        <p:nvSpPr>
          <p:cNvPr id="10" name="TextBox 9"/>
          <p:cNvSpPr txBox="1"/>
          <p:nvPr/>
        </p:nvSpPr>
        <p:spPr>
          <a:xfrm>
            <a:off x="1097280" y="1289304"/>
            <a:ext cx="9601200" cy="310896"/>
          </a:xfrm>
          <a:prstGeom prst="rect">
            <a:avLst/>
          </a:prstGeom>
          <a:noFill/>
        </p:spPr>
        <p:txBody>
          <a:bodyPr wrap="square">
            <a:spAutoFit/>
          </a:bodyPr>
          <a:lstStyle/>
          <a:p>
            <a:pPr algn="l"/>
            <a:r>
              <a:rPr sz="1100" b="1" i="0">
                <a:solidFill>
                  <a:srgbClr val="FFFFFF"/>
                </a:solidFill>
              </a:rPr>
              <a:t>Executive Summary &amp; Transaction Highlights</a:t>
            </a:r>
          </a:p>
        </p:txBody>
      </p:sp>
      <p:sp>
        <p:nvSpPr>
          <p:cNvPr id="11" name="TextBox 10"/>
          <p:cNvSpPr txBox="1"/>
          <p:nvPr/>
        </p:nvSpPr>
        <p:spPr>
          <a:xfrm>
            <a:off x="10972800" y="1289304"/>
            <a:ext cx="822960" cy="310896"/>
          </a:xfrm>
          <a:prstGeom prst="rect">
            <a:avLst/>
          </a:prstGeom>
          <a:noFill/>
        </p:spPr>
        <p:txBody>
          <a:bodyPr wrap="square">
            <a:spAutoFit/>
          </a:bodyPr>
          <a:lstStyle/>
          <a:p>
            <a:pPr algn="r"/>
            <a:r>
              <a:rPr sz="1100" b="0" i="0">
                <a:solidFill>
                  <a:srgbClr val="FFFFFF"/>
                </a:solidFill>
              </a:rPr>
              <a:t>4</a:t>
            </a:r>
          </a:p>
        </p:txBody>
      </p:sp>
      <p:sp>
        <p:nvSpPr>
          <p:cNvPr id="12" name="Rectangle 11"/>
          <p:cNvSpPr/>
          <p:nvPr/>
        </p:nvSpPr>
        <p:spPr>
          <a:xfrm>
            <a:off x="320040" y="1682496"/>
            <a:ext cx="11548872"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737360"/>
            <a:ext cx="640080" cy="310896"/>
          </a:xfrm>
          <a:prstGeom prst="rect">
            <a:avLst/>
          </a:prstGeom>
          <a:noFill/>
        </p:spPr>
        <p:txBody>
          <a:bodyPr wrap="square">
            <a:spAutoFit/>
          </a:bodyPr>
          <a:lstStyle/>
          <a:p>
            <a:pPr algn="l"/>
            <a:r>
              <a:rPr sz="1100" b="1" i="0">
                <a:solidFill>
                  <a:srgbClr val="18408C"/>
                </a:solidFill>
              </a:rPr>
              <a:t>II</a:t>
            </a:r>
          </a:p>
        </p:txBody>
      </p:sp>
      <p:sp>
        <p:nvSpPr>
          <p:cNvPr id="14" name="TextBox 13"/>
          <p:cNvSpPr txBox="1"/>
          <p:nvPr/>
        </p:nvSpPr>
        <p:spPr>
          <a:xfrm>
            <a:off x="1097280" y="1737360"/>
            <a:ext cx="9601200" cy="310896"/>
          </a:xfrm>
          <a:prstGeom prst="rect">
            <a:avLst/>
          </a:prstGeom>
          <a:noFill/>
        </p:spPr>
        <p:txBody>
          <a:bodyPr wrap="square">
            <a:spAutoFit/>
          </a:bodyPr>
          <a:lstStyle/>
          <a:p>
            <a:pPr algn="l"/>
            <a:r>
              <a:rPr sz="1100" b="0" i="0">
                <a:solidFill>
                  <a:srgbClr val="1A1A2E"/>
                </a:solidFill>
              </a:rPr>
              <a:t>Why Now? — Strategic Context</a:t>
            </a:r>
          </a:p>
        </p:txBody>
      </p:sp>
      <p:sp>
        <p:nvSpPr>
          <p:cNvPr id="15" name="TextBox 14"/>
          <p:cNvSpPr txBox="1"/>
          <p:nvPr/>
        </p:nvSpPr>
        <p:spPr>
          <a:xfrm>
            <a:off x="10972800" y="1737360"/>
            <a:ext cx="822960" cy="310896"/>
          </a:xfrm>
          <a:prstGeom prst="rect">
            <a:avLst/>
          </a:prstGeom>
          <a:noFill/>
        </p:spPr>
        <p:txBody>
          <a:bodyPr wrap="square">
            <a:spAutoFit/>
          </a:bodyPr>
          <a:lstStyle/>
          <a:p>
            <a:pPr algn="r"/>
            <a:r>
              <a:rPr sz="1100" b="0" i="0">
                <a:solidFill>
                  <a:srgbClr val="18408C"/>
                </a:solidFill>
              </a:rPr>
              <a:t>5</a:t>
            </a:r>
          </a:p>
        </p:txBody>
      </p:sp>
      <p:sp>
        <p:nvSpPr>
          <p:cNvPr id="16" name="Rectangle 15"/>
          <p:cNvSpPr/>
          <p:nvPr/>
        </p:nvSpPr>
        <p:spPr>
          <a:xfrm>
            <a:off x="320040" y="2130552"/>
            <a:ext cx="11548872" cy="4114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2185416"/>
            <a:ext cx="640080" cy="310896"/>
          </a:xfrm>
          <a:prstGeom prst="rect">
            <a:avLst/>
          </a:prstGeom>
          <a:noFill/>
        </p:spPr>
        <p:txBody>
          <a:bodyPr wrap="square">
            <a:spAutoFit/>
          </a:bodyPr>
          <a:lstStyle/>
          <a:p>
            <a:pPr algn="l"/>
            <a:r>
              <a:rPr sz="1100" b="1" i="0">
                <a:solidFill>
                  <a:srgbClr val="18408C"/>
                </a:solidFill>
              </a:rPr>
              <a:t>III</a:t>
            </a:r>
          </a:p>
        </p:txBody>
      </p:sp>
      <p:sp>
        <p:nvSpPr>
          <p:cNvPr id="18" name="TextBox 17"/>
          <p:cNvSpPr txBox="1"/>
          <p:nvPr/>
        </p:nvSpPr>
        <p:spPr>
          <a:xfrm>
            <a:off x="1097280" y="2185416"/>
            <a:ext cx="9601200" cy="310896"/>
          </a:xfrm>
          <a:prstGeom prst="rect">
            <a:avLst/>
          </a:prstGeom>
          <a:noFill/>
        </p:spPr>
        <p:txBody>
          <a:bodyPr wrap="square">
            <a:spAutoFit/>
          </a:bodyPr>
          <a:lstStyle/>
          <a:p>
            <a:pPr algn="l"/>
            <a:r>
              <a:rPr sz="1100" b="0" i="0">
                <a:solidFill>
                  <a:srgbClr val="1A1A2E"/>
                </a:solidFill>
              </a:rPr>
              <a:t>Netflix: Company Overview</a:t>
            </a:r>
          </a:p>
        </p:txBody>
      </p:sp>
      <p:sp>
        <p:nvSpPr>
          <p:cNvPr id="19" name="TextBox 18"/>
          <p:cNvSpPr txBox="1"/>
          <p:nvPr/>
        </p:nvSpPr>
        <p:spPr>
          <a:xfrm>
            <a:off x="10972800" y="2185416"/>
            <a:ext cx="822960" cy="310896"/>
          </a:xfrm>
          <a:prstGeom prst="rect">
            <a:avLst/>
          </a:prstGeom>
          <a:noFill/>
        </p:spPr>
        <p:txBody>
          <a:bodyPr wrap="square">
            <a:spAutoFit/>
          </a:bodyPr>
          <a:lstStyle/>
          <a:p>
            <a:pPr algn="r"/>
            <a:r>
              <a:rPr sz="1100" b="0" i="0">
                <a:solidFill>
                  <a:srgbClr val="18408C"/>
                </a:solidFill>
              </a:rPr>
              <a:t>6</a:t>
            </a:r>
          </a:p>
        </p:txBody>
      </p:sp>
      <p:sp>
        <p:nvSpPr>
          <p:cNvPr id="20" name="Rectangle 19"/>
          <p:cNvSpPr/>
          <p:nvPr/>
        </p:nvSpPr>
        <p:spPr>
          <a:xfrm>
            <a:off x="320040" y="2578608"/>
            <a:ext cx="11548872"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633472"/>
            <a:ext cx="640080" cy="310896"/>
          </a:xfrm>
          <a:prstGeom prst="rect">
            <a:avLst/>
          </a:prstGeom>
          <a:noFill/>
        </p:spPr>
        <p:txBody>
          <a:bodyPr wrap="square">
            <a:spAutoFit/>
          </a:bodyPr>
          <a:lstStyle/>
          <a:p>
            <a:pPr algn="l"/>
            <a:r>
              <a:rPr sz="1100" b="1" i="0">
                <a:solidFill>
                  <a:srgbClr val="18408C"/>
                </a:solidFill>
              </a:rPr>
              <a:t>IV</a:t>
            </a:r>
          </a:p>
        </p:txBody>
      </p:sp>
      <p:sp>
        <p:nvSpPr>
          <p:cNvPr id="22" name="TextBox 21"/>
          <p:cNvSpPr txBox="1"/>
          <p:nvPr/>
        </p:nvSpPr>
        <p:spPr>
          <a:xfrm>
            <a:off x="1097280" y="2633472"/>
            <a:ext cx="9601200" cy="310896"/>
          </a:xfrm>
          <a:prstGeom prst="rect">
            <a:avLst/>
          </a:prstGeom>
          <a:noFill/>
        </p:spPr>
        <p:txBody>
          <a:bodyPr wrap="square">
            <a:spAutoFit/>
          </a:bodyPr>
          <a:lstStyle/>
          <a:p>
            <a:pPr algn="l"/>
            <a:r>
              <a:rPr sz="1100" b="0" i="0">
                <a:solidFill>
                  <a:srgbClr val="1A1A2E"/>
                </a:solidFill>
              </a:rPr>
              <a:t>Warner Bros. Discovery: Company Overview</a:t>
            </a:r>
          </a:p>
        </p:txBody>
      </p:sp>
      <p:sp>
        <p:nvSpPr>
          <p:cNvPr id="23" name="TextBox 22"/>
          <p:cNvSpPr txBox="1"/>
          <p:nvPr/>
        </p:nvSpPr>
        <p:spPr>
          <a:xfrm>
            <a:off x="10972800" y="2633472"/>
            <a:ext cx="822960" cy="310896"/>
          </a:xfrm>
          <a:prstGeom prst="rect">
            <a:avLst/>
          </a:prstGeom>
          <a:noFill/>
        </p:spPr>
        <p:txBody>
          <a:bodyPr wrap="square">
            <a:spAutoFit/>
          </a:bodyPr>
          <a:lstStyle/>
          <a:p>
            <a:pPr algn="r"/>
            <a:r>
              <a:rPr sz="1100" b="0" i="0">
                <a:solidFill>
                  <a:srgbClr val="18408C"/>
                </a:solidFill>
              </a:rPr>
              <a:t>7 – 8</a:t>
            </a:r>
          </a:p>
        </p:txBody>
      </p:sp>
      <p:sp>
        <p:nvSpPr>
          <p:cNvPr id="24" name="Rectangle 23"/>
          <p:cNvSpPr/>
          <p:nvPr/>
        </p:nvSpPr>
        <p:spPr>
          <a:xfrm>
            <a:off x="320040" y="3026664"/>
            <a:ext cx="11548872" cy="41148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081528"/>
            <a:ext cx="640080" cy="310896"/>
          </a:xfrm>
          <a:prstGeom prst="rect">
            <a:avLst/>
          </a:prstGeom>
          <a:noFill/>
        </p:spPr>
        <p:txBody>
          <a:bodyPr wrap="square">
            <a:spAutoFit/>
          </a:bodyPr>
          <a:lstStyle/>
          <a:p>
            <a:pPr algn="l"/>
            <a:r>
              <a:rPr sz="1100" b="1" i="0">
                <a:solidFill>
                  <a:srgbClr val="FFFFFF"/>
                </a:solidFill>
              </a:rPr>
              <a:t>V</a:t>
            </a:r>
          </a:p>
        </p:txBody>
      </p:sp>
      <p:sp>
        <p:nvSpPr>
          <p:cNvPr id="26" name="TextBox 25"/>
          <p:cNvSpPr txBox="1"/>
          <p:nvPr/>
        </p:nvSpPr>
        <p:spPr>
          <a:xfrm>
            <a:off x="1097280" y="3081528"/>
            <a:ext cx="9601200" cy="310896"/>
          </a:xfrm>
          <a:prstGeom prst="rect">
            <a:avLst/>
          </a:prstGeom>
          <a:noFill/>
        </p:spPr>
        <p:txBody>
          <a:bodyPr wrap="square">
            <a:spAutoFit/>
          </a:bodyPr>
          <a:lstStyle/>
          <a:p>
            <a:pPr algn="l"/>
            <a:r>
              <a:rPr sz="1100" b="1" i="0">
                <a:solidFill>
                  <a:srgbClr val="FFFFFF"/>
                </a:solidFill>
              </a:rPr>
              <a:t>Strategic Rationale — Five Pillars</a:t>
            </a:r>
          </a:p>
        </p:txBody>
      </p:sp>
      <p:sp>
        <p:nvSpPr>
          <p:cNvPr id="27" name="TextBox 26"/>
          <p:cNvSpPr txBox="1"/>
          <p:nvPr/>
        </p:nvSpPr>
        <p:spPr>
          <a:xfrm>
            <a:off x="10972800" y="3081528"/>
            <a:ext cx="822960" cy="310896"/>
          </a:xfrm>
          <a:prstGeom prst="rect">
            <a:avLst/>
          </a:prstGeom>
          <a:noFill/>
        </p:spPr>
        <p:txBody>
          <a:bodyPr wrap="square">
            <a:spAutoFit/>
          </a:bodyPr>
          <a:lstStyle/>
          <a:p>
            <a:pPr algn="r"/>
            <a:r>
              <a:rPr sz="1100" b="0" i="0">
                <a:solidFill>
                  <a:srgbClr val="FFFFFF"/>
                </a:solidFill>
              </a:rPr>
              <a:t>9 – 10</a:t>
            </a:r>
          </a:p>
        </p:txBody>
      </p:sp>
      <p:sp>
        <p:nvSpPr>
          <p:cNvPr id="28" name="Rectangle 27"/>
          <p:cNvSpPr/>
          <p:nvPr/>
        </p:nvSpPr>
        <p:spPr>
          <a:xfrm>
            <a:off x="320040" y="3474720"/>
            <a:ext cx="11548872"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3529584"/>
            <a:ext cx="640080" cy="310896"/>
          </a:xfrm>
          <a:prstGeom prst="rect">
            <a:avLst/>
          </a:prstGeom>
          <a:noFill/>
        </p:spPr>
        <p:txBody>
          <a:bodyPr wrap="square">
            <a:spAutoFit/>
          </a:bodyPr>
          <a:lstStyle/>
          <a:p>
            <a:pPr algn="l"/>
            <a:r>
              <a:rPr sz="1100" b="1" i="0">
                <a:solidFill>
                  <a:srgbClr val="18408C"/>
                </a:solidFill>
              </a:rPr>
              <a:t>VI</a:t>
            </a:r>
          </a:p>
        </p:txBody>
      </p:sp>
      <p:sp>
        <p:nvSpPr>
          <p:cNvPr id="30" name="TextBox 29"/>
          <p:cNvSpPr txBox="1"/>
          <p:nvPr/>
        </p:nvSpPr>
        <p:spPr>
          <a:xfrm>
            <a:off x="1097280" y="3529584"/>
            <a:ext cx="9601200" cy="310896"/>
          </a:xfrm>
          <a:prstGeom prst="rect">
            <a:avLst/>
          </a:prstGeom>
          <a:noFill/>
        </p:spPr>
        <p:txBody>
          <a:bodyPr wrap="square">
            <a:spAutoFit/>
          </a:bodyPr>
          <a:lstStyle/>
          <a:p>
            <a:pPr algn="l"/>
            <a:r>
              <a:rPr sz="1100" b="0" i="0">
                <a:solidFill>
                  <a:srgbClr val="1A1A2E"/>
                </a:solidFill>
              </a:rPr>
              <a:t>Synergy Analysis</a:t>
            </a:r>
          </a:p>
        </p:txBody>
      </p:sp>
      <p:sp>
        <p:nvSpPr>
          <p:cNvPr id="31" name="TextBox 30"/>
          <p:cNvSpPr txBox="1"/>
          <p:nvPr/>
        </p:nvSpPr>
        <p:spPr>
          <a:xfrm>
            <a:off x="10972800" y="3529584"/>
            <a:ext cx="822960" cy="310896"/>
          </a:xfrm>
          <a:prstGeom prst="rect">
            <a:avLst/>
          </a:prstGeom>
          <a:noFill/>
        </p:spPr>
        <p:txBody>
          <a:bodyPr wrap="square">
            <a:spAutoFit/>
          </a:bodyPr>
          <a:lstStyle/>
          <a:p>
            <a:pPr algn="r"/>
            <a:r>
              <a:rPr sz="1100" b="0" i="0">
                <a:solidFill>
                  <a:srgbClr val="18408C"/>
                </a:solidFill>
              </a:rPr>
              <a:t>11</a:t>
            </a:r>
          </a:p>
        </p:txBody>
      </p:sp>
      <p:sp>
        <p:nvSpPr>
          <p:cNvPr id="32" name="Rectangle 31"/>
          <p:cNvSpPr/>
          <p:nvPr/>
        </p:nvSpPr>
        <p:spPr>
          <a:xfrm>
            <a:off x="320040" y="3922776"/>
            <a:ext cx="11548872" cy="4114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977639"/>
            <a:ext cx="640080" cy="310896"/>
          </a:xfrm>
          <a:prstGeom prst="rect">
            <a:avLst/>
          </a:prstGeom>
          <a:noFill/>
        </p:spPr>
        <p:txBody>
          <a:bodyPr wrap="square">
            <a:spAutoFit/>
          </a:bodyPr>
          <a:lstStyle/>
          <a:p>
            <a:pPr algn="l"/>
            <a:r>
              <a:rPr sz="1100" b="1" i="0">
                <a:solidFill>
                  <a:srgbClr val="18408C"/>
                </a:solidFill>
              </a:rPr>
              <a:t>VII</a:t>
            </a:r>
          </a:p>
        </p:txBody>
      </p:sp>
      <p:sp>
        <p:nvSpPr>
          <p:cNvPr id="34" name="TextBox 33"/>
          <p:cNvSpPr txBox="1"/>
          <p:nvPr/>
        </p:nvSpPr>
        <p:spPr>
          <a:xfrm>
            <a:off x="1097280" y="3977639"/>
            <a:ext cx="9601200" cy="310896"/>
          </a:xfrm>
          <a:prstGeom prst="rect">
            <a:avLst/>
          </a:prstGeom>
          <a:noFill/>
        </p:spPr>
        <p:txBody>
          <a:bodyPr wrap="square">
            <a:spAutoFit/>
          </a:bodyPr>
          <a:lstStyle/>
          <a:p>
            <a:pPr algn="l"/>
            <a:r>
              <a:rPr sz="1100" b="0" i="0">
                <a:solidFill>
                  <a:srgbClr val="1A1A2E"/>
                </a:solidFill>
              </a:rPr>
              <a:t>Transaction Structure &amp; Financing</a:t>
            </a:r>
          </a:p>
        </p:txBody>
      </p:sp>
      <p:sp>
        <p:nvSpPr>
          <p:cNvPr id="35" name="TextBox 34"/>
          <p:cNvSpPr txBox="1"/>
          <p:nvPr/>
        </p:nvSpPr>
        <p:spPr>
          <a:xfrm>
            <a:off x="10972800" y="3977639"/>
            <a:ext cx="822960" cy="310896"/>
          </a:xfrm>
          <a:prstGeom prst="rect">
            <a:avLst/>
          </a:prstGeom>
          <a:noFill/>
        </p:spPr>
        <p:txBody>
          <a:bodyPr wrap="square">
            <a:spAutoFit/>
          </a:bodyPr>
          <a:lstStyle/>
          <a:p>
            <a:pPr algn="r"/>
            <a:r>
              <a:rPr sz="1100" b="0" i="0">
                <a:solidFill>
                  <a:srgbClr val="18408C"/>
                </a:solidFill>
              </a:rPr>
              <a:t>12 – 13</a:t>
            </a:r>
          </a:p>
        </p:txBody>
      </p:sp>
      <p:sp>
        <p:nvSpPr>
          <p:cNvPr id="36" name="Rectangle 35"/>
          <p:cNvSpPr/>
          <p:nvPr/>
        </p:nvSpPr>
        <p:spPr>
          <a:xfrm>
            <a:off x="320040" y="4370831"/>
            <a:ext cx="11548872" cy="41148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4425695"/>
            <a:ext cx="640080" cy="310896"/>
          </a:xfrm>
          <a:prstGeom prst="rect">
            <a:avLst/>
          </a:prstGeom>
          <a:noFill/>
        </p:spPr>
        <p:txBody>
          <a:bodyPr wrap="square">
            <a:spAutoFit/>
          </a:bodyPr>
          <a:lstStyle/>
          <a:p>
            <a:pPr algn="l"/>
            <a:r>
              <a:rPr sz="1100" b="1" i="0">
                <a:solidFill>
                  <a:srgbClr val="FFFFFF"/>
                </a:solidFill>
              </a:rPr>
              <a:t>VIII</a:t>
            </a:r>
          </a:p>
        </p:txBody>
      </p:sp>
      <p:sp>
        <p:nvSpPr>
          <p:cNvPr id="38" name="TextBox 37"/>
          <p:cNvSpPr txBox="1"/>
          <p:nvPr/>
        </p:nvSpPr>
        <p:spPr>
          <a:xfrm>
            <a:off x="1097280" y="4425695"/>
            <a:ext cx="9601200" cy="310896"/>
          </a:xfrm>
          <a:prstGeom prst="rect">
            <a:avLst/>
          </a:prstGeom>
          <a:noFill/>
        </p:spPr>
        <p:txBody>
          <a:bodyPr wrap="square">
            <a:spAutoFit/>
          </a:bodyPr>
          <a:lstStyle/>
          <a:p>
            <a:pPr algn="l"/>
            <a:r>
              <a:rPr sz="1100" b="1" i="0">
                <a:solidFill>
                  <a:srgbClr val="FFFFFF"/>
                </a:solidFill>
              </a:rPr>
              <a:t>Valuation Analysis</a:t>
            </a:r>
          </a:p>
        </p:txBody>
      </p:sp>
      <p:sp>
        <p:nvSpPr>
          <p:cNvPr id="39" name="TextBox 38"/>
          <p:cNvSpPr txBox="1"/>
          <p:nvPr/>
        </p:nvSpPr>
        <p:spPr>
          <a:xfrm>
            <a:off x="10972800" y="4425695"/>
            <a:ext cx="822960" cy="310896"/>
          </a:xfrm>
          <a:prstGeom prst="rect">
            <a:avLst/>
          </a:prstGeom>
          <a:noFill/>
        </p:spPr>
        <p:txBody>
          <a:bodyPr wrap="square">
            <a:spAutoFit/>
          </a:bodyPr>
          <a:lstStyle/>
          <a:p>
            <a:pPr algn="r"/>
            <a:r>
              <a:rPr sz="1100" b="0" i="0">
                <a:solidFill>
                  <a:srgbClr val="FFFFFF"/>
                </a:solidFill>
              </a:rPr>
              <a:t>14 – 16</a:t>
            </a:r>
          </a:p>
        </p:txBody>
      </p:sp>
      <p:sp>
        <p:nvSpPr>
          <p:cNvPr id="40" name="Rectangle 39"/>
          <p:cNvSpPr/>
          <p:nvPr/>
        </p:nvSpPr>
        <p:spPr>
          <a:xfrm>
            <a:off x="320040" y="4818888"/>
            <a:ext cx="11548872" cy="4114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873751"/>
            <a:ext cx="640080" cy="310896"/>
          </a:xfrm>
          <a:prstGeom prst="rect">
            <a:avLst/>
          </a:prstGeom>
          <a:noFill/>
        </p:spPr>
        <p:txBody>
          <a:bodyPr wrap="square">
            <a:spAutoFit/>
          </a:bodyPr>
          <a:lstStyle/>
          <a:p>
            <a:pPr algn="l"/>
            <a:r>
              <a:rPr sz="1100" b="1" i="0">
                <a:solidFill>
                  <a:srgbClr val="18408C"/>
                </a:solidFill>
              </a:rPr>
              <a:t>IX</a:t>
            </a:r>
          </a:p>
        </p:txBody>
      </p:sp>
      <p:sp>
        <p:nvSpPr>
          <p:cNvPr id="42" name="TextBox 41"/>
          <p:cNvSpPr txBox="1"/>
          <p:nvPr/>
        </p:nvSpPr>
        <p:spPr>
          <a:xfrm>
            <a:off x="1097280" y="4873751"/>
            <a:ext cx="9601200" cy="310896"/>
          </a:xfrm>
          <a:prstGeom prst="rect">
            <a:avLst/>
          </a:prstGeom>
          <a:noFill/>
        </p:spPr>
        <p:txBody>
          <a:bodyPr wrap="square">
            <a:spAutoFit/>
          </a:bodyPr>
          <a:lstStyle/>
          <a:p>
            <a:pPr algn="l"/>
            <a:r>
              <a:rPr sz="1100" b="0" i="0">
                <a:solidFill>
                  <a:srgbClr val="1A1A2E"/>
                </a:solidFill>
              </a:rPr>
              <a:t>Pro Forma Financial Impact</a:t>
            </a:r>
          </a:p>
        </p:txBody>
      </p:sp>
      <p:sp>
        <p:nvSpPr>
          <p:cNvPr id="43" name="TextBox 42"/>
          <p:cNvSpPr txBox="1"/>
          <p:nvPr/>
        </p:nvSpPr>
        <p:spPr>
          <a:xfrm>
            <a:off x="10972800" y="4873751"/>
            <a:ext cx="822960" cy="310896"/>
          </a:xfrm>
          <a:prstGeom prst="rect">
            <a:avLst/>
          </a:prstGeom>
          <a:noFill/>
        </p:spPr>
        <p:txBody>
          <a:bodyPr wrap="square">
            <a:spAutoFit/>
          </a:bodyPr>
          <a:lstStyle/>
          <a:p>
            <a:pPr algn="r"/>
            <a:r>
              <a:rPr sz="1100" b="0" i="0">
                <a:solidFill>
                  <a:srgbClr val="18408C"/>
                </a:solidFill>
              </a:rPr>
              <a:t>17</a:t>
            </a:r>
          </a:p>
        </p:txBody>
      </p:sp>
      <p:sp>
        <p:nvSpPr>
          <p:cNvPr id="44" name="Rectangle 43"/>
          <p:cNvSpPr/>
          <p:nvPr/>
        </p:nvSpPr>
        <p:spPr>
          <a:xfrm>
            <a:off x="320040" y="5266944"/>
            <a:ext cx="11548872"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5321807"/>
            <a:ext cx="640080" cy="310896"/>
          </a:xfrm>
          <a:prstGeom prst="rect">
            <a:avLst/>
          </a:prstGeom>
          <a:noFill/>
        </p:spPr>
        <p:txBody>
          <a:bodyPr wrap="square">
            <a:spAutoFit/>
          </a:bodyPr>
          <a:lstStyle/>
          <a:p>
            <a:pPr algn="l"/>
            <a:r>
              <a:rPr sz="1100" b="1" i="0">
                <a:solidFill>
                  <a:srgbClr val="18408C"/>
                </a:solidFill>
              </a:rPr>
              <a:t>X</a:t>
            </a:r>
          </a:p>
        </p:txBody>
      </p:sp>
      <p:sp>
        <p:nvSpPr>
          <p:cNvPr id="46" name="TextBox 45"/>
          <p:cNvSpPr txBox="1"/>
          <p:nvPr/>
        </p:nvSpPr>
        <p:spPr>
          <a:xfrm>
            <a:off x="1097280" y="5321807"/>
            <a:ext cx="9601200" cy="310896"/>
          </a:xfrm>
          <a:prstGeom prst="rect">
            <a:avLst/>
          </a:prstGeom>
          <a:noFill/>
        </p:spPr>
        <p:txBody>
          <a:bodyPr wrap="square">
            <a:spAutoFit/>
          </a:bodyPr>
          <a:lstStyle/>
          <a:p>
            <a:pPr algn="l"/>
            <a:r>
              <a:rPr sz="1100" b="0" i="0">
                <a:solidFill>
                  <a:srgbClr val="1A1A2E"/>
                </a:solidFill>
              </a:rPr>
              <a:t>Risk Factors &amp; Mitigants</a:t>
            </a:r>
          </a:p>
        </p:txBody>
      </p:sp>
      <p:sp>
        <p:nvSpPr>
          <p:cNvPr id="47" name="TextBox 46"/>
          <p:cNvSpPr txBox="1"/>
          <p:nvPr/>
        </p:nvSpPr>
        <p:spPr>
          <a:xfrm>
            <a:off x="10972800" y="5321807"/>
            <a:ext cx="822960" cy="310896"/>
          </a:xfrm>
          <a:prstGeom prst="rect">
            <a:avLst/>
          </a:prstGeom>
          <a:noFill/>
        </p:spPr>
        <p:txBody>
          <a:bodyPr wrap="square">
            <a:spAutoFit/>
          </a:bodyPr>
          <a:lstStyle/>
          <a:p>
            <a:pPr algn="r"/>
            <a:r>
              <a:rPr sz="1100" b="0" i="0">
                <a:solidFill>
                  <a:srgbClr val="18408C"/>
                </a:solidFill>
              </a:rPr>
              <a:t>18</a:t>
            </a:r>
          </a:p>
        </p:txBody>
      </p:sp>
      <p:sp>
        <p:nvSpPr>
          <p:cNvPr id="48" name="Rectangle 47"/>
          <p:cNvSpPr/>
          <p:nvPr/>
        </p:nvSpPr>
        <p:spPr>
          <a:xfrm>
            <a:off x="320040" y="5715000"/>
            <a:ext cx="11548872" cy="4114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 y="5769864"/>
            <a:ext cx="640080" cy="310896"/>
          </a:xfrm>
          <a:prstGeom prst="rect">
            <a:avLst/>
          </a:prstGeom>
          <a:noFill/>
        </p:spPr>
        <p:txBody>
          <a:bodyPr wrap="square">
            <a:spAutoFit/>
          </a:bodyPr>
          <a:lstStyle/>
          <a:p>
            <a:pPr algn="l"/>
            <a:r>
              <a:rPr sz="1100" b="1" i="0">
                <a:solidFill>
                  <a:srgbClr val="18408C"/>
                </a:solidFill>
              </a:rPr>
              <a:t>XI</a:t>
            </a:r>
          </a:p>
        </p:txBody>
      </p:sp>
      <p:sp>
        <p:nvSpPr>
          <p:cNvPr id="50" name="TextBox 49"/>
          <p:cNvSpPr txBox="1"/>
          <p:nvPr/>
        </p:nvSpPr>
        <p:spPr>
          <a:xfrm>
            <a:off x="1097280" y="5769864"/>
            <a:ext cx="9601200" cy="310896"/>
          </a:xfrm>
          <a:prstGeom prst="rect">
            <a:avLst/>
          </a:prstGeom>
          <a:noFill/>
        </p:spPr>
        <p:txBody>
          <a:bodyPr wrap="square">
            <a:spAutoFit/>
          </a:bodyPr>
          <a:lstStyle/>
          <a:p>
            <a:pPr algn="l"/>
            <a:r>
              <a:rPr sz="1100" b="0" i="0">
                <a:solidFill>
                  <a:srgbClr val="1A1A2E"/>
                </a:solidFill>
              </a:rPr>
              <a:t>Recommendation &amp; Next Steps</a:t>
            </a:r>
          </a:p>
        </p:txBody>
      </p:sp>
      <p:sp>
        <p:nvSpPr>
          <p:cNvPr id="51" name="TextBox 50"/>
          <p:cNvSpPr txBox="1"/>
          <p:nvPr/>
        </p:nvSpPr>
        <p:spPr>
          <a:xfrm>
            <a:off x="10972800" y="5769864"/>
            <a:ext cx="822960" cy="310896"/>
          </a:xfrm>
          <a:prstGeom prst="rect">
            <a:avLst/>
          </a:prstGeom>
          <a:noFill/>
        </p:spPr>
        <p:txBody>
          <a:bodyPr wrap="square">
            <a:spAutoFit/>
          </a:bodyPr>
          <a:lstStyle/>
          <a:p>
            <a:pPr algn="r"/>
            <a:r>
              <a:rPr sz="1100" b="0" i="0">
                <a:solidFill>
                  <a:srgbClr val="18408C"/>
                </a:solidFill>
              </a:rPr>
              <a:t>19</a:t>
            </a:r>
          </a:p>
        </p:txBody>
      </p:sp>
      <p:sp>
        <p:nvSpPr>
          <p:cNvPr id="52" name="Rectangle 51"/>
          <p:cNvSpPr/>
          <p:nvPr/>
        </p:nvSpPr>
        <p:spPr>
          <a:xfrm>
            <a:off x="320040" y="6163056"/>
            <a:ext cx="11548872"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 y="6217920"/>
            <a:ext cx="640080" cy="310896"/>
          </a:xfrm>
          <a:prstGeom prst="rect">
            <a:avLst/>
          </a:prstGeom>
          <a:noFill/>
        </p:spPr>
        <p:txBody>
          <a:bodyPr wrap="square">
            <a:spAutoFit/>
          </a:bodyPr>
          <a:lstStyle/>
          <a:p>
            <a:pPr algn="l"/>
            <a:r>
              <a:rPr sz="1100" b="1" i="0">
                <a:solidFill>
                  <a:srgbClr val="18408C"/>
                </a:solidFill>
              </a:rPr>
              <a:t/>
            </a:r>
          </a:p>
        </p:txBody>
      </p:sp>
      <p:sp>
        <p:nvSpPr>
          <p:cNvPr id="54" name="TextBox 53"/>
          <p:cNvSpPr txBox="1"/>
          <p:nvPr/>
        </p:nvSpPr>
        <p:spPr>
          <a:xfrm>
            <a:off x="1097280" y="6217920"/>
            <a:ext cx="9601200" cy="310896"/>
          </a:xfrm>
          <a:prstGeom prst="rect">
            <a:avLst/>
          </a:prstGeom>
          <a:noFill/>
        </p:spPr>
        <p:txBody>
          <a:bodyPr wrap="square">
            <a:spAutoFit/>
          </a:bodyPr>
          <a:lstStyle/>
          <a:p>
            <a:pPr algn="l"/>
            <a:r>
              <a:rPr sz="1100" b="0" i="0">
                <a:solidFill>
                  <a:srgbClr val="1A1A2E"/>
                </a:solidFill>
              </a:rPr>
              <a:t>Appendix: Selected Financial Data</a:t>
            </a:r>
          </a:p>
        </p:txBody>
      </p:sp>
      <p:sp>
        <p:nvSpPr>
          <p:cNvPr id="55" name="TextBox 54"/>
          <p:cNvSpPr txBox="1"/>
          <p:nvPr/>
        </p:nvSpPr>
        <p:spPr>
          <a:xfrm>
            <a:off x="10972800" y="6217920"/>
            <a:ext cx="822960" cy="310896"/>
          </a:xfrm>
          <a:prstGeom prst="rect">
            <a:avLst/>
          </a:prstGeom>
          <a:noFill/>
        </p:spPr>
        <p:txBody>
          <a:bodyPr wrap="square">
            <a:spAutoFit/>
          </a:bodyPr>
          <a:lstStyle/>
          <a:p>
            <a:pPr algn="r"/>
            <a:r>
              <a:rPr sz="1100" b="0" i="0">
                <a:solidFill>
                  <a:srgbClr val="18408C"/>
                </a:solidFill>
              </a:rPr>
              <a:t>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Executive Summary</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Transaction Highlights — Project Starlight</a:t>
            </a:r>
          </a:p>
        </p:txBody>
      </p:sp>
      <p:sp>
        <p:nvSpPr>
          <p:cNvPr id="6" name="Rectangle 5"/>
          <p:cNvSpPr/>
          <p:nvPr/>
        </p:nvSpPr>
        <p:spPr>
          <a:xfrm>
            <a:off x="320040"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71600"/>
            <a:ext cx="1828800" cy="658368"/>
          </a:xfrm>
          <a:prstGeom prst="rect">
            <a:avLst/>
          </a:prstGeom>
          <a:noFill/>
        </p:spPr>
        <p:txBody>
          <a:bodyPr wrap="square">
            <a:spAutoFit/>
          </a:bodyPr>
          <a:lstStyle/>
          <a:p>
            <a:pPr algn="ctr"/>
            <a:r>
              <a:rPr sz="2400" b="1" i="0">
                <a:solidFill>
                  <a:srgbClr val="0F2044"/>
                </a:solidFill>
              </a:rPr>
              <a:t>$10.00/sh</a:t>
            </a:r>
          </a:p>
        </p:txBody>
      </p:sp>
      <p:sp>
        <p:nvSpPr>
          <p:cNvPr id="9" name="TextBox 8"/>
          <p:cNvSpPr txBox="1"/>
          <p:nvPr/>
        </p:nvSpPr>
        <p:spPr>
          <a:xfrm>
            <a:off x="320040" y="2029968"/>
            <a:ext cx="1828800" cy="384048"/>
          </a:xfrm>
          <a:prstGeom prst="rect">
            <a:avLst/>
          </a:prstGeom>
          <a:noFill/>
        </p:spPr>
        <p:txBody>
          <a:bodyPr wrap="square">
            <a:spAutoFit/>
          </a:bodyPr>
          <a:lstStyle/>
          <a:p>
            <a:pPr algn="ctr"/>
            <a:r>
              <a:rPr sz="1000" b="0" i="0">
                <a:solidFill>
                  <a:srgbClr val="8A8A9A"/>
                </a:solidFill>
              </a:rPr>
              <a:t>Proposed Offer Price</a:t>
            </a:r>
          </a:p>
        </p:txBody>
      </p:sp>
      <p:sp>
        <p:nvSpPr>
          <p:cNvPr id="10" name="Rectangle 9"/>
          <p:cNvSpPr/>
          <p:nvPr/>
        </p:nvSpPr>
        <p:spPr>
          <a:xfrm>
            <a:off x="2258568"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58568"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1371600"/>
            <a:ext cx="1828800" cy="658368"/>
          </a:xfrm>
          <a:prstGeom prst="rect">
            <a:avLst/>
          </a:prstGeom>
          <a:noFill/>
        </p:spPr>
        <p:txBody>
          <a:bodyPr wrap="square">
            <a:spAutoFit/>
          </a:bodyPr>
          <a:lstStyle/>
          <a:p>
            <a:pPr algn="ctr"/>
            <a:r>
              <a:rPr sz="2400" b="1" i="0">
                <a:solidFill>
                  <a:srgbClr val="0F2044"/>
                </a:solidFill>
              </a:rPr>
              <a:t>+182%</a:t>
            </a:r>
          </a:p>
        </p:txBody>
      </p:sp>
      <p:sp>
        <p:nvSpPr>
          <p:cNvPr id="13" name="TextBox 12"/>
          <p:cNvSpPr txBox="1"/>
          <p:nvPr/>
        </p:nvSpPr>
        <p:spPr>
          <a:xfrm>
            <a:off x="2258568" y="2029968"/>
            <a:ext cx="1828800" cy="384048"/>
          </a:xfrm>
          <a:prstGeom prst="rect">
            <a:avLst/>
          </a:prstGeom>
          <a:noFill/>
        </p:spPr>
        <p:txBody>
          <a:bodyPr wrap="square">
            <a:spAutoFit/>
          </a:bodyPr>
          <a:lstStyle/>
          <a:p>
            <a:pPr algn="ctr"/>
            <a:r>
              <a:rPr sz="1000" b="0" i="0">
                <a:solidFill>
                  <a:srgbClr val="8A8A9A"/>
                </a:solidFill>
              </a:rPr>
              <a:t>Premium to Last Close
($3.55 undisturbed)</a:t>
            </a:r>
          </a:p>
        </p:txBody>
      </p:sp>
      <p:sp>
        <p:nvSpPr>
          <p:cNvPr id="14" name="Rectangle 13"/>
          <p:cNvSpPr/>
          <p:nvPr/>
        </p:nvSpPr>
        <p:spPr>
          <a:xfrm>
            <a:off x="4197096"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97096" y="1371600"/>
            <a:ext cx="1828800" cy="658368"/>
          </a:xfrm>
          <a:prstGeom prst="rect">
            <a:avLst/>
          </a:prstGeom>
          <a:noFill/>
        </p:spPr>
        <p:txBody>
          <a:bodyPr wrap="square">
            <a:spAutoFit/>
          </a:bodyPr>
          <a:lstStyle/>
          <a:p>
            <a:pPr algn="ctr"/>
            <a:r>
              <a:rPr sz="2400" b="1" i="0">
                <a:solidFill>
                  <a:srgbClr val="0F2044"/>
                </a:solidFill>
              </a:rPr>
              <a:t>~$60B</a:t>
            </a:r>
          </a:p>
        </p:txBody>
      </p:sp>
      <p:sp>
        <p:nvSpPr>
          <p:cNvPr id="17" name="TextBox 16"/>
          <p:cNvSpPr txBox="1"/>
          <p:nvPr/>
        </p:nvSpPr>
        <p:spPr>
          <a:xfrm>
            <a:off x="4197096" y="2029968"/>
            <a:ext cx="1828800" cy="384048"/>
          </a:xfrm>
          <a:prstGeom prst="rect">
            <a:avLst/>
          </a:prstGeom>
          <a:noFill/>
        </p:spPr>
        <p:txBody>
          <a:bodyPr wrap="square">
            <a:spAutoFit/>
          </a:bodyPr>
          <a:lstStyle/>
          <a:p>
            <a:pPr algn="ctr"/>
            <a:r>
              <a:rPr sz="1000" b="0" i="0">
                <a:solidFill>
                  <a:srgbClr val="8A8A9A"/>
                </a:solidFill>
              </a:rPr>
              <a:t>Total Transaction
Value (EV)</a:t>
            </a:r>
          </a:p>
        </p:txBody>
      </p:sp>
      <p:sp>
        <p:nvSpPr>
          <p:cNvPr id="18" name="Rectangle 17"/>
          <p:cNvSpPr/>
          <p:nvPr/>
        </p:nvSpPr>
        <p:spPr>
          <a:xfrm>
            <a:off x="6135624"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371600"/>
            <a:ext cx="1828800" cy="658368"/>
          </a:xfrm>
          <a:prstGeom prst="rect">
            <a:avLst/>
          </a:prstGeom>
          <a:noFill/>
        </p:spPr>
        <p:txBody>
          <a:bodyPr wrap="square">
            <a:spAutoFit/>
          </a:bodyPr>
          <a:lstStyle/>
          <a:p>
            <a:pPr algn="ctr"/>
            <a:r>
              <a:rPr sz="2400" b="1" i="0">
                <a:solidFill>
                  <a:srgbClr val="0F2044"/>
                </a:solidFill>
              </a:rPr>
              <a:t>6.2x</a:t>
            </a:r>
          </a:p>
        </p:txBody>
      </p:sp>
      <p:sp>
        <p:nvSpPr>
          <p:cNvPr id="21" name="TextBox 20"/>
          <p:cNvSpPr txBox="1"/>
          <p:nvPr/>
        </p:nvSpPr>
        <p:spPr>
          <a:xfrm>
            <a:off x="6135624" y="2029968"/>
            <a:ext cx="1828800" cy="384048"/>
          </a:xfrm>
          <a:prstGeom prst="rect">
            <a:avLst/>
          </a:prstGeom>
          <a:noFill/>
        </p:spPr>
        <p:txBody>
          <a:bodyPr wrap="square">
            <a:spAutoFit/>
          </a:bodyPr>
          <a:lstStyle/>
          <a:p>
            <a:pPr algn="ctr"/>
            <a:r>
              <a:rPr sz="1000" b="0" i="0">
                <a:solidFill>
                  <a:srgbClr val="8A8A9A"/>
                </a:solidFill>
              </a:rPr>
              <a:t>EV / FY2024A
Adj. EBITDA</a:t>
            </a:r>
          </a:p>
        </p:txBody>
      </p:sp>
      <p:sp>
        <p:nvSpPr>
          <p:cNvPr id="22" name="Rectangle 21"/>
          <p:cNvSpPr/>
          <p:nvPr/>
        </p:nvSpPr>
        <p:spPr>
          <a:xfrm>
            <a:off x="8074152"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1371600"/>
            <a:ext cx="1828800" cy="658368"/>
          </a:xfrm>
          <a:prstGeom prst="rect">
            <a:avLst/>
          </a:prstGeom>
          <a:noFill/>
        </p:spPr>
        <p:txBody>
          <a:bodyPr wrap="square">
            <a:spAutoFit/>
          </a:bodyPr>
          <a:lstStyle/>
          <a:p>
            <a:pPr algn="ctr"/>
            <a:r>
              <a:rPr sz="2400" b="1" i="0">
                <a:solidFill>
                  <a:srgbClr val="0F2044"/>
                </a:solidFill>
              </a:rPr>
              <a:t>~$4.0B</a:t>
            </a:r>
          </a:p>
        </p:txBody>
      </p:sp>
      <p:sp>
        <p:nvSpPr>
          <p:cNvPr id="25" name="TextBox 24"/>
          <p:cNvSpPr txBox="1"/>
          <p:nvPr/>
        </p:nvSpPr>
        <p:spPr>
          <a:xfrm>
            <a:off x="8074152" y="2029968"/>
            <a:ext cx="1828800" cy="384048"/>
          </a:xfrm>
          <a:prstGeom prst="rect">
            <a:avLst/>
          </a:prstGeom>
          <a:noFill/>
        </p:spPr>
        <p:txBody>
          <a:bodyPr wrap="square">
            <a:spAutoFit/>
          </a:bodyPr>
          <a:lstStyle/>
          <a:p>
            <a:pPr algn="ctr"/>
            <a:r>
              <a:rPr sz="1000" b="0" i="0">
                <a:solidFill>
                  <a:srgbClr val="8A8A9A"/>
                </a:solidFill>
              </a:rPr>
              <a:t>Estimated Annual
Synergies (Yr 3)</a:t>
            </a:r>
          </a:p>
        </p:txBody>
      </p:sp>
      <p:sp>
        <p:nvSpPr>
          <p:cNvPr id="26" name="Rectangle 25"/>
          <p:cNvSpPr/>
          <p:nvPr/>
        </p:nvSpPr>
        <p:spPr>
          <a:xfrm>
            <a:off x="10012680"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12680"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1371600"/>
            <a:ext cx="1828800" cy="658368"/>
          </a:xfrm>
          <a:prstGeom prst="rect">
            <a:avLst/>
          </a:prstGeom>
          <a:noFill/>
        </p:spPr>
        <p:txBody>
          <a:bodyPr wrap="square">
            <a:spAutoFit/>
          </a:bodyPr>
          <a:lstStyle/>
          <a:p>
            <a:pPr algn="ctr"/>
            <a:r>
              <a:rPr sz="2400" b="1" i="0">
                <a:solidFill>
                  <a:srgbClr val="0F2044"/>
                </a:solidFill>
              </a:rPr>
              <a:t>4.4x</a:t>
            </a:r>
          </a:p>
        </p:txBody>
      </p:sp>
      <p:sp>
        <p:nvSpPr>
          <p:cNvPr id="29" name="TextBox 28"/>
          <p:cNvSpPr txBox="1"/>
          <p:nvPr/>
        </p:nvSpPr>
        <p:spPr>
          <a:xfrm>
            <a:off x="10012680" y="2029968"/>
            <a:ext cx="1828800" cy="384048"/>
          </a:xfrm>
          <a:prstGeom prst="rect">
            <a:avLst/>
          </a:prstGeom>
          <a:noFill/>
        </p:spPr>
        <p:txBody>
          <a:bodyPr wrap="square">
            <a:spAutoFit/>
          </a:bodyPr>
          <a:lstStyle/>
          <a:p>
            <a:pPr algn="ctr"/>
            <a:r>
              <a:rPr sz="1000" b="0" i="0">
                <a:solidFill>
                  <a:srgbClr val="8A8A9A"/>
                </a:solidFill>
              </a:rPr>
              <a:t>EV / (EBITDA +
Synergies)</a:t>
            </a:r>
          </a:p>
        </p:txBody>
      </p:sp>
      <p:sp>
        <p:nvSpPr>
          <p:cNvPr id="30" name="Rectangle 29"/>
          <p:cNvSpPr/>
          <p:nvPr/>
        </p:nvSpPr>
        <p:spPr>
          <a:xfrm>
            <a:off x="320040" y="2606040"/>
            <a:ext cx="5577840" cy="34747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2606040"/>
            <a:ext cx="109728" cy="347472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670048"/>
            <a:ext cx="5303520" cy="347472"/>
          </a:xfrm>
          <a:prstGeom prst="rect">
            <a:avLst/>
          </a:prstGeom>
          <a:noFill/>
        </p:spPr>
        <p:txBody>
          <a:bodyPr wrap="square">
            <a:spAutoFit/>
          </a:bodyPr>
          <a:lstStyle/>
          <a:p>
            <a:pPr algn="l"/>
            <a:r>
              <a:rPr sz="1300" b="1" i="0">
                <a:solidFill>
                  <a:srgbClr val="1A1A2E"/>
                </a:solidFill>
              </a:rPr>
              <a:t>Strategic Rationale</a:t>
            </a:r>
          </a:p>
        </p:txBody>
      </p:sp>
      <p:sp>
        <p:nvSpPr>
          <p:cNvPr id="33" name="TextBox 32"/>
          <p:cNvSpPr txBox="1"/>
          <p:nvPr/>
        </p:nvSpPr>
        <p:spPr>
          <a:xfrm>
            <a:off x="502920" y="3063240"/>
            <a:ext cx="5303520" cy="2907791"/>
          </a:xfrm>
          <a:prstGeom prst="rect">
            <a:avLst/>
          </a:prstGeom>
          <a:noFill/>
        </p:spPr>
        <p:txBody>
          <a:bodyPr wrap="square">
            <a:spAutoFit/>
          </a:bodyPr>
          <a:lstStyle/>
          <a:p>
            <a:pPr algn="l"/>
            <a:r>
              <a:rPr sz="1050" b="0" i="0">
                <a:solidFill>
                  <a:srgbClr val="4A4A5A"/>
                </a:solidFill>
              </a:rPr>
              <a:t>• 100,000+ hours of premium content library (+HBO/DC/Harry Potter IP)
• Accelerates Netflix to 400M+ combined subscriber base
• Max platform ($7.7B DTC revenue, 96M subs) — eliminates #2 competitor
• Warner Bros. studio: exclusive pipeline for theatrical + franchise content
• Megapack of sports rights: March Madness, MLB, NHL through 2028–2032
• Transforms Netflix from SVOD to diversified media &amp; entertainment platform</a:t>
            </a:r>
          </a:p>
        </p:txBody>
      </p:sp>
      <p:sp>
        <p:nvSpPr>
          <p:cNvPr id="34" name="Rectangle 33"/>
          <p:cNvSpPr/>
          <p:nvPr/>
        </p:nvSpPr>
        <p:spPr>
          <a:xfrm>
            <a:off x="6035040" y="2606040"/>
            <a:ext cx="5852160" cy="34747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0" y="2606040"/>
            <a:ext cx="109728" cy="3474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670048"/>
            <a:ext cx="5577840" cy="347472"/>
          </a:xfrm>
          <a:prstGeom prst="rect">
            <a:avLst/>
          </a:prstGeom>
          <a:noFill/>
        </p:spPr>
        <p:txBody>
          <a:bodyPr wrap="square">
            <a:spAutoFit/>
          </a:bodyPr>
          <a:lstStyle/>
          <a:p>
            <a:pPr algn="l"/>
            <a:r>
              <a:rPr sz="1300" b="1" i="0">
                <a:solidFill>
                  <a:srgbClr val="1A1A2E"/>
                </a:solidFill>
              </a:rPr>
              <a:t>Financial Rationale</a:t>
            </a:r>
          </a:p>
        </p:txBody>
      </p:sp>
      <p:sp>
        <p:nvSpPr>
          <p:cNvPr id="37" name="TextBox 36"/>
          <p:cNvSpPr txBox="1"/>
          <p:nvPr/>
        </p:nvSpPr>
        <p:spPr>
          <a:xfrm>
            <a:off x="6217920" y="3063240"/>
            <a:ext cx="5577840" cy="2907791"/>
          </a:xfrm>
          <a:prstGeom prst="rect">
            <a:avLst/>
          </a:prstGeom>
          <a:noFill/>
        </p:spPr>
        <p:txBody>
          <a:bodyPr wrap="square">
            <a:spAutoFit/>
          </a:bodyPr>
          <a:lstStyle/>
          <a:p>
            <a:pPr algn="l"/>
            <a:r>
              <a:rPr sz="1050" b="0" i="0">
                <a:solidFill>
                  <a:srgbClr val="4A4A5A"/>
                </a:solidFill>
              </a:rPr>
              <a:t>• WBD trades at 4.6x EBITDA — distressed pricing due to $39.5B debt load
• Netflix FCF of $6.9B/yr de-levers combined entity from 2.8x to &lt;2.0x by Yr 3
• ~$4.0B annual synergies (NPV ~$38B) on $23.8B equity acquisition cost
• Adds $22B Networks cash flow machine — funds content investment
• EPS accretive within 18–24 months post-close (adj. for synergies)
• Cross-platform monetization: Netflix + Max → single global bundle offering</a:t>
            </a:r>
          </a:p>
        </p:txBody>
      </p:sp>
      <p:sp>
        <p:nvSpPr>
          <p:cNvPr id="38" name="Rectangle 37"/>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Sources: Bloomberg, FactSet, Netflix 10-K FY2024, WBD 10-K FY2024. Market data as of May 2025. Synergy estimates are Financial Advisor projections. This analysis is for discussion purposes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Why Now? — Strategic Context</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A Once-in-a-Generation Opportunity to Consolidate Streaming Leadership</a:t>
            </a:r>
          </a:p>
        </p:txBody>
      </p:sp>
      <p:sp>
        <p:nvSpPr>
          <p:cNvPr id="6" name="Rectangle 5"/>
          <p:cNvSpPr/>
          <p:nvPr/>
        </p:nvSpPr>
        <p:spPr>
          <a:xfrm>
            <a:off x="320040" y="1207008"/>
            <a:ext cx="5623560" cy="171907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07008"/>
            <a:ext cx="5623560"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71016"/>
            <a:ext cx="5349240" cy="274320"/>
          </a:xfrm>
          <a:prstGeom prst="rect">
            <a:avLst/>
          </a:prstGeom>
          <a:noFill/>
        </p:spPr>
        <p:txBody>
          <a:bodyPr wrap="square">
            <a:spAutoFit/>
          </a:bodyPr>
          <a:lstStyle/>
          <a:p>
            <a:pPr algn="l"/>
            <a:r>
              <a:rPr sz="1200" b="1" i="0">
                <a:solidFill>
                  <a:srgbClr val="FFFFFF"/>
                </a:solidFill>
              </a:rPr>
              <a:t>WBD at an Inflection Point</a:t>
            </a:r>
          </a:p>
        </p:txBody>
      </p:sp>
      <p:sp>
        <p:nvSpPr>
          <p:cNvPr id="9" name="TextBox 8"/>
          <p:cNvSpPr txBox="1"/>
          <p:nvPr/>
        </p:nvSpPr>
        <p:spPr>
          <a:xfrm>
            <a:off x="457200" y="1664208"/>
            <a:ext cx="5394960" cy="1188720"/>
          </a:xfrm>
          <a:prstGeom prst="rect">
            <a:avLst/>
          </a:prstGeom>
          <a:noFill/>
        </p:spPr>
        <p:txBody>
          <a:bodyPr wrap="square">
            <a:spAutoFit/>
          </a:bodyPr>
          <a:lstStyle/>
          <a:p>
            <a:pPr algn="l"/>
            <a:r>
              <a:rPr sz="1000" b="0" i="0">
                <a:solidFill>
                  <a:srgbClr val="1A1A2E"/>
                </a:solidFill>
              </a:rPr>
              <a:t>• WBD shares down 80%+ since AT&amp;T spinoff (Apr 2022)
• $39.5B debt burden constrains content investment
• Bond covenant pressure limits strategic flexibility
• Management exploring strategic alternatives (public since Feb 2025)</a:t>
            </a:r>
          </a:p>
        </p:txBody>
      </p:sp>
      <p:sp>
        <p:nvSpPr>
          <p:cNvPr id="10" name="Rectangle 9"/>
          <p:cNvSpPr/>
          <p:nvPr/>
        </p:nvSpPr>
        <p:spPr>
          <a:xfrm>
            <a:off x="6263640" y="1207008"/>
            <a:ext cx="5623560" cy="171907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07008"/>
            <a:ext cx="5623560" cy="384048"/>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71016"/>
            <a:ext cx="5349240" cy="274320"/>
          </a:xfrm>
          <a:prstGeom prst="rect">
            <a:avLst/>
          </a:prstGeom>
          <a:noFill/>
        </p:spPr>
        <p:txBody>
          <a:bodyPr wrap="square">
            <a:spAutoFit/>
          </a:bodyPr>
          <a:lstStyle/>
          <a:p>
            <a:pPr algn="l"/>
            <a:r>
              <a:rPr sz="1200" b="1" i="0">
                <a:solidFill>
                  <a:srgbClr val="FFFFFF"/>
                </a:solidFill>
              </a:rPr>
              <a:t>Cord-Cutting Accelerating</a:t>
            </a:r>
          </a:p>
        </p:txBody>
      </p:sp>
      <p:sp>
        <p:nvSpPr>
          <p:cNvPr id="13" name="TextBox 12"/>
          <p:cNvSpPr txBox="1"/>
          <p:nvPr/>
        </p:nvSpPr>
        <p:spPr>
          <a:xfrm>
            <a:off x="6400800" y="1664208"/>
            <a:ext cx="5394960" cy="1188720"/>
          </a:xfrm>
          <a:prstGeom prst="rect">
            <a:avLst/>
          </a:prstGeom>
          <a:noFill/>
        </p:spPr>
        <p:txBody>
          <a:bodyPr wrap="square">
            <a:spAutoFit/>
          </a:bodyPr>
          <a:lstStyle/>
          <a:p>
            <a:pPr algn="l"/>
            <a:r>
              <a:rPr sz="1000" b="0" i="0">
                <a:solidFill>
                  <a:srgbClr val="1A1A2E"/>
                </a:solidFill>
              </a:rPr>
              <a:t>• Linear TV households declined 8% YoY (2024)
• Networks EBITDA declined 12% in FY2024
• WBD's cash-cow Networks segment (TNT/CNN/TBS) under structural pressure
• Buyers' market for linear assets — act before further erosion</a:t>
            </a:r>
          </a:p>
        </p:txBody>
      </p:sp>
      <p:sp>
        <p:nvSpPr>
          <p:cNvPr id="14" name="Rectangle 13"/>
          <p:cNvSpPr/>
          <p:nvPr/>
        </p:nvSpPr>
        <p:spPr>
          <a:xfrm>
            <a:off x="320040" y="3035808"/>
            <a:ext cx="5623560" cy="171907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035808"/>
            <a:ext cx="5623560" cy="38404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99816"/>
            <a:ext cx="5349240" cy="274320"/>
          </a:xfrm>
          <a:prstGeom prst="rect">
            <a:avLst/>
          </a:prstGeom>
          <a:noFill/>
        </p:spPr>
        <p:txBody>
          <a:bodyPr wrap="square">
            <a:spAutoFit/>
          </a:bodyPr>
          <a:lstStyle/>
          <a:p>
            <a:pPr algn="l"/>
            <a:r>
              <a:rPr sz="1200" b="1" i="0">
                <a:solidFill>
                  <a:srgbClr val="FFFFFF"/>
                </a:solidFill>
              </a:rPr>
              <a:t>Streaming Consolidation Wave</a:t>
            </a:r>
          </a:p>
        </p:txBody>
      </p:sp>
      <p:sp>
        <p:nvSpPr>
          <p:cNvPr id="17" name="TextBox 16"/>
          <p:cNvSpPr txBox="1"/>
          <p:nvPr/>
        </p:nvSpPr>
        <p:spPr>
          <a:xfrm>
            <a:off x="457200" y="3493008"/>
            <a:ext cx="5394960" cy="1188720"/>
          </a:xfrm>
          <a:prstGeom prst="rect">
            <a:avLst/>
          </a:prstGeom>
          <a:noFill/>
        </p:spPr>
        <p:txBody>
          <a:bodyPr wrap="square">
            <a:spAutoFit/>
          </a:bodyPr>
          <a:lstStyle/>
          <a:p>
            <a:pPr algn="l"/>
            <a:r>
              <a:rPr sz="1000" b="0" i="0">
                <a:solidFill>
                  <a:srgbClr val="1A1A2E"/>
                </a:solidFill>
              </a:rPr>
              <a:t>• Paramount + Skydance closed July 2024
• Comcast spinning NBCU cable assets (announced Jan 2025)
• Scale advantages compounding — top 2 players capture 65%+ of growth
• Window to acquire WBD at distressed price is closing</a:t>
            </a:r>
          </a:p>
        </p:txBody>
      </p:sp>
      <p:sp>
        <p:nvSpPr>
          <p:cNvPr id="18" name="Rectangle 17"/>
          <p:cNvSpPr/>
          <p:nvPr/>
        </p:nvSpPr>
        <p:spPr>
          <a:xfrm>
            <a:off x="6263640" y="3035808"/>
            <a:ext cx="5623560" cy="171907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035808"/>
            <a:ext cx="5623560" cy="384048"/>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099816"/>
            <a:ext cx="5349240" cy="274320"/>
          </a:xfrm>
          <a:prstGeom prst="rect">
            <a:avLst/>
          </a:prstGeom>
          <a:noFill/>
        </p:spPr>
        <p:txBody>
          <a:bodyPr wrap="square">
            <a:spAutoFit/>
          </a:bodyPr>
          <a:lstStyle/>
          <a:p>
            <a:pPr algn="l"/>
            <a:r>
              <a:rPr sz="1200" b="1" i="0">
                <a:solidFill>
                  <a:srgbClr val="FFFFFF"/>
                </a:solidFill>
              </a:rPr>
              <a:t>Content Moats Are Critical</a:t>
            </a:r>
          </a:p>
        </p:txBody>
      </p:sp>
      <p:sp>
        <p:nvSpPr>
          <p:cNvPr id="21" name="TextBox 20"/>
          <p:cNvSpPr txBox="1"/>
          <p:nvPr/>
        </p:nvSpPr>
        <p:spPr>
          <a:xfrm>
            <a:off x="6400800" y="3493008"/>
            <a:ext cx="5394960" cy="1188720"/>
          </a:xfrm>
          <a:prstGeom prst="rect">
            <a:avLst/>
          </a:prstGeom>
          <a:noFill/>
        </p:spPr>
        <p:txBody>
          <a:bodyPr wrap="square">
            <a:spAutoFit/>
          </a:bodyPr>
          <a:lstStyle/>
          <a:p>
            <a:pPr algn="l"/>
            <a:r>
              <a:rPr sz="1000" b="0" i="0">
                <a:solidFill>
                  <a:srgbClr val="1A1A2E"/>
                </a:solidFill>
              </a:rPr>
              <a:t>• Netflix content spend $17B/yr — WBD adds 100K hrs for marginal cost
• DC Films franchise reboot under James Gunn — massive IP upside
• Harry Potter TV series + Rings of Power cross-IP opportunity
• HBO prestige brand = most awarded TV content in history</a:t>
            </a:r>
          </a:p>
        </p:txBody>
      </p:sp>
      <p:sp>
        <p:nvSpPr>
          <p:cNvPr id="22" name="Rectangle 21"/>
          <p:cNvSpPr/>
          <p:nvPr/>
        </p:nvSpPr>
        <p:spPr>
          <a:xfrm>
            <a:off x="320040" y="4864608"/>
            <a:ext cx="5623560" cy="171907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4864608"/>
            <a:ext cx="5623560" cy="384048"/>
          </a:xfrm>
          <a:prstGeom prst="rect">
            <a:avLst/>
          </a:prstGeom>
          <a:solidFill>
            <a:srgbClr val="FF9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928616"/>
            <a:ext cx="5349240" cy="274320"/>
          </a:xfrm>
          <a:prstGeom prst="rect">
            <a:avLst/>
          </a:prstGeom>
          <a:noFill/>
        </p:spPr>
        <p:txBody>
          <a:bodyPr wrap="square">
            <a:spAutoFit/>
          </a:bodyPr>
          <a:lstStyle/>
          <a:p>
            <a:pPr algn="l"/>
            <a:r>
              <a:rPr sz="1200" b="1" i="0">
                <a:solidFill>
                  <a:srgbClr val="FFFFFF"/>
                </a:solidFill>
              </a:rPr>
              <a:t>Regulatory Environment Favorable</a:t>
            </a:r>
          </a:p>
        </p:txBody>
      </p:sp>
      <p:sp>
        <p:nvSpPr>
          <p:cNvPr id="25" name="TextBox 24"/>
          <p:cNvSpPr txBox="1"/>
          <p:nvPr/>
        </p:nvSpPr>
        <p:spPr>
          <a:xfrm>
            <a:off x="457200" y="5321808"/>
            <a:ext cx="5394960" cy="1188720"/>
          </a:xfrm>
          <a:prstGeom prst="rect">
            <a:avLst/>
          </a:prstGeom>
          <a:noFill/>
        </p:spPr>
        <p:txBody>
          <a:bodyPr wrap="square">
            <a:spAutoFit/>
          </a:bodyPr>
          <a:lstStyle/>
          <a:p>
            <a:pPr algn="l"/>
            <a:r>
              <a:rPr sz="1000" b="0" i="0">
                <a:solidFill>
                  <a:srgbClr val="1A1A2E"/>
                </a:solidFill>
              </a:rPr>
              <a:t>• Biden-era DOJ media scrutiny easing under new administration
• No overlapping broadcast licenses — no FCC issue
• Horizontal streaming deal (no vertical integration concerns)
• EU precedent: Disney/Fox approved with limited remedies</a:t>
            </a:r>
          </a:p>
        </p:txBody>
      </p:sp>
      <p:sp>
        <p:nvSpPr>
          <p:cNvPr id="26" name="Rectangle 25"/>
          <p:cNvSpPr/>
          <p:nvPr/>
        </p:nvSpPr>
        <p:spPr>
          <a:xfrm>
            <a:off x="6263640" y="4864608"/>
            <a:ext cx="5623560" cy="171907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4864608"/>
            <a:ext cx="5623560" cy="384048"/>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928616"/>
            <a:ext cx="5349240" cy="274320"/>
          </a:xfrm>
          <a:prstGeom prst="rect">
            <a:avLst/>
          </a:prstGeom>
          <a:noFill/>
        </p:spPr>
        <p:txBody>
          <a:bodyPr wrap="square">
            <a:spAutoFit/>
          </a:bodyPr>
          <a:lstStyle/>
          <a:p>
            <a:pPr algn="l"/>
            <a:r>
              <a:rPr sz="1200" b="1" i="0">
                <a:solidFill>
                  <a:srgbClr val="FFFFFF"/>
                </a:solidFill>
              </a:rPr>
              <a:t>Netflix at Strategic Crossroads</a:t>
            </a:r>
          </a:p>
        </p:txBody>
      </p:sp>
      <p:sp>
        <p:nvSpPr>
          <p:cNvPr id="29" name="TextBox 28"/>
          <p:cNvSpPr txBox="1"/>
          <p:nvPr/>
        </p:nvSpPr>
        <p:spPr>
          <a:xfrm>
            <a:off x="6400800" y="5321808"/>
            <a:ext cx="5394960" cy="1188720"/>
          </a:xfrm>
          <a:prstGeom prst="rect">
            <a:avLst/>
          </a:prstGeom>
          <a:noFill/>
        </p:spPr>
        <p:txBody>
          <a:bodyPr wrap="square">
            <a:spAutoFit/>
          </a:bodyPr>
          <a:lstStyle/>
          <a:p>
            <a:pPr algn="l"/>
            <a:r>
              <a:rPr sz="1000" b="0" i="0">
                <a:solidFill>
                  <a:srgbClr val="1A1A2E"/>
                </a:solidFill>
              </a:rPr>
              <a:t>• Subscriber growth slowing (from +22M Yr to +8M as base matures)
• Ad-supported tier growing but needs more content variety
• Live events (NFL, Boxing) showing engagement power — need sports portfolio
• $6.9B FCF with limited organic investment opportunities at this scale</a:t>
            </a:r>
          </a:p>
        </p:txBody>
      </p:sp>
      <p:sp>
        <p:nvSpPr>
          <p:cNvPr id="30" name="Rectangle 29"/>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Sources: Bloomberg, FactSet, Nielsen, WBD/Netflix public filings. Linear TV household data: Nielsen Media Research Q4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Netflix, Inc. (NFLX) — Company Overview</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Global Streaming Leader with $380B Market Cap and $6.9B Annual FCF</a:t>
            </a:r>
          </a:p>
        </p:txBody>
      </p:sp>
      <p:sp>
        <p:nvSpPr>
          <p:cNvPr id="6" name="Rectangle 5"/>
          <p:cNvSpPr/>
          <p:nvPr/>
        </p:nvSpPr>
        <p:spPr>
          <a:xfrm>
            <a:off x="320040"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2386584"/>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71600"/>
            <a:ext cx="1828800" cy="658368"/>
          </a:xfrm>
          <a:prstGeom prst="rect">
            <a:avLst/>
          </a:prstGeom>
          <a:noFill/>
        </p:spPr>
        <p:txBody>
          <a:bodyPr wrap="square">
            <a:spAutoFit/>
          </a:bodyPr>
          <a:lstStyle/>
          <a:p>
            <a:pPr algn="ctr"/>
            <a:r>
              <a:rPr sz="2400" b="1" i="0">
                <a:solidFill>
                  <a:srgbClr val="E50914"/>
                </a:solidFill>
              </a:rPr>
              <a:t>$380B</a:t>
            </a:r>
          </a:p>
        </p:txBody>
      </p:sp>
      <p:sp>
        <p:nvSpPr>
          <p:cNvPr id="9" name="TextBox 8"/>
          <p:cNvSpPr txBox="1"/>
          <p:nvPr/>
        </p:nvSpPr>
        <p:spPr>
          <a:xfrm>
            <a:off x="320040" y="2029968"/>
            <a:ext cx="1828800" cy="384048"/>
          </a:xfrm>
          <a:prstGeom prst="rect">
            <a:avLst/>
          </a:prstGeom>
          <a:noFill/>
        </p:spPr>
        <p:txBody>
          <a:bodyPr wrap="square">
            <a:spAutoFit/>
          </a:bodyPr>
          <a:lstStyle/>
          <a:p>
            <a:pPr algn="ctr"/>
            <a:r>
              <a:rPr sz="1000" b="0" i="0">
                <a:solidFill>
                  <a:srgbClr val="8A8A9A"/>
                </a:solidFill>
              </a:rPr>
              <a:t>Market Cap
(May 2025)</a:t>
            </a:r>
          </a:p>
        </p:txBody>
      </p:sp>
      <p:sp>
        <p:nvSpPr>
          <p:cNvPr id="10" name="Rectangle 9"/>
          <p:cNvSpPr/>
          <p:nvPr/>
        </p:nvSpPr>
        <p:spPr>
          <a:xfrm>
            <a:off x="2258568"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58568" y="2386584"/>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1371600"/>
            <a:ext cx="1828800" cy="658368"/>
          </a:xfrm>
          <a:prstGeom prst="rect">
            <a:avLst/>
          </a:prstGeom>
          <a:noFill/>
        </p:spPr>
        <p:txBody>
          <a:bodyPr wrap="square">
            <a:spAutoFit/>
          </a:bodyPr>
          <a:lstStyle/>
          <a:p>
            <a:pPr algn="ctr"/>
            <a:r>
              <a:rPr sz="2400" b="1" i="0">
                <a:solidFill>
                  <a:srgbClr val="E50914"/>
                </a:solidFill>
              </a:rPr>
              <a:t>$387B</a:t>
            </a:r>
          </a:p>
        </p:txBody>
      </p:sp>
      <p:sp>
        <p:nvSpPr>
          <p:cNvPr id="13" name="TextBox 12"/>
          <p:cNvSpPr txBox="1"/>
          <p:nvPr/>
        </p:nvSpPr>
        <p:spPr>
          <a:xfrm>
            <a:off x="2258568" y="2029968"/>
            <a:ext cx="1828800" cy="384048"/>
          </a:xfrm>
          <a:prstGeom prst="rect">
            <a:avLst/>
          </a:prstGeom>
          <a:noFill/>
        </p:spPr>
        <p:txBody>
          <a:bodyPr wrap="square">
            <a:spAutoFit/>
          </a:bodyPr>
          <a:lstStyle/>
          <a:p>
            <a:pPr algn="ctr"/>
            <a:r>
              <a:rPr sz="1000" b="0" i="0">
                <a:solidFill>
                  <a:srgbClr val="8A8A9A"/>
                </a:solidFill>
              </a:rPr>
              <a:t>Enterprise
Value</a:t>
            </a:r>
          </a:p>
        </p:txBody>
      </p:sp>
      <p:sp>
        <p:nvSpPr>
          <p:cNvPr id="14" name="Rectangle 13"/>
          <p:cNvSpPr/>
          <p:nvPr/>
        </p:nvSpPr>
        <p:spPr>
          <a:xfrm>
            <a:off x="4197096"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2386584"/>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97096" y="1371600"/>
            <a:ext cx="1828800" cy="658368"/>
          </a:xfrm>
          <a:prstGeom prst="rect">
            <a:avLst/>
          </a:prstGeom>
          <a:noFill/>
        </p:spPr>
        <p:txBody>
          <a:bodyPr wrap="square">
            <a:spAutoFit/>
          </a:bodyPr>
          <a:lstStyle/>
          <a:p>
            <a:pPr algn="ctr"/>
            <a:r>
              <a:rPr sz="2400" b="1" i="0">
                <a:solidFill>
                  <a:srgbClr val="E50914"/>
                </a:solidFill>
              </a:rPr>
              <a:t>301M</a:t>
            </a:r>
          </a:p>
        </p:txBody>
      </p:sp>
      <p:sp>
        <p:nvSpPr>
          <p:cNvPr id="17" name="TextBox 16"/>
          <p:cNvSpPr txBox="1"/>
          <p:nvPr/>
        </p:nvSpPr>
        <p:spPr>
          <a:xfrm>
            <a:off x="4197096" y="2029968"/>
            <a:ext cx="1828800" cy="384048"/>
          </a:xfrm>
          <a:prstGeom prst="rect">
            <a:avLst/>
          </a:prstGeom>
          <a:noFill/>
        </p:spPr>
        <p:txBody>
          <a:bodyPr wrap="square">
            <a:spAutoFit/>
          </a:bodyPr>
          <a:lstStyle/>
          <a:p>
            <a:pPr algn="ctr"/>
            <a:r>
              <a:rPr sz="1000" b="0" i="0">
                <a:solidFill>
                  <a:srgbClr val="8A8A9A"/>
                </a:solidFill>
              </a:rPr>
              <a:t>Paid Subscribers
(Q1 2025)</a:t>
            </a:r>
          </a:p>
        </p:txBody>
      </p:sp>
      <p:sp>
        <p:nvSpPr>
          <p:cNvPr id="18" name="Rectangle 17"/>
          <p:cNvSpPr/>
          <p:nvPr/>
        </p:nvSpPr>
        <p:spPr>
          <a:xfrm>
            <a:off x="6135624"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2386584"/>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371600"/>
            <a:ext cx="1828800" cy="658368"/>
          </a:xfrm>
          <a:prstGeom prst="rect">
            <a:avLst/>
          </a:prstGeom>
          <a:noFill/>
        </p:spPr>
        <p:txBody>
          <a:bodyPr wrap="square">
            <a:spAutoFit/>
          </a:bodyPr>
          <a:lstStyle/>
          <a:p>
            <a:pPr algn="ctr"/>
            <a:r>
              <a:rPr sz="2400" b="1" i="0">
                <a:solidFill>
                  <a:srgbClr val="E50914"/>
                </a:solidFill>
              </a:rPr>
              <a:t>$39.0B</a:t>
            </a:r>
          </a:p>
        </p:txBody>
      </p:sp>
      <p:sp>
        <p:nvSpPr>
          <p:cNvPr id="21" name="TextBox 20"/>
          <p:cNvSpPr txBox="1"/>
          <p:nvPr/>
        </p:nvSpPr>
        <p:spPr>
          <a:xfrm>
            <a:off x="6135624" y="2029968"/>
            <a:ext cx="1828800" cy="384048"/>
          </a:xfrm>
          <a:prstGeom prst="rect">
            <a:avLst/>
          </a:prstGeom>
          <a:noFill/>
        </p:spPr>
        <p:txBody>
          <a:bodyPr wrap="square">
            <a:spAutoFit/>
          </a:bodyPr>
          <a:lstStyle/>
          <a:p>
            <a:pPr algn="ctr"/>
            <a:r>
              <a:rPr sz="1000" b="0" i="0">
                <a:solidFill>
                  <a:srgbClr val="8A8A9A"/>
                </a:solidFill>
              </a:rPr>
              <a:t>FY2024
Revenue</a:t>
            </a:r>
          </a:p>
        </p:txBody>
      </p:sp>
      <p:sp>
        <p:nvSpPr>
          <p:cNvPr id="22" name="Rectangle 21"/>
          <p:cNvSpPr/>
          <p:nvPr/>
        </p:nvSpPr>
        <p:spPr>
          <a:xfrm>
            <a:off x="8074152"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386584"/>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1371600"/>
            <a:ext cx="1828800" cy="658368"/>
          </a:xfrm>
          <a:prstGeom prst="rect">
            <a:avLst/>
          </a:prstGeom>
          <a:noFill/>
        </p:spPr>
        <p:txBody>
          <a:bodyPr wrap="square">
            <a:spAutoFit/>
          </a:bodyPr>
          <a:lstStyle/>
          <a:p>
            <a:pPr algn="ctr"/>
            <a:r>
              <a:rPr sz="2400" b="1" i="0">
                <a:solidFill>
                  <a:srgbClr val="E50914"/>
                </a:solidFill>
              </a:rPr>
              <a:t>$10.4B</a:t>
            </a:r>
          </a:p>
        </p:txBody>
      </p:sp>
      <p:sp>
        <p:nvSpPr>
          <p:cNvPr id="25" name="TextBox 24"/>
          <p:cNvSpPr txBox="1"/>
          <p:nvPr/>
        </p:nvSpPr>
        <p:spPr>
          <a:xfrm>
            <a:off x="8074152" y="2029968"/>
            <a:ext cx="1828800" cy="384048"/>
          </a:xfrm>
          <a:prstGeom prst="rect">
            <a:avLst/>
          </a:prstGeom>
          <a:noFill/>
        </p:spPr>
        <p:txBody>
          <a:bodyPr wrap="square">
            <a:spAutoFit/>
          </a:bodyPr>
          <a:lstStyle/>
          <a:p>
            <a:pPr algn="ctr"/>
            <a:r>
              <a:rPr sz="1000" b="0" i="0">
                <a:solidFill>
                  <a:srgbClr val="8A8A9A"/>
                </a:solidFill>
              </a:rPr>
              <a:t>FY2024 Adj.
EBITDA</a:t>
            </a:r>
          </a:p>
        </p:txBody>
      </p:sp>
      <p:sp>
        <p:nvSpPr>
          <p:cNvPr id="26" name="Rectangle 25"/>
          <p:cNvSpPr/>
          <p:nvPr/>
        </p:nvSpPr>
        <p:spPr>
          <a:xfrm>
            <a:off x="10012680"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12680" y="2386584"/>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1371600"/>
            <a:ext cx="1828800" cy="658368"/>
          </a:xfrm>
          <a:prstGeom prst="rect">
            <a:avLst/>
          </a:prstGeom>
          <a:noFill/>
        </p:spPr>
        <p:txBody>
          <a:bodyPr wrap="square">
            <a:spAutoFit/>
          </a:bodyPr>
          <a:lstStyle/>
          <a:p>
            <a:pPr algn="ctr"/>
            <a:r>
              <a:rPr sz="2400" b="1" i="0">
                <a:solidFill>
                  <a:srgbClr val="E50914"/>
                </a:solidFill>
              </a:rPr>
              <a:t>$6.9B</a:t>
            </a:r>
          </a:p>
        </p:txBody>
      </p:sp>
      <p:sp>
        <p:nvSpPr>
          <p:cNvPr id="29" name="TextBox 28"/>
          <p:cNvSpPr txBox="1"/>
          <p:nvPr/>
        </p:nvSpPr>
        <p:spPr>
          <a:xfrm>
            <a:off x="10012680" y="2029968"/>
            <a:ext cx="1828800" cy="384048"/>
          </a:xfrm>
          <a:prstGeom prst="rect">
            <a:avLst/>
          </a:prstGeom>
          <a:noFill/>
        </p:spPr>
        <p:txBody>
          <a:bodyPr wrap="square">
            <a:spAutoFit/>
          </a:bodyPr>
          <a:lstStyle/>
          <a:p>
            <a:pPr algn="ctr"/>
            <a:r>
              <a:rPr sz="1000" b="0" i="0">
                <a:solidFill>
                  <a:srgbClr val="8A8A9A"/>
                </a:solidFill>
              </a:rPr>
              <a:t>FY2024
Free Cash Flow</a:t>
            </a:r>
          </a:p>
        </p:txBody>
      </p:sp>
      <p:sp>
        <p:nvSpPr>
          <p:cNvPr id="30" name="TextBox 29"/>
          <p:cNvSpPr txBox="1"/>
          <p:nvPr/>
        </p:nvSpPr>
        <p:spPr>
          <a:xfrm>
            <a:off x="320040" y="2624328"/>
            <a:ext cx="7772400" cy="347472"/>
          </a:xfrm>
          <a:prstGeom prst="rect">
            <a:avLst/>
          </a:prstGeom>
          <a:noFill/>
        </p:spPr>
        <p:txBody>
          <a:bodyPr wrap="square">
            <a:spAutoFit/>
          </a:bodyPr>
          <a:lstStyle/>
          <a:p>
            <a:pPr algn="l"/>
            <a:r>
              <a:rPr sz="1200" b="1" i="0">
                <a:solidFill>
                  <a:srgbClr val="1A1A2E"/>
                </a:solidFill>
              </a:rPr>
              <a:t>Key Financial Metrics ($B unless noted)</a:t>
            </a:r>
          </a:p>
        </p:txBody>
      </p:sp>
      <p:graphicFrame>
        <p:nvGraphicFramePr>
          <p:cNvPr id="31" name="Table 30"/>
          <p:cNvGraphicFramePr>
            <a:graphicFrameLocks noGrp="1"/>
          </p:cNvGraphicFramePr>
          <p:nvPr/>
        </p:nvGraphicFramePr>
        <p:xfrm>
          <a:off x="320040" y="2999232"/>
          <a:ext cx="7543800" cy="2633472"/>
        </p:xfrm>
        <a:graphic>
          <a:graphicData uri="http://schemas.openxmlformats.org/drawingml/2006/table">
            <a:tbl>
              <a:tblPr firstRow="1" bandRow="1">
                <a:tableStyleId>{5C22544A-7EE6-4342-B048-85BDC9FD1C3A}</a:tableStyleId>
              </a:tblPr>
              <a:tblGrid>
                <a:gridCol w="1257300"/>
                <a:gridCol w="1257300"/>
                <a:gridCol w="1257300"/>
                <a:gridCol w="1257300"/>
                <a:gridCol w="1257300"/>
                <a:gridCol w="1257300"/>
              </a:tblGrid>
              <a:tr h="376210">
                <a:tc>
                  <a:txBody>
                    <a:bodyPr wrap="square"/>
                    <a:lstStyle/>
                    <a:p>
                      <a:pPr algn="ctr"/>
                      <a:r>
                        <a:rPr sz="950" b="1" i="0">
                          <a:solidFill>
                            <a:srgbClr val="FFFFFF"/>
                          </a:solidFill>
                        </a:rPr>
                        <a:t>Metric</a:t>
                      </a:r>
                    </a:p>
                  </a:txBody>
                  <a:tcPr>
                    <a:solidFill>
                      <a:srgbClr val="0F2044"/>
                    </a:solidFill>
                  </a:tcPr>
                </a:tc>
                <a:tc>
                  <a:txBody>
                    <a:bodyPr wrap="square"/>
                    <a:lstStyle/>
                    <a:p>
                      <a:pPr algn="ctr"/>
                      <a:r>
                        <a:rPr sz="950" b="1" i="0">
                          <a:solidFill>
                            <a:srgbClr val="FFFFFF"/>
                          </a:solidFill>
                        </a:rPr>
                        <a:t>FY2022A</a:t>
                      </a:r>
                    </a:p>
                  </a:txBody>
                  <a:tcPr>
                    <a:solidFill>
                      <a:srgbClr val="0F2044"/>
                    </a:solidFill>
                  </a:tcPr>
                </a:tc>
                <a:tc>
                  <a:txBody>
                    <a:bodyPr wrap="square"/>
                    <a:lstStyle/>
                    <a:p>
                      <a:pPr algn="ctr"/>
                      <a:r>
                        <a:rPr sz="950" b="1" i="0">
                          <a:solidFill>
                            <a:srgbClr val="FFFFFF"/>
                          </a:solidFill>
                        </a:rPr>
                        <a:t>FY2023A</a:t>
                      </a:r>
                    </a:p>
                  </a:txBody>
                  <a:tcPr>
                    <a:solidFill>
                      <a:srgbClr val="0F2044"/>
                    </a:solidFill>
                  </a:tcPr>
                </a:tc>
                <a:tc>
                  <a:txBody>
                    <a:bodyPr wrap="square"/>
                    <a:lstStyle/>
                    <a:p>
                      <a:pPr algn="ctr"/>
                      <a:r>
                        <a:rPr sz="950" b="1" i="0">
                          <a:solidFill>
                            <a:srgbClr val="FFFFFF"/>
                          </a:solidFill>
                        </a:rPr>
                        <a:t>FY2024A</a:t>
                      </a:r>
                    </a:p>
                  </a:txBody>
                  <a:tcPr>
                    <a:solidFill>
                      <a:srgbClr val="0F2044"/>
                    </a:solidFill>
                  </a:tcPr>
                </a:tc>
                <a:tc>
                  <a:txBody>
                    <a:bodyPr wrap="square"/>
                    <a:lstStyle/>
                    <a:p>
                      <a:pPr algn="ctr"/>
                      <a:r>
                        <a:rPr sz="950" b="1" i="0">
                          <a:solidFill>
                            <a:srgbClr val="FFFFFF"/>
                          </a:solidFill>
                        </a:rPr>
                        <a:t>FY2025E</a:t>
                      </a:r>
                    </a:p>
                  </a:txBody>
                  <a:tcPr>
                    <a:solidFill>
                      <a:srgbClr val="0F2044"/>
                    </a:solidFill>
                  </a:tcPr>
                </a:tc>
                <a:tc>
                  <a:txBody>
                    <a:bodyPr wrap="square"/>
                    <a:lstStyle/>
                    <a:p>
                      <a:pPr algn="ctr"/>
                      <a:r>
                        <a:rPr sz="950" b="1" i="0">
                          <a:solidFill>
                            <a:srgbClr val="FFFFFF"/>
                          </a:solidFill>
                        </a:rPr>
                        <a:t>FY2026E</a:t>
                      </a:r>
                    </a:p>
                  </a:txBody>
                  <a:tcPr>
                    <a:solidFill>
                      <a:srgbClr val="0F2044"/>
                    </a:solidFill>
                  </a:tcPr>
                </a:tc>
              </a:tr>
              <a:tr h="376210">
                <a:tc>
                  <a:txBody>
                    <a:bodyPr wrap="square"/>
                    <a:lstStyle/>
                    <a:p>
                      <a:pPr algn="l"/>
                      <a:r>
                        <a:rPr sz="950" b="1" i="0">
                          <a:solidFill>
                            <a:srgbClr val="1A1A2E"/>
                          </a:solidFill>
                        </a:rPr>
                        <a:t>Revenue ($B)</a:t>
                      </a:r>
                    </a:p>
                  </a:txBody>
                  <a:tcPr>
                    <a:solidFill>
                      <a:srgbClr val="EAF0FB"/>
                    </a:solidFill>
                  </a:tcPr>
                </a:tc>
                <a:tc>
                  <a:txBody>
                    <a:bodyPr wrap="square"/>
                    <a:lstStyle/>
                    <a:p>
                      <a:pPr algn="r"/>
                      <a:r>
                        <a:rPr sz="950" b="0" i="0">
                          <a:solidFill>
                            <a:srgbClr val="1A1A2E"/>
                          </a:solidFill>
                        </a:rPr>
                        <a:t>$31.6</a:t>
                      </a:r>
                    </a:p>
                  </a:txBody>
                  <a:tcPr>
                    <a:solidFill>
                      <a:srgbClr val="EAF0FB"/>
                    </a:solidFill>
                  </a:tcPr>
                </a:tc>
                <a:tc>
                  <a:txBody>
                    <a:bodyPr wrap="square"/>
                    <a:lstStyle/>
                    <a:p>
                      <a:pPr algn="r"/>
                      <a:r>
                        <a:rPr sz="950" b="0" i="0">
                          <a:solidFill>
                            <a:srgbClr val="1A1A2E"/>
                          </a:solidFill>
                        </a:rPr>
                        <a:t>$33.7</a:t>
                      </a:r>
                    </a:p>
                  </a:txBody>
                  <a:tcPr>
                    <a:solidFill>
                      <a:srgbClr val="EAF0FB"/>
                    </a:solidFill>
                  </a:tcPr>
                </a:tc>
                <a:tc>
                  <a:txBody>
                    <a:bodyPr wrap="square"/>
                    <a:lstStyle/>
                    <a:p>
                      <a:pPr algn="r"/>
                      <a:r>
                        <a:rPr sz="950" b="0" i="0">
                          <a:solidFill>
                            <a:srgbClr val="1A1A2E"/>
                          </a:solidFill>
                        </a:rPr>
                        <a:t>$39.0</a:t>
                      </a:r>
                    </a:p>
                  </a:txBody>
                  <a:tcPr>
                    <a:solidFill>
                      <a:srgbClr val="EAF0FB"/>
                    </a:solidFill>
                  </a:tcPr>
                </a:tc>
                <a:tc>
                  <a:txBody>
                    <a:bodyPr wrap="square"/>
                    <a:lstStyle/>
                    <a:p>
                      <a:pPr algn="r"/>
                      <a:r>
                        <a:rPr sz="950" b="0" i="0">
                          <a:solidFill>
                            <a:srgbClr val="1A1A2E"/>
                          </a:solidFill>
                        </a:rPr>
                        <a:t>$43.5</a:t>
                      </a:r>
                    </a:p>
                  </a:txBody>
                  <a:tcPr>
                    <a:solidFill>
                      <a:srgbClr val="EAF0FB"/>
                    </a:solidFill>
                  </a:tcPr>
                </a:tc>
                <a:tc>
                  <a:txBody>
                    <a:bodyPr wrap="square"/>
                    <a:lstStyle/>
                    <a:p>
                      <a:pPr algn="r"/>
                      <a:r>
                        <a:rPr sz="950" b="0" i="0">
                          <a:solidFill>
                            <a:srgbClr val="1A1A2E"/>
                          </a:solidFill>
                        </a:rPr>
                        <a:t>$48.2</a:t>
                      </a:r>
                    </a:p>
                  </a:txBody>
                  <a:tcPr>
                    <a:solidFill>
                      <a:srgbClr val="EAF0FB"/>
                    </a:solidFill>
                  </a:tcPr>
                </a:tc>
              </a:tr>
              <a:tr h="376210">
                <a:tc>
                  <a:txBody>
                    <a:bodyPr wrap="square"/>
                    <a:lstStyle/>
                    <a:p>
                      <a:pPr algn="l"/>
                      <a:r>
                        <a:rPr sz="950" b="1" i="0">
                          <a:solidFill>
                            <a:srgbClr val="1A1A2E"/>
                          </a:solidFill>
                        </a:rPr>
                        <a:t>Revenue Growth</a:t>
                      </a:r>
                    </a:p>
                  </a:txBody>
                  <a:tcPr/>
                </a:tc>
                <a:tc>
                  <a:txBody>
                    <a:bodyPr wrap="square"/>
                    <a:lstStyle/>
                    <a:p>
                      <a:pPr algn="r"/>
                      <a:r>
                        <a:rPr sz="950" b="0" i="0">
                          <a:solidFill>
                            <a:srgbClr val="1A1A2E"/>
                          </a:solidFill>
                        </a:rPr>
                        <a:t>6.7%</a:t>
                      </a:r>
                    </a:p>
                  </a:txBody>
                  <a:tcPr/>
                </a:tc>
                <a:tc>
                  <a:txBody>
                    <a:bodyPr wrap="square"/>
                    <a:lstStyle/>
                    <a:p>
                      <a:pPr algn="r"/>
                      <a:r>
                        <a:rPr sz="950" b="0" i="0">
                          <a:solidFill>
                            <a:srgbClr val="1A1A2E"/>
                          </a:solidFill>
                        </a:rPr>
                        <a:t>6.7%</a:t>
                      </a:r>
                    </a:p>
                  </a:txBody>
                  <a:tcPr/>
                </a:tc>
                <a:tc>
                  <a:txBody>
                    <a:bodyPr wrap="square"/>
                    <a:lstStyle/>
                    <a:p>
                      <a:pPr algn="r"/>
                      <a:r>
                        <a:rPr sz="950" b="0" i="0">
                          <a:solidFill>
                            <a:srgbClr val="1A1A2E"/>
                          </a:solidFill>
                        </a:rPr>
                        <a:t>15.6%</a:t>
                      </a:r>
                    </a:p>
                  </a:txBody>
                  <a:tcPr/>
                </a:tc>
                <a:tc>
                  <a:txBody>
                    <a:bodyPr wrap="square"/>
                    <a:lstStyle/>
                    <a:p>
                      <a:pPr algn="r"/>
                      <a:r>
                        <a:rPr sz="950" b="0" i="0">
                          <a:solidFill>
                            <a:srgbClr val="1A1A2E"/>
                          </a:solidFill>
                        </a:rPr>
                        <a:t>11.5%</a:t>
                      </a:r>
                    </a:p>
                  </a:txBody>
                  <a:tcPr/>
                </a:tc>
                <a:tc>
                  <a:txBody>
                    <a:bodyPr wrap="square"/>
                    <a:lstStyle/>
                    <a:p>
                      <a:pPr algn="r"/>
                      <a:r>
                        <a:rPr sz="950" b="0" i="0">
                          <a:solidFill>
                            <a:srgbClr val="1A1A2E"/>
                          </a:solidFill>
                        </a:rPr>
                        <a:t>10.8%</a:t>
                      </a:r>
                    </a:p>
                  </a:txBody>
                  <a:tcPr/>
                </a:tc>
              </a:tr>
              <a:tr h="376210">
                <a:tc>
                  <a:txBody>
                    <a:bodyPr wrap="square"/>
                    <a:lstStyle/>
                    <a:p>
                      <a:pPr algn="l"/>
                      <a:r>
                        <a:rPr sz="950" b="1" i="0">
                          <a:solidFill>
                            <a:srgbClr val="1A1A2E"/>
                          </a:solidFill>
                        </a:rPr>
                        <a:t>Adj. EBITDA ($B)</a:t>
                      </a:r>
                    </a:p>
                  </a:txBody>
                  <a:tcPr>
                    <a:solidFill>
                      <a:srgbClr val="EAF0FB"/>
                    </a:solidFill>
                  </a:tcPr>
                </a:tc>
                <a:tc>
                  <a:txBody>
                    <a:bodyPr wrap="square"/>
                    <a:lstStyle/>
                    <a:p>
                      <a:pPr algn="r"/>
                      <a:r>
                        <a:rPr sz="950" b="0" i="0">
                          <a:solidFill>
                            <a:srgbClr val="1A1A2E"/>
                          </a:solidFill>
                        </a:rPr>
                        <a:t> $5.7</a:t>
                      </a:r>
                    </a:p>
                  </a:txBody>
                  <a:tcPr>
                    <a:solidFill>
                      <a:srgbClr val="EAF0FB"/>
                    </a:solidFill>
                  </a:tcPr>
                </a:tc>
                <a:tc>
                  <a:txBody>
                    <a:bodyPr wrap="square"/>
                    <a:lstStyle/>
                    <a:p>
                      <a:pPr algn="r"/>
                      <a:r>
                        <a:rPr sz="950" b="0" i="0">
                          <a:solidFill>
                            <a:srgbClr val="1A1A2E"/>
                          </a:solidFill>
                        </a:rPr>
                        <a:t> $7.0</a:t>
                      </a:r>
                    </a:p>
                  </a:txBody>
                  <a:tcPr>
                    <a:solidFill>
                      <a:srgbClr val="EAF0FB"/>
                    </a:solidFill>
                  </a:tcPr>
                </a:tc>
                <a:tc>
                  <a:txBody>
                    <a:bodyPr wrap="square"/>
                    <a:lstStyle/>
                    <a:p>
                      <a:pPr algn="r"/>
                      <a:r>
                        <a:rPr sz="950" b="0" i="0">
                          <a:solidFill>
                            <a:srgbClr val="1A1A2E"/>
                          </a:solidFill>
                        </a:rPr>
                        <a:t>$10.4</a:t>
                      </a:r>
                    </a:p>
                  </a:txBody>
                  <a:tcPr>
                    <a:solidFill>
                      <a:srgbClr val="EAF0FB"/>
                    </a:solidFill>
                  </a:tcPr>
                </a:tc>
                <a:tc>
                  <a:txBody>
                    <a:bodyPr wrap="square"/>
                    <a:lstStyle/>
                    <a:p>
                      <a:pPr algn="r"/>
                      <a:r>
                        <a:rPr sz="950" b="0" i="0">
                          <a:solidFill>
                            <a:srgbClr val="1A1A2E"/>
                          </a:solidFill>
                        </a:rPr>
                        <a:t>$12.1</a:t>
                      </a:r>
                    </a:p>
                  </a:txBody>
                  <a:tcPr>
                    <a:solidFill>
                      <a:srgbClr val="EAF0FB"/>
                    </a:solidFill>
                  </a:tcPr>
                </a:tc>
                <a:tc>
                  <a:txBody>
                    <a:bodyPr wrap="square"/>
                    <a:lstStyle/>
                    <a:p>
                      <a:pPr algn="r"/>
                      <a:r>
                        <a:rPr sz="950" b="0" i="0">
                          <a:solidFill>
                            <a:srgbClr val="1A1A2E"/>
                          </a:solidFill>
                        </a:rPr>
                        <a:t>$14.3</a:t>
                      </a:r>
                    </a:p>
                  </a:txBody>
                  <a:tcPr>
                    <a:solidFill>
                      <a:srgbClr val="EAF0FB"/>
                    </a:solidFill>
                  </a:tcPr>
                </a:tc>
              </a:tr>
              <a:tr h="376210">
                <a:tc>
                  <a:txBody>
                    <a:bodyPr wrap="square"/>
                    <a:lstStyle/>
                    <a:p>
                      <a:pPr algn="l"/>
                      <a:r>
                        <a:rPr sz="950" b="1" i="0">
                          <a:solidFill>
                            <a:srgbClr val="1A1A2E"/>
                          </a:solidFill>
                        </a:rPr>
                        <a:t>EBITDA Margin</a:t>
                      </a:r>
                    </a:p>
                  </a:txBody>
                  <a:tcPr/>
                </a:tc>
                <a:tc>
                  <a:txBody>
                    <a:bodyPr wrap="square"/>
                    <a:lstStyle/>
                    <a:p>
                      <a:pPr algn="r"/>
                      <a:r>
                        <a:rPr sz="950" b="0" i="0">
                          <a:solidFill>
                            <a:srgbClr val="1A1A2E"/>
                          </a:solidFill>
                        </a:rPr>
                        <a:t>18.1%</a:t>
                      </a:r>
                    </a:p>
                  </a:txBody>
                  <a:tcPr/>
                </a:tc>
                <a:tc>
                  <a:txBody>
                    <a:bodyPr wrap="square"/>
                    <a:lstStyle/>
                    <a:p>
                      <a:pPr algn="r"/>
                      <a:r>
                        <a:rPr sz="950" b="0" i="0">
                          <a:solidFill>
                            <a:srgbClr val="1A1A2E"/>
                          </a:solidFill>
                        </a:rPr>
                        <a:t>20.8%</a:t>
                      </a:r>
                    </a:p>
                  </a:txBody>
                  <a:tcPr/>
                </a:tc>
                <a:tc>
                  <a:txBody>
                    <a:bodyPr wrap="square"/>
                    <a:lstStyle/>
                    <a:p>
                      <a:pPr algn="r"/>
                      <a:r>
                        <a:rPr sz="950" b="0" i="0">
                          <a:solidFill>
                            <a:srgbClr val="1A1A2E"/>
                          </a:solidFill>
                        </a:rPr>
                        <a:t>26.6%</a:t>
                      </a:r>
                    </a:p>
                  </a:txBody>
                  <a:tcPr/>
                </a:tc>
                <a:tc>
                  <a:txBody>
                    <a:bodyPr wrap="square"/>
                    <a:lstStyle/>
                    <a:p>
                      <a:pPr algn="r"/>
                      <a:r>
                        <a:rPr sz="950" b="0" i="0">
                          <a:solidFill>
                            <a:srgbClr val="1A1A2E"/>
                          </a:solidFill>
                        </a:rPr>
                        <a:t>27.8%</a:t>
                      </a:r>
                    </a:p>
                  </a:txBody>
                  <a:tcPr/>
                </a:tc>
                <a:tc>
                  <a:txBody>
                    <a:bodyPr wrap="square"/>
                    <a:lstStyle/>
                    <a:p>
                      <a:pPr algn="r"/>
                      <a:r>
                        <a:rPr sz="950" b="0" i="0">
                          <a:solidFill>
                            <a:srgbClr val="1A1A2E"/>
                          </a:solidFill>
                        </a:rPr>
                        <a:t>29.7%</a:t>
                      </a:r>
                    </a:p>
                  </a:txBody>
                  <a:tcPr/>
                </a:tc>
              </a:tr>
              <a:tr h="376210">
                <a:tc>
                  <a:txBody>
                    <a:bodyPr wrap="square"/>
                    <a:lstStyle/>
                    <a:p>
                      <a:pPr algn="l"/>
                      <a:r>
                        <a:rPr sz="950" b="1" i="0">
                          <a:solidFill>
                            <a:srgbClr val="1A1A2E"/>
                          </a:solidFill>
                        </a:rPr>
                        <a:t>Net Income ($B)</a:t>
                      </a:r>
                    </a:p>
                  </a:txBody>
                  <a:tcPr>
                    <a:solidFill>
                      <a:srgbClr val="EAF0FB"/>
                    </a:solidFill>
                  </a:tcPr>
                </a:tc>
                <a:tc>
                  <a:txBody>
                    <a:bodyPr wrap="square"/>
                    <a:lstStyle/>
                    <a:p>
                      <a:pPr algn="r"/>
                      <a:r>
                        <a:rPr sz="950" b="0" i="0">
                          <a:solidFill>
                            <a:srgbClr val="1A1A2E"/>
                          </a:solidFill>
                        </a:rPr>
                        <a:t> $4.5</a:t>
                      </a:r>
                    </a:p>
                  </a:txBody>
                  <a:tcPr>
                    <a:solidFill>
                      <a:srgbClr val="EAF0FB"/>
                    </a:solidFill>
                  </a:tcPr>
                </a:tc>
                <a:tc>
                  <a:txBody>
                    <a:bodyPr wrap="square"/>
                    <a:lstStyle/>
                    <a:p>
                      <a:pPr algn="r"/>
                      <a:r>
                        <a:rPr sz="950" b="0" i="0">
                          <a:solidFill>
                            <a:srgbClr val="1A1A2E"/>
                          </a:solidFill>
                        </a:rPr>
                        <a:t> $5.4</a:t>
                      </a:r>
                    </a:p>
                  </a:txBody>
                  <a:tcPr>
                    <a:solidFill>
                      <a:srgbClr val="EAF0FB"/>
                    </a:solidFill>
                  </a:tcPr>
                </a:tc>
                <a:tc>
                  <a:txBody>
                    <a:bodyPr wrap="square"/>
                    <a:lstStyle/>
                    <a:p>
                      <a:pPr algn="r"/>
                      <a:r>
                        <a:rPr sz="950" b="0" i="0">
                          <a:solidFill>
                            <a:srgbClr val="1A1A2E"/>
                          </a:solidFill>
                        </a:rPr>
                        <a:t> $8.7</a:t>
                      </a:r>
                    </a:p>
                  </a:txBody>
                  <a:tcPr>
                    <a:solidFill>
                      <a:srgbClr val="EAF0FB"/>
                    </a:solidFill>
                  </a:tcPr>
                </a:tc>
                <a:tc>
                  <a:txBody>
                    <a:bodyPr wrap="square"/>
                    <a:lstStyle/>
                    <a:p>
                      <a:pPr algn="r"/>
                      <a:r>
                        <a:rPr sz="950" b="0" i="0">
                          <a:solidFill>
                            <a:srgbClr val="1A1A2E"/>
                          </a:solidFill>
                        </a:rPr>
                        <a:t>$10.1</a:t>
                      </a:r>
                    </a:p>
                  </a:txBody>
                  <a:tcPr>
                    <a:solidFill>
                      <a:srgbClr val="EAF0FB"/>
                    </a:solidFill>
                  </a:tcPr>
                </a:tc>
                <a:tc>
                  <a:txBody>
                    <a:bodyPr wrap="square"/>
                    <a:lstStyle/>
                    <a:p>
                      <a:pPr algn="r"/>
                      <a:r>
                        <a:rPr sz="950" b="0" i="0">
                          <a:solidFill>
                            <a:srgbClr val="1A1A2E"/>
                          </a:solidFill>
                        </a:rPr>
                        <a:t>$12.2</a:t>
                      </a:r>
                    </a:p>
                  </a:txBody>
                  <a:tcPr>
                    <a:solidFill>
                      <a:srgbClr val="EAF0FB"/>
                    </a:solidFill>
                  </a:tcPr>
                </a:tc>
              </a:tr>
              <a:tr h="376212">
                <a:tc>
                  <a:txBody>
                    <a:bodyPr wrap="square"/>
                    <a:lstStyle/>
                    <a:p>
                      <a:pPr algn="l"/>
                      <a:r>
                        <a:rPr sz="950" b="1" i="0">
                          <a:solidFill>
                            <a:srgbClr val="1A1A2E"/>
                          </a:solidFill>
                        </a:rPr>
                        <a:t>Free Cash Flow ($B)</a:t>
                      </a:r>
                    </a:p>
                  </a:txBody>
                  <a:tcPr/>
                </a:tc>
                <a:tc>
                  <a:txBody>
                    <a:bodyPr wrap="square"/>
                    <a:lstStyle/>
                    <a:p>
                      <a:pPr algn="r"/>
                      <a:r>
                        <a:rPr sz="950" b="0" i="0">
                          <a:solidFill>
                            <a:srgbClr val="1A1A2E"/>
                          </a:solidFill>
                        </a:rPr>
                        <a:t> $1.6</a:t>
                      </a:r>
                    </a:p>
                  </a:txBody>
                  <a:tcPr/>
                </a:tc>
                <a:tc>
                  <a:txBody>
                    <a:bodyPr wrap="square"/>
                    <a:lstStyle/>
                    <a:p>
                      <a:pPr algn="r"/>
                      <a:r>
                        <a:rPr sz="950" b="0" i="0">
                          <a:solidFill>
                            <a:srgbClr val="1A1A2E"/>
                          </a:solidFill>
                        </a:rPr>
                        <a:t> $6.9</a:t>
                      </a:r>
                    </a:p>
                  </a:txBody>
                  <a:tcPr/>
                </a:tc>
                <a:tc>
                  <a:txBody>
                    <a:bodyPr wrap="square"/>
                    <a:lstStyle/>
                    <a:p>
                      <a:pPr algn="r"/>
                      <a:r>
                        <a:rPr sz="950" b="0" i="0">
                          <a:solidFill>
                            <a:srgbClr val="1A1A2E"/>
                          </a:solidFill>
                        </a:rPr>
                        <a:t> $6.9</a:t>
                      </a:r>
                    </a:p>
                  </a:txBody>
                  <a:tcPr/>
                </a:tc>
                <a:tc>
                  <a:txBody>
                    <a:bodyPr wrap="square"/>
                    <a:lstStyle/>
                    <a:p>
                      <a:pPr algn="r"/>
                      <a:r>
                        <a:rPr sz="950" b="0" i="0">
                          <a:solidFill>
                            <a:srgbClr val="1A1A2E"/>
                          </a:solidFill>
                        </a:rPr>
                        <a:t> $8.2</a:t>
                      </a:r>
                    </a:p>
                  </a:txBody>
                  <a:tcPr/>
                </a:tc>
                <a:tc>
                  <a:txBody>
                    <a:bodyPr wrap="square"/>
                    <a:lstStyle/>
                    <a:p>
                      <a:pPr algn="r"/>
                      <a:r>
                        <a:rPr sz="950" b="0" i="0">
                          <a:solidFill>
                            <a:srgbClr val="1A1A2E"/>
                          </a:solidFill>
                        </a:rPr>
                        <a:t>$10.5</a:t>
                      </a:r>
                    </a:p>
                  </a:txBody>
                  <a:tcPr/>
                </a:tc>
              </a:tr>
            </a:tbl>
          </a:graphicData>
        </a:graphic>
      </p:graphicFrame>
      <p:sp>
        <p:nvSpPr>
          <p:cNvPr id="32" name="Rectangle 31"/>
          <p:cNvSpPr/>
          <p:nvPr/>
        </p:nvSpPr>
        <p:spPr>
          <a:xfrm>
            <a:off x="8046720" y="2624328"/>
            <a:ext cx="3822191" cy="3922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65008" y="2651760"/>
            <a:ext cx="3785615" cy="11887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65008" y="2651760"/>
            <a:ext cx="91440" cy="118872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2697479"/>
            <a:ext cx="3520440" cy="347472"/>
          </a:xfrm>
          <a:prstGeom prst="rect">
            <a:avLst/>
          </a:prstGeom>
          <a:noFill/>
        </p:spPr>
        <p:txBody>
          <a:bodyPr wrap="square">
            <a:spAutoFit/>
          </a:bodyPr>
          <a:lstStyle/>
          <a:p>
            <a:pPr algn="l"/>
            <a:r>
              <a:rPr sz="1100" b="1" i="0">
                <a:solidFill>
                  <a:srgbClr val="1A1A2E"/>
                </a:solidFill>
              </a:rPr>
              <a:t>Business Model</a:t>
            </a:r>
          </a:p>
        </p:txBody>
      </p:sp>
      <p:sp>
        <p:nvSpPr>
          <p:cNvPr id="36" name="TextBox 35"/>
          <p:cNvSpPr txBox="1"/>
          <p:nvPr/>
        </p:nvSpPr>
        <p:spPr>
          <a:xfrm>
            <a:off x="8229600" y="3072384"/>
            <a:ext cx="3520440" cy="713232"/>
          </a:xfrm>
          <a:prstGeom prst="rect">
            <a:avLst/>
          </a:prstGeom>
          <a:noFill/>
        </p:spPr>
        <p:txBody>
          <a:bodyPr wrap="square">
            <a:spAutoFit/>
          </a:bodyPr>
          <a:lstStyle/>
          <a:p>
            <a:pPr algn="l"/>
            <a:r>
              <a:rPr sz="950" b="0" i="0">
                <a:solidFill>
                  <a:srgbClr val="4A4A5A"/>
                </a:solidFill>
              </a:rPr>
              <a:t>Subscription-only SVOD platform (no ads tier growing). 189 countries. Ad-supported plan launched 2022 — now 40%+ of new sign-ups.</a:t>
            </a:r>
          </a:p>
        </p:txBody>
      </p:sp>
      <p:sp>
        <p:nvSpPr>
          <p:cNvPr id="37" name="Rectangle 36"/>
          <p:cNvSpPr/>
          <p:nvPr/>
        </p:nvSpPr>
        <p:spPr>
          <a:xfrm>
            <a:off x="8065008" y="3931920"/>
            <a:ext cx="3785615" cy="11887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65008" y="3931920"/>
            <a:ext cx="91440" cy="1188720"/>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3977639"/>
            <a:ext cx="3520440" cy="347472"/>
          </a:xfrm>
          <a:prstGeom prst="rect">
            <a:avLst/>
          </a:prstGeom>
          <a:noFill/>
        </p:spPr>
        <p:txBody>
          <a:bodyPr wrap="square">
            <a:spAutoFit/>
          </a:bodyPr>
          <a:lstStyle/>
          <a:p>
            <a:pPr algn="l"/>
            <a:r>
              <a:rPr sz="1100" b="1" i="0">
                <a:solidFill>
                  <a:srgbClr val="1A1A2E"/>
                </a:solidFill>
              </a:rPr>
              <a:t>Content Strategy</a:t>
            </a:r>
          </a:p>
        </p:txBody>
      </p:sp>
      <p:sp>
        <p:nvSpPr>
          <p:cNvPr id="40" name="TextBox 39"/>
          <p:cNvSpPr txBox="1"/>
          <p:nvPr/>
        </p:nvSpPr>
        <p:spPr>
          <a:xfrm>
            <a:off x="8229600" y="4352544"/>
            <a:ext cx="3520440" cy="713232"/>
          </a:xfrm>
          <a:prstGeom prst="rect">
            <a:avLst/>
          </a:prstGeom>
          <a:noFill/>
        </p:spPr>
        <p:txBody>
          <a:bodyPr wrap="square">
            <a:spAutoFit/>
          </a:bodyPr>
          <a:lstStyle/>
          <a:p>
            <a:pPr algn="l"/>
            <a:r>
              <a:rPr sz="950" b="0" i="0">
                <a:solidFill>
                  <a:srgbClr val="4A4A5A"/>
                </a:solidFill>
              </a:rPr>
              <a:t>~$17B annual content spend. Original programming (Stranger Things, Squid Game). Gaming expansion. Live events: NFL, Tyson vs. Paul fight.</a:t>
            </a:r>
          </a:p>
        </p:txBody>
      </p:sp>
      <p:sp>
        <p:nvSpPr>
          <p:cNvPr id="41" name="Rectangle 40"/>
          <p:cNvSpPr/>
          <p:nvPr/>
        </p:nvSpPr>
        <p:spPr>
          <a:xfrm>
            <a:off x="8065008" y="5212079"/>
            <a:ext cx="3785615" cy="11887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65008" y="5212079"/>
            <a:ext cx="91440" cy="1188720"/>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5257799"/>
            <a:ext cx="3520440" cy="347472"/>
          </a:xfrm>
          <a:prstGeom prst="rect">
            <a:avLst/>
          </a:prstGeom>
          <a:noFill/>
        </p:spPr>
        <p:txBody>
          <a:bodyPr wrap="square">
            <a:spAutoFit/>
          </a:bodyPr>
          <a:lstStyle/>
          <a:p>
            <a:pPr algn="l"/>
            <a:r>
              <a:rPr sz="1100" b="1" i="0">
                <a:solidFill>
                  <a:srgbClr val="1A1A2E"/>
                </a:solidFill>
              </a:rPr>
              <a:t>Key Growth Drivers</a:t>
            </a:r>
          </a:p>
        </p:txBody>
      </p:sp>
      <p:sp>
        <p:nvSpPr>
          <p:cNvPr id="44" name="TextBox 43"/>
          <p:cNvSpPr txBox="1"/>
          <p:nvPr/>
        </p:nvSpPr>
        <p:spPr>
          <a:xfrm>
            <a:off x="8229600" y="5632703"/>
            <a:ext cx="3520440" cy="713232"/>
          </a:xfrm>
          <a:prstGeom prst="rect">
            <a:avLst/>
          </a:prstGeom>
          <a:noFill/>
        </p:spPr>
        <p:txBody>
          <a:bodyPr wrap="square">
            <a:spAutoFit/>
          </a:bodyPr>
          <a:lstStyle/>
          <a:p>
            <a:pPr algn="l"/>
            <a:r>
              <a:rPr sz="950" b="0" i="0">
                <a:solidFill>
                  <a:srgbClr val="4A4A5A"/>
                </a:solidFill>
              </a:rPr>
              <a:t>Password-sharing crackdown (+30M subs in 18 months). Ad-tier ARPU expansion. International market penetration. Live content.</a:t>
            </a:r>
          </a:p>
        </p:txBody>
      </p:sp>
      <p:sp>
        <p:nvSpPr>
          <p:cNvPr id="45" name="Rectangle 44"/>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Sources: Netflix 10-K FY2024, Netflix Q1 2025 Earnings. FY2025E–FY2026E based on FactSet consensus estimates.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Warner Bros. Discovery (WBD) — Company Overview</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Deeply Undervalued Media Conglomerate with $44.5B EV and Transformative Asset Base</a:t>
            </a:r>
          </a:p>
        </p:txBody>
      </p:sp>
      <p:sp>
        <p:nvSpPr>
          <p:cNvPr id="6" name="Rectangle 5"/>
          <p:cNvSpPr/>
          <p:nvPr/>
        </p:nvSpPr>
        <p:spPr>
          <a:xfrm>
            <a:off x="320040"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2386584"/>
            <a:ext cx="1828800" cy="5486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71600"/>
            <a:ext cx="1828800" cy="658368"/>
          </a:xfrm>
          <a:prstGeom prst="rect">
            <a:avLst/>
          </a:prstGeom>
          <a:noFill/>
        </p:spPr>
        <p:txBody>
          <a:bodyPr wrap="square">
            <a:spAutoFit/>
          </a:bodyPr>
          <a:lstStyle/>
          <a:p>
            <a:pPr algn="ctr"/>
            <a:r>
              <a:rPr sz="2400" b="1" i="0">
                <a:solidFill>
                  <a:srgbClr val="18408C"/>
                </a:solidFill>
              </a:rPr>
              <a:t>$8.5B</a:t>
            </a:r>
          </a:p>
        </p:txBody>
      </p:sp>
      <p:sp>
        <p:nvSpPr>
          <p:cNvPr id="9" name="TextBox 8"/>
          <p:cNvSpPr txBox="1"/>
          <p:nvPr/>
        </p:nvSpPr>
        <p:spPr>
          <a:xfrm>
            <a:off x="320040" y="2029968"/>
            <a:ext cx="1828800" cy="384048"/>
          </a:xfrm>
          <a:prstGeom prst="rect">
            <a:avLst/>
          </a:prstGeom>
          <a:noFill/>
        </p:spPr>
        <p:txBody>
          <a:bodyPr wrap="square">
            <a:spAutoFit/>
          </a:bodyPr>
          <a:lstStyle/>
          <a:p>
            <a:pPr algn="ctr"/>
            <a:r>
              <a:rPr sz="1000" b="0" i="0">
                <a:solidFill>
                  <a:srgbClr val="8A8A9A"/>
                </a:solidFill>
              </a:rPr>
              <a:t>Market Cap
(Distressed)</a:t>
            </a:r>
          </a:p>
        </p:txBody>
      </p:sp>
      <p:sp>
        <p:nvSpPr>
          <p:cNvPr id="10" name="Rectangle 9"/>
          <p:cNvSpPr/>
          <p:nvPr/>
        </p:nvSpPr>
        <p:spPr>
          <a:xfrm>
            <a:off x="2258568"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58568" y="2386584"/>
            <a:ext cx="1828800" cy="5486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1371600"/>
            <a:ext cx="1828800" cy="658368"/>
          </a:xfrm>
          <a:prstGeom prst="rect">
            <a:avLst/>
          </a:prstGeom>
          <a:noFill/>
        </p:spPr>
        <p:txBody>
          <a:bodyPr wrap="square">
            <a:spAutoFit/>
          </a:bodyPr>
          <a:lstStyle/>
          <a:p>
            <a:pPr algn="ctr"/>
            <a:r>
              <a:rPr sz="2400" b="1" i="0">
                <a:solidFill>
                  <a:srgbClr val="18408C"/>
                </a:solidFill>
              </a:rPr>
              <a:t>$44.5B</a:t>
            </a:r>
          </a:p>
        </p:txBody>
      </p:sp>
      <p:sp>
        <p:nvSpPr>
          <p:cNvPr id="13" name="TextBox 12"/>
          <p:cNvSpPr txBox="1"/>
          <p:nvPr/>
        </p:nvSpPr>
        <p:spPr>
          <a:xfrm>
            <a:off x="2258568" y="2029968"/>
            <a:ext cx="1828800" cy="384048"/>
          </a:xfrm>
          <a:prstGeom prst="rect">
            <a:avLst/>
          </a:prstGeom>
          <a:noFill/>
        </p:spPr>
        <p:txBody>
          <a:bodyPr wrap="square">
            <a:spAutoFit/>
          </a:bodyPr>
          <a:lstStyle/>
          <a:p>
            <a:pPr algn="ctr"/>
            <a:r>
              <a:rPr sz="1000" b="0" i="0">
                <a:solidFill>
                  <a:srgbClr val="8A8A9A"/>
                </a:solidFill>
              </a:rPr>
              <a:t>Enterprise
Value</a:t>
            </a:r>
          </a:p>
        </p:txBody>
      </p:sp>
      <p:sp>
        <p:nvSpPr>
          <p:cNvPr id="14" name="Rectangle 13"/>
          <p:cNvSpPr/>
          <p:nvPr/>
        </p:nvSpPr>
        <p:spPr>
          <a:xfrm>
            <a:off x="4197096"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2386584"/>
            <a:ext cx="1828800" cy="5486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97096" y="1371600"/>
            <a:ext cx="1828800" cy="658368"/>
          </a:xfrm>
          <a:prstGeom prst="rect">
            <a:avLst/>
          </a:prstGeom>
          <a:noFill/>
        </p:spPr>
        <p:txBody>
          <a:bodyPr wrap="square">
            <a:spAutoFit/>
          </a:bodyPr>
          <a:lstStyle/>
          <a:p>
            <a:pPr algn="ctr"/>
            <a:r>
              <a:rPr sz="2400" b="1" i="0">
                <a:solidFill>
                  <a:srgbClr val="18408C"/>
                </a:solidFill>
              </a:rPr>
              <a:t>96M</a:t>
            </a:r>
          </a:p>
        </p:txBody>
      </p:sp>
      <p:sp>
        <p:nvSpPr>
          <p:cNvPr id="17" name="TextBox 16"/>
          <p:cNvSpPr txBox="1"/>
          <p:nvPr/>
        </p:nvSpPr>
        <p:spPr>
          <a:xfrm>
            <a:off x="4197096" y="2029968"/>
            <a:ext cx="1828800" cy="384048"/>
          </a:xfrm>
          <a:prstGeom prst="rect">
            <a:avLst/>
          </a:prstGeom>
          <a:noFill/>
        </p:spPr>
        <p:txBody>
          <a:bodyPr wrap="square">
            <a:spAutoFit/>
          </a:bodyPr>
          <a:lstStyle/>
          <a:p>
            <a:pPr algn="ctr"/>
            <a:r>
              <a:rPr sz="1000" b="0" i="0">
                <a:solidFill>
                  <a:srgbClr val="8A8A9A"/>
                </a:solidFill>
              </a:rPr>
              <a:t>Max Paid
Subscribers</a:t>
            </a:r>
          </a:p>
        </p:txBody>
      </p:sp>
      <p:sp>
        <p:nvSpPr>
          <p:cNvPr id="18" name="Rectangle 17"/>
          <p:cNvSpPr/>
          <p:nvPr/>
        </p:nvSpPr>
        <p:spPr>
          <a:xfrm>
            <a:off x="6135624"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2386584"/>
            <a:ext cx="1828800" cy="5486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371600"/>
            <a:ext cx="1828800" cy="658368"/>
          </a:xfrm>
          <a:prstGeom prst="rect">
            <a:avLst/>
          </a:prstGeom>
          <a:noFill/>
        </p:spPr>
        <p:txBody>
          <a:bodyPr wrap="square">
            <a:spAutoFit/>
          </a:bodyPr>
          <a:lstStyle/>
          <a:p>
            <a:pPr algn="ctr"/>
            <a:r>
              <a:rPr sz="2400" b="1" i="0">
                <a:solidFill>
                  <a:srgbClr val="18408C"/>
                </a:solidFill>
              </a:rPr>
              <a:t>$39.3B</a:t>
            </a:r>
          </a:p>
        </p:txBody>
      </p:sp>
      <p:sp>
        <p:nvSpPr>
          <p:cNvPr id="21" name="TextBox 20"/>
          <p:cNvSpPr txBox="1"/>
          <p:nvPr/>
        </p:nvSpPr>
        <p:spPr>
          <a:xfrm>
            <a:off x="6135624" y="2029968"/>
            <a:ext cx="1828800" cy="384048"/>
          </a:xfrm>
          <a:prstGeom prst="rect">
            <a:avLst/>
          </a:prstGeom>
          <a:noFill/>
        </p:spPr>
        <p:txBody>
          <a:bodyPr wrap="square">
            <a:spAutoFit/>
          </a:bodyPr>
          <a:lstStyle/>
          <a:p>
            <a:pPr algn="ctr"/>
            <a:r>
              <a:rPr sz="1000" b="0" i="0">
                <a:solidFill>
                  <a:srgbClr val="8A8A9A"/>
                </a:solidFill>
              </a:rPr>
              <a:t>FY2024
Revenue</a:t>
            </a:r>
          </a:p>
        </p:txBody>
      </p:sp>
      <p:sp>
        <p:nvSpPr>
          <p:cNvPr id="22" name="Rectangle 21"/>
          <p:cNvSpPr/>
          <p:nvPr/>
        </p:nvSpPr>
        <p:spPr>
          <a:xfrm>
            <a:off x="8074152"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386584"/>
            <a:ext cx="1828800" cy="5486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1371600"/>
            <a:ext cx="1828800" cy="658368"/>
          </a:xfrm>
          <a:prstGeom prst="rect">
            <a:avLst/>
          </a:prstGeom>
          <a:noFill/>
        </p:spPr>
        <p:txBody>
          <a:bodyPr wrap="square">
            <a:spAutoFit/>
          </a:bodyPr>
          <a:lstStyle/>
          <a:p>
            <a:pPr algn="ctr"/>
            <a:r>
              <a:rPr sz="2400" b="1" i="0">
                <a:solidFill>
                  <a:srgbClr val="18408C"/>
                </a:solidFill>
              </a:rPr>
              <a:t> $9.7B</a:t>
            </a:r>
          </a:p>
        </p:txBody>
      </p:sp>
      <p:sp>
        <p:nvSpPr>
          <p:cNvPr id="25" name="TextBox 24"/>
          <p:cNvSpPr txBox="1"/>
          <p:nvPr/>
        </p:nvSpPr>
        <p:spPr>
          <a:xfrm>
            <a:off x="8074152" y="2029968"/>
            <a:ext cx="1828800" cy="384048"/>
          </a:xfrm>
          <a:prstGeom prst="rect">
            <a:avLst/>
          </a:prstGeom>
          <a:noFill/>
        </p:spPr>
        <p:txBody>
          <a:bodyPr wrap="square">
            <a:spAutoFit/>
          </a:bodyPr>
          <a:lstStyle/>
          <a:p>
            <a:pPr algn="ctr"/>
            <a:r>
              <a:rPr sz="1000" b="0" i="0">
                <a:solidFill>
                  <a:srgbClr val="8A8A9A"/>
                </a:solidFill>
              </a:rPr>
              <a:t>FY2024 Adj.
EBITDA</a:t>
            </a:r>
          </a:p>
        </p:txBody>
      </p:sp>
      <p:sp>
        <p:nvSpPr>
          <p:cNvPr id="26" name="Rectangle 25"/>
          <p:cNvSpPr/>
          <p:nvPr/>
        </p:nvSpPr>
        <p:spPr>
          <a:xfrm>
            <a:off x="10012680" y="1207008"/>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12680" y="2386584"/>
            <a:ext cx="182880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1371600"/>
            <a:ext cx="1828800" cy="658368"/>
          </a:xfrm>
          <a:prstGeom prst="rect">
            <a:avLst/>
          </a:prstGeom>
          <a:noFill/>
        </p:spPr>
        <p:txBody>
          <a:bodyPr wrap="square">
            <a:spAutoFit/>
          </a:bodyPr>
          <a:lstStyle/>
          <a:p>
            <a:pPr algn="ctr"/>
            <a:r>
              <a:rPr sz="2400" b="1" i="0">
                <a:solidFill>
                  <a:srgbClr val="CC0000"/>
                </a:solidFill>
              </a:rPr>
              <a:t>$39.5B</a:t>
            </a:r>
          </a:p>
        </p:txBody>
      </p:sp>
      <p:sp>
        <p:nvSpPr>
          <p:cNvPr id="29" name="TextBox 28"/>
          <p:cNvSpPr txBox="1"/>
          <p:nvPr/>
        </p:nvSpPr>
        <p:spPr>
          <a:xfrm>
            <a:off x="10012680" y="2029968"/>
            <a:ext cx="1828800" cy="384048"/>
          </a:xfrm>
          <a:prstGeom prst="rect">
            <a:avLst/>
          </a:prstGeom>
          <a:noFill/>
        </p:spPr>
        <p:txBody>
          <a:bodyPr wrap="square">
            <a:spAutoFit/>
          </a:bodyPr>
          <a:lstStyle/>
          <a:p>
            <a:pPr algn="ctr"/>
            <a:r>
              <a:rPr sz="1000" b="0" i="0">
                <a:solidFill>
                  <a:srgbClr val="8A8A9A"/>
                </a:solidFill>
              </a:rPr>
              <a:t>Total Debt
(Key Constraint)</a:t>
            </a:r>
          </a:p>
        </p:txBody>
      </p:sp>
      <p:sp>
        <p:nvSpPr>
          <p:cNvPr id="30" name="TextBox 29"/>
          <p:cNvSpPr txBox="1"/>
          <p:nvPr/>
        </p:nvSpPr>
        <p:spPr>
          <a:xfrm>
            <a:off x="320040" y="2624328"/>
            <a:ext cx="7543800" cy="347472"/>
          </a:xfrm>
          <a:prstGeom prst="rect">
            <a:avLst/>
          </a:prstGeom>
          <a:noFill/>
        </p:spPr>
        <p:txBody>
          <a:bodyPr wrap="square">
            <a:spAutoFit/>
          </a:bodyPr>
          <a:lstStyle/>
          <a:p>
            <a:pPr algn="l"/>
            <a:r>
              <a:rPr sz="1200" b="1" i="0">
                <a:solidFill>
                  <a:srgbClr val="1A1A2E"/>
                </a:solidFill>
              </a:rPr>
              <a:t>Segment Financials — FY2024A ($B)</a:t>
            </a:r>
          </a:p>
        </p:txBody>
      </p:sp>
      <p:graphicFrame>
        <p:nvGraphicFramePr>
          <p:cNvPr id="31" name="Table 30"/>
          <p:cNvGraphicFramePr>
            <a:graphicFrameLocks noGrp="1"/>
          </p:cNvGraphicFramePr>
          <p:nvPr/>
        </p:nvGraphicFramePr>
        <p:xfrm>
          <a:off x="320040" y="2999232"/>
          <a:ext cx="7543800" cy="1828800"/>
        </p:xfrm>
        <a:graphic>
          <a:graphicData uri="http://schemas.openxmlformats.org/drawingml/2006/table">
            <a:tbl>
              <a:tblPr firstRow="1" bandRow="1">
                <a:tableStyleId>{5C22544A-7EE6-4342-B048-85BDC9FD1C3A}</a:tableStyleId>
              </a:tblPr>
              <a:tblGrid>
                <a:gridCol w="1508760"/>
                <a:gridCol w="1508760"/>
                <a:gridCol w="1508760"/>
                <a:gridCol w="1508760"/>
                <a:gridCol w="1508760"/>
              </a:tblGrid>
              <a:tr h="365760">
                <a:tc>
                  <a:txBody>
                    <a:bodyPr wrap="square"/>
                    <a:lstStyle/>
                    <a:p>
                      <a:pPr algn="ctr"/>
                      <a:r>
                        <a:rPr sz="950" b="1" i="0">
                          <a:solidFill>
                            <a:srgbClr val="FFFFFF"/>
                          </a:solidFill>
                        </a:rPr>
                        <a:t>Segment</a:t>
                      </a:r>
                    </a:p>
                  </a:txBody>
                  <a:tcPr>
                    <a:solidFill>
                      <a:srgbClr val="0F2044"/>
                    </a:solidFill>
                  </a:tcPr>
                </a:tc>
                <a:tc>
                  <a:txBody>
                    <a:bodyPr wrap="square"/>
                    <a:lstStyle/>
                    <a:p>
                      <a:pPr algn="ctr"/>
                      <a:r>
                        <a:rPr sz="950" b="1" i="0">
                          <a:solidFill>
                            <a:srgbClr val="FFFFFF"/>
                          </a:solidFill>
                        </a:rPr>
                        <a:t>Revenue</a:t>
                      </a:r>
                    </a:p>
                  </a:txBody>
                  <a:tcPr>
                    <a:solidFill>
                      <a:srgbClr val="0F2044"/>
                    </a:solidFill>
                  </a:tcPr>
                </a:tc>
                <a:tc>
                  <a:txBody>
                    <a:bodyPr wrap="square"/>
                    <a:lstStyle/>
                    <a:p>
                      <a:pPr algn="ctr"/>
                      <a:r>
                        <a:rPr sz="950" b="1" i="0">
                          <a:solidFill>
                            <a:srgbClr val="FFFFFF"/>
                          </a:solidFill>
                        </a:rPr>
                        <a:t>% of Total</a:t>
                      </a:r>
                    </a:p>
                  </a:txBody>
                  <a:tcPr>
                    <a:solidFill>
                      <a:srgbClr val="0F2044"/>
                    </a:solidFill>
                  </a:tcPr>
                </a:tc>
                <a:tc>
                  <a:txBody>
                    <a:bodyPr wrap="square"/>
                    <a:lstStyle/>
                    <a:p>
                      <a:pPr algn="ctr"/>
                      <a:r>
                        <a:rPr sz="950" b="1" i="0">
                          <a:solidFill>
                            <a:srgbClr val="FFFFFF"/>
                          </a:solidFill>
                        </a:rPr>
                        <a:t>Adj. EBITDA</a:t>
                      </a:r>
                    </a:p>
                  </a:txBody>
                  <a:tcPr>
                    <a:solidFill>
                      <a:srgbClr val="0F2044"/>
                    </a:solidFill>
                  </a:tcPr>
                </a:tc>
                <a:tc>
                  <a:txBody>
                    <a:bodyPr wrap="square"/>
                    <a:lstStyle/>
                    <a:p>
                      <a:pPr algn="ctr"/>
                      <a:r>
                        <a:rPr sz="950" b="1" i="0">
                          <a:solidFill>
                            <a:srgbClr val="FFFFFF"/>
                          </a:solidFill>
                        </a:rPr>
                        <a:t>EBITDA Margin</a:t>
                      </a:r>
                    </a:p>
                  </a:txBody>
                  <a:tcPr>
                    <a:solidFill>
                      <a:srgbClr val="0F2044"/>
                    </a:solidFill>
                  </a:tcPr>
                </a:tc>
              </a:tr>
              <a:tr h="365760">
                <a:tc>
                  <a:txBody>
                    <a:bodyPr wrap="square"/>
                    <a:lstStyle/>
                    <a:p>
                      <a:pPr algn="l"/>
                      <a:r>
                        <a:rPr sz="950" b="0" i="0">
                          <a:solidFill>
                            <a:srgbClr val="1A1A2E"/>
                          </a:solidFill>
                        </a:rPr>
                        <a:t>Studios</a:t>
                      </a:r>
                    </a:p>
                  </a:txBody>
                  <a:tcPr>
                    <a:solidFill>
                      <a:srgbClr val="EAF0FB"/>
                    </a:solidFill>
                  </a:tcPr>
                </a:tc>
                <a:tc>
                  <a:txBody>
                    <a:bodyPr wrap="square"/>
                    <a:lstStyle/>
                    <a:p>
                      <a:pPr algn="r"/>
                      <a:r>
                        <a:rPr sz="950" b="0" i="0">
                          <a:solidFill>
                            <a:srgbClr val="1A1A2E"/>
                          </a:solidFill>
                        </a:rPr>
                        <a:t>$9.6B</a:t>
                      </a:r>
                    </a:p>
                  </a:txBody>
                  <a:tcPr>
                    <a:solidFill>
                      <a:srgbClr val="EAF0FB"/>
                    </a:solidFill>
                  </a:tcPr>
                </a:tc>
                <a:tc>
                  <a:txBody>
                    <a:bodyPr wrap="square"/>
                    <a:lstStyle/>
                    <a:p>
                      <a:pPr algn="r"/>
                      <a:r>
                        <a:rPr sz="950" b="0" i="0">
                          <a:solidFill>
                            <a:srgbClr val="1A1A2E"/>
                          </a:solidFill>
                        </a:rPr>
                        <a:t>24%</a:t>
                      </a:r>
                    </a:p>
                  </a:txBody>
                  <a:tcPr>
                    <a:solidFill>
                      <a:srgbClr val="EAF0FB"/>
                    </a:solidFill>
                  </a:tcPr>
                </a:tc>
                <a:tc>
                  <a:txBody>
                    <a:bodyPr wrap="square"/>
                    <a:lstStyle/>
                    <a:p>
                      <a:pPr algn="r"/>
                      <a:r>
                        <a:rPr sz="950" b="0" i="0">
                          <a:solidFill>
                            <a:srgbClr val="1A1A2E"/>
                          </a:solidFill>
                        </a:rPr>
                        <a:t>$1.4B</a:t>
                      </a:r>
                    </a:p>
                  </a:txBody>
                  <a:tcPr>
                    <a:solidFill>
                      <a:srgbClr val="EAF0FB"/>
                    </a:solidFill>
                  </a:tcPr>
                </a:tc>
                <a:tc>
                  <a:txBody>
                    <a:bodyPr wrap="square"/>
                    <a:lstStyle/>
                    <a:p>
                      <a:pPr algn="r"/>
                      <a:r>
                        <a:rPr sz="950" b="0" i="0">
                          <a:solidFill>
                            <a:srgbClr val="1A1A2E"/>
                          </a:solidFill>
                        </a:rPr>
                        <a:t>14.6%</a:t>
                      </a:r>
                    </a:p>
                  </a:txBody>
                  <a:tcPr>
                    <a:solidFill>
                      <a:srgbClr val="EAF0FB"/>
                    </a:solidFill>
                  </a:tcPr>
                </a:tc>
              </a:tr>
              <a:tr h="365760">
                <a:tc>
                  <a:txBody>
                    <a:bodyPr wrap="square"/>
                    <a:lstStyle/>
                    <a:p>
                      <a:pPr algn="l"/>
                      <a:r>
                        <a:rPr sz="950" b="0" i="0">
                          <a:solidFill>
                            <a:srgbClr val="1A1A2E"/>
                          </a:solidFill>
                        </a:rPr>
                        <a:t>Networks</a:t>
                      </a:r>
                    </a:p>
                  </a:txBody>
                  <a:tcPr/>
                </a:tc>
                <a:tc>
                  <a:txBody>
                    <a:bodyPr wrap="square"/>
                    <a:lstStyle/>
                    <a:p>
                      <a:pPr algn="r"/>
                      <a:r>
                        <a:rPr sz="950" b="0" i="0">
                          <a:solidFill>
                            <a:srgbClr val="1A1A2E"/>
                          </a:solidFill>
                        </a:rPr>
                        <a:t>$22.0B</a:t>
                      </a:r>
                    </a:p>
                  </a:txBody>
                  <a:tcPr/>
                </a:tc>
                <a:tc>
                  <a:txBody>
                    <a:bodyPr wrap="square"/>
                    <a:lstStyle/>
                    <a:p>
                      <a:pPr algn="r"/>
                      <a:r>
                        <a:rPr sz="950" b="0" i="0">
                          <a:solidFill>
                            <a:srgbClr val="1A1A2E"/>
                          </a:solidFill>
                        </a:rPr>
                        <a:t>56%</a:t>
                      </a:r>
                    </a:p>
                  </a:txBody>
                  <a:tcPr/>
                </a:tc>
                <a:tc>
                  <a:txBody>
                    <a:bodyPr wrap="square"/>
                    <a:lstStyle/>
                    <a:p>
                      <a:pPr algn="r"/>
                      <a:r>
                        <a:rPr sz="950" b="0" i="0">
                          <a:solidFill>
                            <a:srgbClr val="1A1A2E"/>
                          </a:solidFill>
                        </a:rPr>
                        <a:t>$7.0B</a:t>
                      </a:r>
                    </a:p>
                  </a:txBody>
                  <a:tcPr/>
                </a:tc>
                <a:tc>
                  <a:txBody>
                    <a:bodyPr wrap="square"/>
                    <a:lstStyle/>
                    <a:p>
                      <a:pPr algn="r"/>
                      <a:r>
                        <a:rPr sz="950" b="0" i="0">
                          <a:solidFill>
                            <a:srgbClr val="1A1A2E"/>
                          </a:solidFill>
                        </a:rPr>
                        <a:t>31.8%</a:t>
                      </a:r>
                    </a:p>
                  </a:txBody>
                  <a:tcPr/>
                </a:tc>
              </a:tr>
              <a:tr h="365760">
                <a:tc>
                  <a:txBody>
                    <a:bodyPr wrap="square"/>
                    <a:lstStyle/>
                    <a:p>
                      <a:pPr algn="l"/>
                      <a:r>
                        <a:rPr sz="950" b="0" i="0">
                          <a:solidFill>
                            <a:srgbClr val="1A1A2E"/>
                          </a:solidFill>
                        </a:rPr>
                        <a:t>DTC (Max)</a:t>
                      </a:r>
                    </a:p>
                  </a:txBody>
                  <a:tcPr>
                    <a:solidFill>
                      <a:srgbClr val="EAF0FB"/>
                    </a:solidFill>
                  </a:tcPr>
                </a:tc>
                <a:tc>
                  <a:txBody>
                    <a:bodyPr wrap="square"/>
                    <a:lstStyle/>
                    <a:p>
                      <a:pPr algn="r"/>
                      <a:r>
                        <a:rPr sz="950" b="0" i="0">
                          <a:solidFill>
                            <a:srgbClr val="1A1A2E"/>
                          </a:solidFill>
                        </a:rPr>
                        <a:t>$7.7B</a:t>
                      </a:r>
                    </a:p>
                  </a:txBody>
                  <a:tcPr>
                    <a:solidFill>
                      <a:srgbClr val="EAF0FB"/>
                    </a:solidFill>
                  </a:tcPr>
                </a:tc>
                <a:tc>
                  <a:txBody>
                    <a:bodyPr wrap="square"/>
                    <a:lstStyle/>
                    <a:p>
                      <a:pPr algn="r"/>
                      <a:r>
                        <a:rPr sz="950" b="0" i="0">
                          <a:solidFill>
                            <a:srgbClr val="1A1A2E"/>
                          </a:solidFill>
                        </a:rPr>
                        <a:t>20%</a:t>
                      </a:r>
                    </a:p>
                  </a:txBody>
                  <a:tcPr>
                    <a:solidFill>
                      <a:srgbClr val="EAF0FB"/>
                    </a:solidFill>
                  </a:tcPr>
                </a:tc>
                <a:tc>
                  <a:txBody>
                    <a:bodyPr wrap="square"/>
                    <a:lstStyle/>
                    <a:p>
                      <a:pPr algn="r"/>
                      <a:r>
                        <a:rPr sz="950" b="0" i="0">
                          <a:solidFill>
                            <a:srgbClr val="1A1A2E"/>
                          </a:solidFill>
                        </a:rPr>
                        <a:t>$1.3B</a:t>
                      </a:r>
                    </a:p>
                  </a:txBody>
                  <a:tcPr>
                    <a:solidFill>
                      <a:srgbClr val="EAF0FB"/>
                    </a:solidFill>
                  </a:tcPr>
                </a:tc>
                <a:tc>
                  <a:txBody>
                    <a:bodyPr wrap="square"/>
                    <a:lstStyle/>
                    <a:p>
                      <a:pPr algn="r"/>
                      <a:r>
                        <a:rPr sz="950" b="0" i="0">
                          <a:solidFill>
                            <a:srgbClr val="1A1A2E"/>
                          </a:solidFill>
                        </a:rPr>
                        <a:t>16.9%</a:t>
                      </a:r>
                    </a:p>
                  </a:txBody>
                  <a:tcPr>
                    <a:solidFill>
                      <a:srgbClr val="EAF0FB"/>
                    </a:solidFill>
                  </a:tcPr>
                </a:tc>
              </a:tr>
              <a:tr h="365760">
                <a:tc>
                  <a:txBody>
                    <a:bodyPr wrap="square"/>
                    <a:lstStyle/>
                    <a:p>
                      <a:pPr algn="l"/>
                      <a:r>
                        <a:rPr sz="950" b="1" i="0">
                          <a:solidFill>
                            <a:srgbClr val="FFFFFF"/>
                          </a:solidFill>
                        </a:rPr>
                        <a:t>Total / WBD</a:t>
                      </a:r>
                    </a:p>
                  </a:txBody>
                  <a:tcPr>
                    <a:solidFill>
                      <a:srgbClr val="0F2044"/>
                    </a:solidFill>
                  </a:tcPr>
                </a:tc>
                <a:tc>
                  <a:txBody>
                    <a:bodyPr wrap="square"/>
                    <a:lstStyle/>
                    <a:p>
                      <a:pPr algn="r"/>
                      <a:r>
                        <a:rPr sz="950" b="1" i="0">
                          <a:solidFill>
                            <a:srgbClr val="FFFFFF"/>
                          </a:solidFill>
                        </a:rPr>
                        <a:t>$39.3B</a:t>
                      </a:r>
                    </a:p>
                  </a:txBody>
                  <a:tcPr>
                    <a:solidFill>
                      <a:srgbClr val="0F2044"/>
                    </a:solidFill>
                  </a:tcPr>
                </a:tc>
                <a:tc>
                  <a:txBody>
                    <a:bodyPr wrap="square"/>
                    <a:lstStyle/>
                    <a:p>
                      <a:pPr algn="r"/>
                      <a:r>
                        <a:rPr sz="950" b="1" i="0">
                          <a:solidFill>
                            <a:srgbClr val="FFFFFF"/>
                          </a:solidFill>
                        </a:rPr>
                        <a:t>100%</a:t>
                      </a:r>
                    </a:p>
                  </a:txBody>
                  <a:tcPr>
                    <a:solidFill>
                      <a:srgbClr val="0F2044"/>
                    </a:solidFill>
                  </a:tcPr>
                </a:tc>
                <a:tc>
                  <a:txBody>
                    <a:bodyPr wrap="square"/>
                    <a:lstStyle/>
                    <a:p>
                      <a:pPr algn="r"/>
                      <a:r>
                        <a:rPr sz="950" b="1" i="0">
                          <a:solidFill>
                            <a:srgbClr val="FFFFFF"/>
                          </a:solidFill>
                        </a:rPr>
                        <a:t>$9.7B</a:t>
                      </a:r>
                    </a:p>
                  </a:txBody>
                  <a:tcPr>
                    <a:solidFill>
                      <a:srgbClr val="0F2044"/>
                    </a:solidFill>
                  </a:tcPr>
                </a:tc>
                <a:tc>
                  <a:txBody>
                    <a:bodyPr wrap="square"/>
                    <a:lstStyle/>
                    <a:p>
                      <a:pPr algn="r"/>
                      <a:r>
                        <a:rPr sz="950" b="1" i="0">
                          <a:solidFill>
                            <a:srgbClr val="FFFFFF"/>
                          </a:solidFill>
                        </a:rPr>
                        <a:t>24.7%</a:t>
                      </a:r>
                    </a:p>
                  </a:txBody>
                  <a:tcPr>
                    <a:solidFill>
                      <a:srgbClr val="0F2044"/>
                    </a:solidFill>
                  </a:tcPr>
                </a:tc>
              </a:tr>
            </a:tbl>
          </a:graphicData>
        </a:graphic>
      </p:graphicFrame>
      <p:sp>
        <p:nvSpPr>
          <p:cNvPr id="32" name="Rectangle 31"/>
          <p:cNvSpPr/>
          <p:nvPr/>
        </p:nvSpPr>
        <p:spPr>
          <a:xfrm>
            <a:off x="8046720" y="2624328"/>
            <a:ext cx="3822191" cy="315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79" y="2670048"/>
            <a:ext cx="3566160" cy="320040"/>
          </a:xfrm>
          <a:prstGeom prst="rect">
            <a:avLst/>
          </a:prstGeom>
          <a:noFill/>
        </p:spPr>
        <p:txBody>
          <a:bodyPr wrap="square">
            <a:spAutoFit/>
          </a:bodyPr>
          <a:lstStyle/>
          <a:p>
            <a:pPr algn="l"/>
            <a:r>
              <a:rPr sz="1100" b="1" i="0">
                <a:solidFill>
                  <a:srgbClr val="CC0000"/>
                </a:solidFill>
              </a:rPr>
              <a:t>Key Challenges</a:t>
            </a:r>
          </a:p>
        </p:txBody>
      </p:sp>
      <p:sp>
        <p:nvSpPr>
          <p:cNvPr id="34" name="TextBox 33"/>
          <p:cNvSpPr txBox="1"/>
          <p:nvPr/>
        </p:nvSpPr>
        <p:spPr>
          <a:xfrm>
            <a:off x="8183879" y="3017520"/>
            <a:ext cx="3566160" cy="1828800"/>
          </a:xfrm>
          <a:prstGeom prst="rect">
            <a:avLst/>
          </a:prstGeom>
          <a:noFill/>
        </p:spPr>
        <p:txBody>
          <a:bodyPr wrap="square">
            <a:spAutoFit/>
          </a:bodyPr>
          <a:lstStyle/>
          <a:p>
            <a:pPr algn="l"/>
            <a:r>
              <a:rPr sz="950" b="0" i="0">
                <a:solidFill>
                  <a:srgbClr val="1A1A2E"/>
                </a:solidFill>
              </a:rPr>
              <a:t>• $39.5B debt → $3.0B/yr interest expense burden
• Linear Networks declining (–12% EBITDA YoY)
• Lost NBA rights to NBC — $1.8B/yr revenue at risk
• Max subs growth slowing; competes with Netflix
• Stock -80% from spinoff; strategic review underway</a:t>
            </a:r>
          </a:p>
        </p:txBody>
      </p:sp>
      <p:sp>
        <p:nvSpPr>
          <p:cNvPr id="35" name="Rectangle 34"/>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Sources: WBD 10-K FY2024, Q4 2024 Earnings Supplement. Adjusted EBITDA per company guidance. Market data as of May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Warner Bros. Discovery — Asset Portfolio</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Irreplaceable Content IP, Sports Rights, and Distribution Infrastructure</a:t>
            </a:r>
          </a:p>
        </p:txBody>
      </p:sp>
      <p:sp>
        <p:nvSpPr>
          <p:cNvPr id="6" name="TextBox 5"/>
          <p:cNvSpPr txBox="1"/>
          <p:nvPr/>
        </p:nvSpPr>
        <p:spPr>
          <a:xfrm>
            <a:off x="320040" y="1170432"/>
            <a:ext cx="11521440" cy="347472"/>
          </a:xfrm>
          <a:prstGeom prst="rect">
            <a:avLst/>
          </a:prstGeom>
          <a:noFill/>
        </p:spPr>
        <p:txBody>
          <a:bodyPr wrap="square">
            <a:spAutoFit/>
          </a:bodyPr>
          <a:lstStyle/>
          <a:p>
            <a:pPr algn="l"/>
            <a:r>
              <a:rPr sz="1300" b="1" i="0">
                <a:solidFill>
                  <a:srgbClr val="1A1A2E"/>
                </a:solidFill>
              </a:rPr>
              <a:t>WBD Asset Overview — Standalone Estimated Values</a:t>
            </a:r>
          </a:p>
        </p:txBody>
      </p:sp>
      <p:graphicFrame>
        <p:nvGraphicFramePr>
          <p:cNvPr id="7" name="Table 6"/>
          <p:cNvGraphicFramePr>
            <a:graphicFrameLocks noGrp="1"/>
          </p:cNvGraphicFramePr>
          <p:nvPr/>
        </p:nvGraphicFramePr>
        <p:xfrm>
          <a:off x="320040" y="1554480"/>
          <a:ext cx="11548872" cy="3977639"/>
        </p:xfrm>
        <a:graphic>
          <a:graphicData uri="http://schemas.openxmlformats.org/drawingml/2006/table">
            <a:tbl>
              <a:tblPr firstRow="1" bandRow="1">
                <a:tableStyleId>{5C22544A-7EE6-4342-B048-85BDC9FD1C3A}</a:tableStyleId>
              </a:tblPr>
              <a:tblGrid>
                <a:gridCol w="2309774"/>
                <a:gridCol w="2309774"/>
                <a:gridCol w="2309774"/>
                <a:gridCol w="2309774"/>
                <a:gridCol w="2309776"/>
              </a:tblGrid>
              <a:tr h="397763">
                <a:tc>
                  <a:txBody>
                    <a:bodyPr wrap="square"/>
                    <a:lstStyle/>
                    <a:p>
                      <a:pPr algn="ctr"/>
                      <a:r>
                        <a:rPr sz="950" b="1" i="0">
                          <a:solidFill>
                            <a:srgbClr val="FFFFFF"/>
                          </a:solidFill>
                        </a:rPr>
                        <a:t>Asset / Division</a:t>
                      </a:r>
                    </a:p>
                  </a:txBody>
                  <a:tcPr>
                    <a:solidFill>
                      <a:srgbClr val="0F2044"/>
                    </a:solidFill>
                  </a:tcPr>
                </a:tc>
                <a:tc>
                  <a:txBody>
                    <a:bodyPr wrap="square"/>
                    <a:lstStyle/>
                    <a:p>
                      <a:pPr algn="ctr"/>
                      <a:r>
                        <a:rPr sz="950" b="1" i="0">
                          <a:solidFill>
                            <a:srgbClr val="FFFFFF"/>
                          </a:solidFill>
                        </a:rPr>
                        <a:t>Category</a:t>
                      </a:r>
                    </a:p>
                  </a:txBody>
                  <a:tcPr>
                    <a:solidFill>
                      <a:srgbClr val="0F2044"/>
                    </a:solidFill>
                  </a:tcPr>
                </a:tc>
                <a:tc>
                  <a:txBody>
                    <a:bodyPr wrap="square"/>
                    <a:lstStyle/>
                    <a:p>
                      <a:pPr algn="ctr"/>
                      <a:r>
                        <a:rPr sz="950" b="1" i="0">
                          <a:solidFill>
                            <a:srgbClr val="FFFFFF"/>
                          </a:solidFill>
                        </a:rPr>
                        <a:t>Revenue (FY24A)</a:t>
                      </a:r>
                    </a:p>
                  </a:txBody>
                  <a:tcPr>
                    <a:solidFill>
                      <a:srgbClr val="0F2044"/>
                    </a:solidFill>
                  </a:tcPr>
                </a:tc>
                <a:tc>
                  <a:txBody>
                    <a:bodyPr wrap="square"/>
                    <a:lstStyle/>
                    <a:p>
                      <a:pPr algn="ctr"/>
                      <a:r>
                        <a:rPr sz="950" b="1" i="0">
                          <a:solidFill>
                            <a:srgbClr val="FFFFFF"/>
                          </a:solidFill>
                        </a:rPr>
                        <a:t>Est. Stand-Alone Value</a:t>
                      </a:r>
                    </a:p>
                  </a:txBody>
                  <a:tcPr>
                    <a:solidFill>
                      <a:srgbClr val="0F2044"/>
                    </a:solidFill>
                  </a:tcPr>
                </a:tc>
                <a:tc>
                  <a:txBody>
                    <a:bodyPr wrap="square"/>
                    <a:lstStyle/>
                    <a:p>
                      <a:pPr algn="ctr"/>
                      <a:r>
                        <a:rPr sz="950" b="1" i="0">
                          <a:solidFill>
                            <a:srgbClr val="FFFFFF"/>
                          </a:solidFill>
                        </a:rPr>
                        <a:t>Strategic Value to Netflix</a:t>
                      </a:r>
                    </a:p>
                  </a:txBody>
                  <a:tcPr>
                    <a:solidFill>
                      <a:srgbClr val="0F2044"/>
                    </a:solidFill>
                  </a:tcPr>
                </a:tc>
              </a:tr>
              <a:tr h="397763">
                <a:tc>
                  <a:txBody>
                    <a:bodyPr wrap="square"/>
                    <a:lstStyle/>
                    <a:p>
                      <a:pPr algn="l"/>
                      <a:r>
                        <a:rPr sz="900" b="0" i="0">
                          <a:solidFill>
                            <a:srgbClr val="1A1A2E"/>
                          </a:solidFill>
                        </a:rPr>
                        <a:t>Warner Bros. Pictures Studio</a:t>
                      </a:r>
                    </a:p>
                  </a:txBody>
                  <a:tcPr>
                    <a:solidFill>
                      <a:srgbClr val="EAF0FB"/>
                    </a:solidFill>
                  </a:tcPr>
                </a:tc>
                <a:tc>
                  <a:txBody>
                    <a:bodyPr wrap="square"/>
                    <a:lstStyle/>
                    <a:p>
                      <a:pPr algn="l"/>
                      <a:r>
                        <a:rPr sz="900" b="0" i="0">
                          <a:solidFill>
                            <a:srgbClr val="1A1A2E"/>
                          </a:solidFill>
                        </a:rPr>
                        <a:t>Studios</a:t>
                      </a:r>
                    </a:p>
                  </a:txBody>
                  <a:tcPr>
                    <a:solidFill>
                      <a:srgbClr val="EAF0FB"/>
                    </a:solidFill>
                  </a:tcPr>
                </a:tc>
                <a:tc>
                  <a:txBody>
                    <a:bodyPr wrap="square"/>
                    <a:lstStyle/>
                    <a:p>
                      <a:pPr algn="r"/>
                      <a:r>
                        <a:rPr sz="900" b="0" i="0">
                          <a:solidFill>
                            <a:srgbClr val="1A1A2E"/>
                          </a:solidFill>
                        </a:rPr>
                        <a:t>$4.2B</a:t>
                      </a:r>
                    </a:p>
                  </a:txBody>
                  <a:tcPr>
                    <a:solidFill>
                      <a:srgbClr val="EAF0FB"/>
                    </a:solidFill>
                  </a:tcPr>
                </a:tc>
                <a:tc>
                  <a:txBody>
                    <a:bodyPr wrap="square"/>
                    <a:lstStyle/>
                    <a:p>
                      <a:pPr algn="r"/>
                      <a:r>
                        <a:rPr sz="900" b="0" i="0">
                          <a:solidFill>
                            <a:srgbClr val="1A1A2E"/>
                          </a:solidFill>
                        </a:rPr>
                        <a:t>$18–22B</a:t>
                      </a:r>
                    </a:p>
                  </a:txBody>
                  <a:tcPr>
                    <a:solidFill>
                      <a:srgbClr val="EAF0FB"/>
                    </a:solidFill>
                  </a:tcPr>
                </a:tc>
                <a:tc>
                  <a:txBody>
                    <a:bodyPr wrap="square"/>
                    <a:lstStyle/>
                    <a:p>
                      <a:pPr algn="l"/>
                      <a:r>
                        <a:rPr sz="900" b="0" i="0">
                          <a:solidFill>
                            <a:srgbClr val="1A1A2E"/>
                          </a:solidFill>
                        </a:rPr>
                        <a:t>Exclusive theatrical pipeline; franchise content</a:t>
                      </a:r>
                    </a:p>
                  </a:txBody>
                  <a:tcPr>
                    <a:solidFill>
                      <a:srgbClr val="EAF0FB"/>
                    </a:solidFill>
                  </a:tcPr>
                </a:tc>
              </a:tr>
              <a:tr h="397763">
                <a:tc>
                  <a:txBody>
                    <a:bodyPr wrap="square"/>
                    <a:lstStyle/>
                    <a:p>
                      <a:pPr algn="l"/>
                      <a:r>
                        <a:rPr sz="900" b="0" i="0">
                          <a:solidFill>
                            <a:srgbClr val="1A1A2E"/>
                          </a:solidFill>
                        </a:rPr>
                        <a:t>DC Comics / DC Films</a:t>
                      </a:r>
                    </a:p>
                  </a:txBody>
                  <a:tcPr/>
                </a:tc>
                <a:tc>
                  <a:txBody>
                    <a:bodyPr wrap="square"/>
                    <a:lstStyle/>
                    <a:p>
                      <a:pPr algn="l"/>
                      <a:r>
                        <a:rPr sz="900" b="0" i="0">
                          <a:solidFill>
                            <a:srgbClr val="1A1A2E"/>
                          </a:solidFill>
                        </a:rPr>
                        <a:t>IP</a:t>
                      </a:r>
                    </a:p>
                  </a:txBody>
                  <a:tcPr/>
                </a:tc>
                <a:tc>
                  <a:txBody>
                    <a:bodyPr wrap="square"/>
                    <a:lstStyle/>
                    <a:p>
                      <a:pPr algn="r"/>
                      <a:r>
                        <a:rPr sz="900" b="0" i="0">
                          <a:solidFill>
                            <a:srgbClr val="1A1A2E"/>
                          </a:solidFill>
                        </a:rPr>
                        <a:t>Included</a:t>
                      </a:r>
                    </a:p>
                  </a:txBody>
                  <a:tcPr/>
                </a:tc>
                <a:tc>
                  <a:txBody>
                    <a:bodyPr wrap="square"/>
                    <a:lstStyle/>
                    <a:p>
                      <a:pPr algn="r"/>
                      <a:r>
                        <a:rPr sz="900" b="0" i="0">
                          <a:solidFill>
                            <a:srgbClr val="1A1A2E"/>
                          </a:solidFill>
                        </a:rPr>
                        <a:t>$8–15B</a:t>
                      </a:r>
                    </a:p>
                  </a:txBody>
                  <a:tcPr/>
                </a:tc>
                <a:tc>
                  <a:txBody>
                    <a:bodyPr wrap="square"/>
                    <a:lstStyle/>
                    <a:p>
                      <a:pPr algn="l"/>
                      <a:r>
                        <a:rPr sz="900" b="0" i="0">
                          <a:solidFill>
                            <a:srgbClr val="1A1A2E"/>
                          </a:solidFill>
                        </a:rPr>
                        <a:t>Superman, Batman, WW; reboot under James Gunn</a:t>
                      </a:r>
                    </a:p>
                  </a:txBody>
                  <a:tcPr/>
                </a:tc>
              </a:tr>
              <a:tr h="397763">
                <a:tc>
                  <a:txBody>
                    <a:bodyPr wrap="square"/>
                    <a:lstStyle/>
                    <a:p>
                      <a:pPr algn="l"/>
                      <a:r>
                        <a:rPr sz="900" b="0" i="0">
                          <a:solidFill>
                            <a:srgbClr val="1A1A2E"/>
                          </a:solidFill>
                        </a:rPr>
                        <a:t>HBO / Max Platform</a:t>
                      </a:r>
                    </a:p>
                  </a:txBody>
                  <a:tcPr>
                    <a:solidFill>
                      <a:srgbClr val="EAF0FB"/>
                    </a:solidFill>
                  </a:tcPr>
                </a:tc>
                <a:tc>
                  <a:txBody>
                    <a:bodyPr wrap="square"/>
                    <a:lstStyle/>
                    <a:p>
                      <a:pPr algn="l"/>
                      <a:r>
                        <a:rPr sz="900" b="0" i="0">
                          <a:solidFill>
                            <a:srgbClr val="1A1A2E"/>
                          </a:solidFill>
                        </a:rPr>
                        <a:t>DTC</a:t>
                      </a:r>
                    </a:p>
                  </a:txBody>
                  <a:tcPr>
                    <a:solidFill>
                      <a:srgbClr val="EAF0FB"/>
                    </a:solidFill>
                  </a:tcPr>
                </a:tc>
                <a:tc>
                  <a:txBody>
                    <a:bodyPr wrap="square"/>
                    <a:lstStyle/>
                    <a:p>
                      <a:pPr algn="r"/>
                      <a:r>
                        <a:rPr sz="900" b="0" i="0">
                          <a:solidFill>
                            <a:srgbClr val="1A1A2E"/>
                          </a:solidFill>
                        </a:rPr>
                        <a:t>$7.7B</a:t>
                      </a:r>
                    </a:p>
                  </a:txBody>
                  <a:tcPr>
                    <a:solidFill>
                      <a:srgbClr val="EAF0FB"/>
                    </a:solidFill>
                  </a:tcPr>
                </a:tc>
                <a:tc>
                  <a:txBody>
                    <a:bodyPr wrap="square"/>
                    <a:lstStyle/>
                    <a:p>
                      <a:pPr algn="r"/>
                      <a:r>
                        <a:rPr sz="900" b="0" i="0">
                          <a:solidFill>
                            <a:srgbClr val="1A1A2E"/>
                          </a:solidFill>
                        </a:rPr>
                        <a:t>$12–18B</a:t>
                      </a:r>
                    </a:p>
                  </a:txBody>
                  <a:tcPr>
                    <a:solidFill>
                      <a:srgbClr val="EAF0FB"/>
                    </a:solidFill>
                  </a:tcPr>
                </a:tc>
                <a:tc>
                  <a:txBody>
                    <a:bodyPr wrap="square"/>
                    <a:lstStyle/>
                    <a:p>
                      <a:pPr algn="l"/>
                      <a:r>
                        <a:rPr sz="900" b="0" i="0">
                          <a:solidFill>
                            <a:srgbClr val="1A1A2E"/>
                          </a:solidFill>
                        </a:rPr>
                        <a:t>Eliminates #2 streaming competitor; 96M subs</a:t>
                      </a:r>
                    </a:p>
                  </a:txBody>
                  <a:tcPr>
                    <a:solidFill>
                      <a:srgbClr val="EAF0FB"/>
                    </a:solidFill>
                  </a:tcPr>
                </a:tc>
              </a:tr>
              <a:tr h="397763">
                <a:tc>
                  <a:txBody>
                    <a:bodyPr wrap="square"/>
                    <a:lstStyle/>
                    <a:p>
                      <a:pPr algn="l"/>
                      <a:r>
                        <a:rPr sz="900" b="0" i="0">
                          <a:solidFill>
                            <a:srgbClr val="1A1A2E"/>
                          </a:solidFill>
                        </a:rPr>
                        <a:t>Harry Potter / Wizarding World</a:t>
                      </a:r>
                    </a:p>
                  </a:txBody>
                  <a:tcPr/>
                </a:tc>
                <a:tc>
                  <a:txBody>
                    <a:bodyPr wrap="square"/>
                    <a:lstStyle/>
                    <a:p>
                      <a:pPr algn="l"/>
                      <a:r>
                        <a:rPr sz="900" b="0" i="0">
                          <a:solidFill>
                            <a:srgbClr val="1A1A2E"/>
                          </a:solidFill>
                        </a:rPr>
                        <a:t>IP</a:t>
                      </a:r>
                    </a:p>
                  </a:txBody>
                  <a:tcPr/>
                </a:tc>
                <a:tc>
                  <a:txBody>
                    <a:bodyPr wrap="square"/>
                    <a:lstStyle/>
                    <a:p>
                      <a:pPr algn="r"/>
                      <a:r>
                        <a:rPr sz="900" b="0" i="0">
                          <a:solidFill>
                            <a:srgbClr val="1A1A2E"/>
                          </a:solidFill>
                        </a:rPr>
                        <a:t>Included</a:t>
                      </a:r>
                    </a:p>
                  </a:txBody>
                  <a:tcPr/>
                </a:tc>
                <a:tc>
                  <a:txBody>
                    <a:bodyPr wrap="square"/>
                    <a:lstStyle/>
                    <a:p>
                      <a:pPr algn="r"/>
                      <a:r>
                        <a:rPr sz="900" b="0" i="0">
                          <a:solidFill>
                            <a:srgbClr val="1A1A2E"/>
                          </a:solidFill>
                        </a:rPr>
                        <a:t>$5–8B</a:t>
                      </a:r>
                    </a:p>
                  </a:txBody>
                  <a:tcPr/>
                </a:tc>
                <a:tc>
                  <a:txBody>
                    <a:bodyPr wrap="square"/>
                    <a:lstStyle/>
                    <a:p>
                      <a:pPr algn="l"/>
                      <a:r>
                        <a:rPr sz="900" b="0" i="0">
                          <a:solidFill>
                            <a:srgbClr val="1A1A2E"/>
                          </a:solidFill>
                        </a:rPr>
                        <a:t>HBO series announced; streaming goldmine</a:t>
                      </a:r>
                    </a:p>
                  </a:txBody>
                  <a:tcPr/>
                </a:tc>
              </a:tr>
              <a:tr h="397763">
                <a:tc>
                  <a:txBody>
                    <a:bodyPr wrap="square"/>
                    <a:lstStyle/>
                    <a:p>
                      <a:pPr algn="l"/>
                      <a:r>
                        <a:rPr sz="900" b="0" i="0">
                          <a:solidFill>
                            <a:srgbClr val="1A1A2E"/>
                          </a:solidFill>
                        </a:rPr>
                        <a:t>CNN / Turner News</a:t>
                      </a:r>
                    </a:p>
                  </a:txBody>
                  <a:tcPr>
                    <a:solidFill>
                      <a:srgbClr val="EAF0FB"/>
                    </a:solidFill>
                  </a:tcPr>
                </a:tc>
                <a:tc>
                  <a:txBody>
                    <a:bodyPr wrap="square"/>
                    <a:lstStyle/>
                    <a:p>
                      <a:pPr algn="l"/>
                      <a:r>
                        <a:rPr sz="900" b="0" i="0">
                          <a:solidFill>
                            <a:srgbClr val="1A1A2E"/>
                          </a:solidFill>
                        </a:rPr>
                        <a:t>Networks</a:t>
                      </a:r>
                    </a:p>
                  </a:txBody>
                  <a:tcPr>
                    <a:solidFill>
                      <a:srgbClr val="EAF0FB"/>
                    </a:solidFill>
                  </a:tcPr>
                </a:tc>
                <a:tc>
                  <a:txBody>
                    <a:bodyPr wrap="square"/>
                    <a:lstStyle/>
                    <a:p>
                      <a:pPr algn="r"/>
                      <a:r>
                        <a:rPr sz="900" b="0" i="0">
                          <a:solidFill>
                            <a:srgbClr val="1A1A2E"/>
                          </a:solidFill>
                        </a:rPr>
                        <a:t>$3.5B</a:t>
                      </a:r>
                    </a:p>
                  </a:txBody>
                  <a:tcPr>
                    <a:solidFill>
                      <a:srgbClr val="EAF0FB"/>
                    </a:solidFill>
                  </a:tcPr>
                </a:tc>
                <a:tc>
                  <a:txBody>
                    <a:bodyPr wrap="square"/>
                    <a:lstStyle/>
                    <a:p>
                      <a:pPr algn="r"/>
                      <a:r>
                        <a:rPr sz="900" b="0" i="0">
                          <a:solidFill>
                            <a:srgbClr val="1A1A2E"/>
                          </a:solidFill>
                        </a:rPr>
                        <a:t>$4–6B</a:t>
                      </a:r>
                    </a:p>
                  </a:txBody>
                  <a:tcPr>
                    <a:solidFill>
                      <a:srgbClr val="EAF0FB"/>
                    </a:solidFill>
                  </a:tcPr>
                </a:tc>
                <a:tc>
                  <a:txBody>
                    <a:bodyPr wrap="square"/>
                    <a:lstStyle/>
                    <a:p>
                      <a:pPr algn="l"/>
                      <a:r>
                        <a:rPr sz="900" b="0" i="0">
                          <a:solidFill>
                            <a:srgbClr val="1A1A2E"/>
                          </a:solidFill>
                        </a:rPr>
                        <a:t>News content + live programming capability</a:t>
                      </a:r>
                    </a:p>
                  </a:txBody>
                  <a:tcPr>
                    <a:solidFill>
                      <a:srgbClr val="EAF0FB"/>
                    </a:solidFill>
                  </a:tcPr>
                </a:tc>
              </a:tr>
              <a:tr h="397763">
                <a:tc>
                  <a:txBody>
                    <a:bodyPr wrap="square"/>
                    <a:lstStyle/>
                    <a:p>
                      <a:pPr algn="l"/>
                      <a:r>
                        <a:rPr sz="900" b="0" i="0">
                          <a:solidFill>
                            <a:srgbClr val="1A1A2E"/>
                          </a:solidFill>
                        </a:rPr>
                        <a:t>TNT / TBS / Cartoon Network</a:t>
                      </a:r>
                    </a:p>
                  </a:txBody>
                  <a:tcPr/>
                </a:tc>
                <a:tc>
                  <a:txBody>
                    <a:bodyPr wrap="square"/>
                    <a:lstStyle/>
                    <a:p>
                      <a:pPr algn="l"/>
                      <a:r>
                        <a:rPr sz="900" b="0" i="0">
                          <a:solidFill>
                            <a:srgbClr val="1A1A2E"/>
                          </a:solidFill>
                        </a:rPr>
                        <a:t>Networks</a:t>
                      </a:r>
                    </a:p>
                  </a:txBody>
                  <a:tcPr/>
                </a:tc>
                <a:tc>
                  <a:txBody>
                    <a:bodyPr wrap="square"/>
                    <a:lstStyle/>
                    <a:p>
                      <a:pPr algn="r"/>
                      <a:r>
                        <a:rPr sz="900" b="0" i="0">
                          <a:solidFill>
                            <a:srgbClr val="1A1A2E"/>
                          </a:solidFill>
                        </a:rPr>
                        <a:t>$7.2B</a:t>
                      </a:r>
                    </a:p>
                  </a:txBody>
                  <a:tcPr/>
                </a:tc>
                <a:tc>
                  <a:txBody>
                    <a:bodyPr wrap="square"/>
                    <a:lstStyle/>
                    <a:p>
                      <a:pPr algn="r"/>
                      <a:r>
                        <a:rPr sz="900" b="0" i="0">
                          <a:solidFill>
                            <a:srgbClr val="1A1A2E"/>
                          </a:solidFill>
                        </a:rPr>
                        <a:t>$5–8B</a:t>
                      </a:r>
                    </a:p>
                  </a:txBody>
                  <a:tcPr/>
                </a:tc>
                <a:tc>
                  <a:txBody>
                    <a:bodyPr wrap="square"/>
                    <a:lstStyle/>
                    <a:p>
                      <a:pPr algn="l"/>
                      <a:r>
                        <a:rPr sz="900" b="0" i="0">
                          <a:solidFill>
                            <a:srgbClr val="1A1A2E"/>
                          </a:solidFill>
                        </a:rPr>
                        <a:t>Sports: March Madness (–2032) + MLB + NHL</a:t>
                      </a:r>
                    </a:p>
                  </a:txBody>
                  <a:tcPr/>
                </a:tc>
              </a:tr>
              <a:tr h="397763">
                <a:tc>
                  <a:txBody>
                    <a:bodyPr wrap="square"/>
                    <a:lstStyle/>
                    <a:p>
                      <a:pPr algn="l"/>
                      <a:r>
                        <a:rPr sz="900" b="0" i="0">
                          <a:solidFill>
                            <a:srgbClr val="1A1A2E"/>
                          </a:solidFill>
                        </a:rPr>
                        <a:t>Discovery / HGTV / Food / TLC</a:t>
                      </a:r>
                    </a:p>
                  </a:txBody>
                  <a:tcPr>
                    <a:solidFill>
                      <a:srgbClr val="EAF0FB"/>
                    </a:solidFill>
                  </a:tcPr>
                </a:tc>
                <a:tc>
                  <a:txBody>
                    <a:bodyPr wrap="square"/>
                    <a:lstStyle/>
                    <a:p>
                      <a:pPr algn="l"/>
                      <a:r>
                        <a:rPr sz="900" b="0" i="0">
                          <a:solidFill>
                            <a:srgbClr val="1A1A2E"/>
                          </a:solidFill>
                        </a:rPr>
                        <a:t>Networks</a:t>
                      </a:r>
                    </a:p>
                  </a:txBody>
                  <a:tcPr>
                    <a:solidFill>
                      <a:srgbClr val="EAF0FB"/>
                    </a:solidFill>
                  </a:tcPr>
                </a:tc>
                <a:tc>
                  <a:txBody>
                    <a:bodyPr wrap="square"/>
                    <a:lstStyle/>
                    <a:p>
                      <a:pPr algn="r"/>
                      <a:r>
                        <a:rPr sz="900" b="0" i="0">
                          <a:solidFill>
                            <a:srgbClr val="1A1A2E"/>
                          </a:solidFill>
                        </a:rPr>
                        <a:t>$6.1B</a:t>
                      </a:r>
                    </a:p>
                  </a:txBody>
                  <a:tcPr>
                    <a:solidFill>
                      <a:srgbClr val="EAF0FB"/>
                    </a:solidFill>
                  </a:tcPr>
                </a:tc>
                <a:tc>
                  <a:txBody>
                    <a:bodyPr wrap="square"/>
                    <a:lstStyle/>
                    <a:p>
                      <a:pPr algn="r"/>
                      <a:r>
                        <a:rPr sz="900" b="0" i="0">
                          <a:solidFill>
                            <a:srgbClr val="1A1A2E"/>
                          </a:solidFill>
                        </a:rPr>
                        <a:t>$6–9B</a:t>
                      </a:r>
                    </a:p>
                  </a:txBody>
                  <a:tcPr>
                    <a:solidFill>
                      <a:srgbClr val="EAF0FB"/>
                    </a:solidFill>
                  </a:tcPr>
                </a:tc>
                <a:tc>
                  <a:txBody>
                    <a:bodyPr wrap="square"/>
                    <a:lstStyle/>
                    <a:p>
                      <a:pPr algn="l"/>
                      <a:r>
                        <a:rPr sz="900" b="0" i="0">
                          <a:solidFill>
                            <a:srgbClr val="1A1A2E"/>
                          </a:solidFill>
                        </a:rPr>
                        <a:t>Unscripted/reality: highest margin content</a:t>
                      </a:r>
                    </a:p>
                  </a:txBody>
                  <a:tcPr>
                    <a:solidFill>
                      <a:srgbClr val="EAF0FB"/>
                    </a:solidFill>
                  </a:tcPr>
                </a:tc>
              </a:tr>
              <a:tr h="397763">
                <a:tc>
                  <a:txBody>
                    <a:bodyPr wrap="square"/>
                    <a:lstStyle/>
                    <a:p>
                      <a:pPr algn="l"/>
                      <a:r>
                        <a:rPr sz="900" b="0" i="0">
                          <a:solidFill>
                            <a:srgbClr val="1A1A2E"/>
                          </a:solidFill>
                        </a:rPr>
                        <a:t>Game of Thrones / Lord of Rings</a:t>
                      </a:r>
                    </a:p>
                  </a:txBody>
                  <a:tcPr/>
                </a:tc>
                <a:tc>
                  <a:txBody>
                    <a:bodyPr wrap="square"/>
                    <a:lstStyle/>
                    <a:p>
                      <a:pPr algn="l"/>
                      <a:r>
                        <a:rPr sz="900" b="0" i="0">
                          <a:solidFill>
                            <a:srgbClr val="1A1A2E"/>
                          </a:solidFill>
                        </a:rPr>
                        <a:t>IP</a:t>
                      </a:r>
                    </a:p>
                  </a:txBody>
                  <a:tcPr/>
                </a:tc>
                <a:tc>
                  <a:txBody>
                    <a:bodyPr wrap="square"/>
                    <a:lstStyle/>
                    <a:p>
                      <a:pPr algn="r"/>
                      <a:r>
                        <a:rPr sz="900" b="0" i="0">
                          <a:solidFill>
                            <a:srgbClr val="1A1A2E"/>
                          </a:solidFill>
                        </a:rPr>
                        <a:t>Included</a:t>
                      </a:r>
                    </a:p>
                  </a:txBody>
                  <a:tcPr/>
                </a:tc>
                <a:tc>
                  <a:txBody>
                    <a:bodyPr wrap="square"/>
                    <a:lstStyle/>
                    <a:p>
                      <a:pPr algn="r"/>
                      <a:r>
                        <a:rPr sz="900" b="0" i="0">
                          <a:solidFill>
                            <a:srgbClr val="1A1A2E"/>
                          </a:solidFill>
                        </a:rPr>
                        <a:t>$4–7B</a:t>
                      </a:r>
                    </a:p>
                  </a:txBody>
                  <a:tcPr/>
                </a:tc>
                <a:tc>
                  <a:txBody>
                    <a:bodyPr wrap="square"/>
                    <a:lstStyle/>
                    <a:p>
                      <a:pPr algn="l"/>
                      <a:r>
                        <a:rPr sz="900" b="0" i="0">
                          <a:solidFill>
                            <a:srgbClr val="1A1A2E"/>
                          </a:solidFill>
                        </a:rPr>
                        <a:t>Highest-performing IP in Netflix history (if licensed)</a:t>
                      </a:r>
                    </a:p>
                  </a:txBody>
                  <a:tcPr/>
                </a:tc>
              </a:tr>
              <a:tr h="397772">
                <a:tc>
                  <a:txBody>
                    <a:bodyPr wrap="square"/>
                    <a:lstStyle/>
                    <a:p>
                      <a:pPr algn="l"/>
                      <a:r>
                        <a:rPr sz="900" b="1" i="0">
                          <a:solidFill>
                            <a:srgbClr val="FFFFFF"/>
                          </a:solidFill>
                        </a:rPr>
                        <a:t>Total (Illustrative Range)</a:t>
                      </a:r>
                    </a:p>
                  </a:txBody>
                  <a:tcPr>
                    <a:solidFill>
                      <a:srgbClr val="0F2044"/>
                    </a:solidFill>
                  </a:tcPr>
                </a:tc>
                <a:tc>
                  <a:txBody>
                    <a:bodyPr wrap="square"/>
                    <a:lstStyle/>
                    <a:p>
                      <a:pPr algn="l"/>
                      <a:r>
                        <a:rPr sz="900" b="1" i="0">
                          <a:solidFill>
                            <a:srgbClr val="FFFFFF"/>
                          </a:solidFill>
                        </a:rPr>
                        <a:t>All</a:t>
                      </a:r>
                    </a:p>
                  </a:txBody>
                  <a:tcPr>
                    <a:solidFill>
                      <a:srgbClr val="0F2044"/>
                    </a:solidFill>
                  </a:tcPr>
                </a:tc>
                <a:tc>
                  <a:txBody>
                    <a:bodyPr wrap="square"/>
                    <a:lstStyle/>
                    <a:p>
                      <a:pPr algn="r"/>
                      <a:r>
                        <a:rPr sz="900" b="1" i="0">
                          <a:solidFill>
                            <a:srgbClr val="FFFFFF"/>
                          </a:solidFill>
                        </a:rPr>
                        <a:t>$39.3B</a:t>
                      </a:r>
                    </a:p>
                  </a:txBody>
                  <a:tcPr>
                    <a:solidFill>
                      <a:srgbClr val="0F2044"/>
                    </a:solidFill>
                  </a:tcPr>
                </a:tc>
                <a:tc>
                  <a:txBody>
                    <a:bodyPr wrap="square"/>
                    <a:lstStyle/>
                    <a:p>
                      <a:pPr algn="r"/>
                      <a:r>
                        <a:rPr sz="900" b="1" i="0">
                          <a:solidFill>
                            <a:srgbClr val="FFFFFF"/>
                          </a:solidFill>
                        </a:rPr>
                        <a:t>$62–93B</a:t>
                      </a:r>
                    </a:p>
                  </a:txBody>
                  <a:tcPr>
                    <a:solidFill>
                      <a:srgbClr val="0F2044"/>
                    </a:solidFill>
                  </a:tcPr>
                </a:tc>
                <a:tc>
                  <a:txBody>
                    <a:bodyPr wrap="square"/>
                    <a:lstStyle/>
                    <a:p>
                      <a:pPr algn="l"/>
                      <a:r>
                        <a:rPr sz="900" b="1" i="0">
                          <a:solidFill>
                            <a:srgbClr val="FFFFFF"/>
                          </a:solidFill>
                        </a:rPr>
                        <a:t>vs. current EV of $44.5B — clear value gap</a:t>
                      </a:r>
                    </a:p>
                  </a:txBody>
                  <a:tcPr>
                    <a:solidFill>
                      <a:srgbClr val="0F2044"/>
                    </a:solidFill>
                  </a:tcPr>
                </a:tc>
              </a:tr>
            </a:tbl>
          </a:graphicData>
        </a:graphic>
      </p:graphicFrame>
      <p:sp>
        <p:nvSpPr>
          <p:cNvPr id="8" name="Rectangle 7"/>
          <p:cNvSpPr/>
          <p:nvPr/>
        </p:nvSpPr>
        <p:spPr>
          <a:xfrm>
            <a:off x="320040" y="5623560"/>
            <a:ext cx="11548872" cy="621792"/>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5623560"/>
            <a:ext cx="109728" cy="6217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669280"/>
            <a:ext cx="11247120" cy="530352"/>
          </a:xfrm>
          <a:prstGeom prst="rect">
            <a:avLst/>
          </a:prstGeom>
          <a:noFill/>
        </p:spPr>
        <p:txBody>
          <a:bodyPr wrap="square">
            <a:spAutoFit/>
          </a:bodyPr>
          <a:lstStyle/>
          <a:p>
            <a:pPr algn="l"/>
            <a:r>
              <a:rPr sz="1050" b="0" i="0">
                <a:solidFill>
                  <a:srgbClr val="1A1A2E"/>
                </a:solidFill>
              </a:rPr>
              <a:t>Key Insight: WBD's sum-of-the-parts asset value ($62–93B) substantially exceeds its current enterprise value of $44.5B. Netflix would acquire these assets at a material discount to intrinsic value by leveraging WBD's distressed balance sheet.</a:t>
            </a:r>
          </a:p>
        </p:txBody>
      </p:sp>
      <p:sp>
        <p:nvSpPr>
          <p:cNvPr id="11" name="Rectangle 10"/>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Asset values are Financial Advisor estimates based on comparable transactions and trading multiples. Not a guarantee of future value. For illustrative purposes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Strategic Rationale — Five Pillars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Why Netflix + WBD Creates an Unassailable Entertainment Platform</a:t>
            </a:r>
          </a:p>
        </p:txBody>
      </p:sp>
      <p:sp>
        <p:nvSpPr>
          <p:cNvPr id="6" name="Rectangle 5"/>
          <p:cNvSpPr/>
          <p:nvPr/>
        </p:nvSpPr>
        <p:spPr>
          <a:xfrm>
            <a:off x="320040" y="1207008"/>
            <a:ext cx="2240280" cy="50292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234440"/>
            <a:ext cx="2240280" cy="594360"/>
          </a:xfrm>
          <a:prstGeom prst="rect">
            <a:avLst/>
          </a:prstGeom>
          <a:noFill/>
        </p:spPr>
        <p:txBody>
          <a:bodyPr wrap="square">
            <a:spAutoFit/>
          </a:bodyPr>
          <a:lstStyle/>
          <a:p>
            <a:pPr algn="ctr"/>
            <a:r>
              <a:rPr sz="2800" b="1" i="0">
                <a:solidFill>
                  <a:srgbClr val="FFFFFF"/>
                </a:solidFill>
              </a:rPr>
              <a:t>I</a:t>
            </a:r>
          </a:p>
        </p:txBody>
      </p:sp>
      <p:sp>
        <p:nvSpPr>
          <p:cNvPr id="8" name="TextBox 7"/>
          <p:cNvSpPr txBox="1"/>
          <p:nvPr/>
        </p:nvSpPr>
        <p:spPr>
          <a:xfrm>
            <a:off x="411479" y="1783080"/>
            <a:ext cx="2057400" cy="658368"/>
          </a:xfrm>
          <a:prstGeom prst="rect">
            <a:avLst/>
          </a:prstGeom>
          <a:noFill/>
        </p:spPr>
        <p:txBody>
          <a:bodyPr wrap="square">
            <a:spAutoFit/>
          </a:bodyPr>
          <a:lstStyle/>
          <a:p>
            <a:pPr algn="ctr"/>
            <a:r>
              <a:rPr sz="1200" b="1" i="0">
                <a:solidFill>
                  <a:srgbClr val="FFFFFF"/>
                </a:solidFill>
              </a:rPr>
              <a:t>Content Scale &amp;
Library Depth</a:t>
            </a:r>
          </a:p>
        </p:txBody>
      </p:sp>
      <p:sp>
        <p:nvSpPr>
          <p:cNvPr id="9" name="Rectangle 8"/>
          <p:cNvSpPr/>
          <p:nvPr/>
        </p:nvSpPr>
        <p:spPr>
          <a:xfrm>
            <a:off x="411479" y="2487168"/>
            <a:ext cx="2057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2578608"/>
            <a:ext cx="2084831" cy="3566160"/>
          </a:xfrm>
          <a:prstGeom prst="rect">
            <a:avLst/>
          </a:prstGeom>
          <a:noFill/>
        </p:spPr>
        <p:txBody>
          <a:bodyPr wrap="square">
            <a:spAutoFit/>
          </a:bodyPr>
          <a:lstStyle/>
          <a:p>
            <a:pPr algn="l"/>
            <a:r>
              <a:rPr sz="950" b="0" i="0">
                <a:solidFill>
                  <a:srgbClr val="FFFFFF"/>
                </a:solidFill>
              </a:rPr>
              <a:t>• 100,000+ hours of premium content acquired at near-zero marginal cost
• HBO's 25-year prestige library (Sopranos, Wire, Game of Thrones)
• Warner Bros. theatrical titles: 30+ blockbusters/yr enter Netflix catalogue
• Content CPM drops 40–60% when library amortized across 400M+ subs
• Eliminates $3–5B/yr in content spend duplicating WBD originals</a:t>
            </a:r>
          </a:p>
        </p:txBody>
      </p:sp>
      <p:sp>
        <p:nvSpPr>
          <p:cNvPr id="11" name="Rectangle 10"/>
          <p:cNvSpPr/>
          <p:nvPr/>
        </p:nvSpPr>
        <p:spPr>
          <a:xfrm>
            <a:off x="2688336" y="1207008"/>
            <a:ext cx="2240280" cy="502920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88336" y="1234440"/>
            <a:ext cx="2240280" cy="594360"/>
          </a:xfrm>
          <a:prstGeom prst="rect">
            <a:avLst/>
          </a:prstGeom>
          <a:noFill/>
        </p:spPr>
        <p:txBody>
          <a:bodyPr wrap="square">
            <a:spAutoFit/>
          </a:bodyPr>
          <a:lstStyle/>
          <a:p>
            <a:pPr algn="ctr"/>
            <a:r>
              <a:rPr sz="2800" b="1" i="0">
                <a:solidFill>
                  <a:srgbClr val="FFFFFF"/>
                </a:solidFill>
              </a:rPr>
              <a:t>II</a:t>
            </a:r>
          </a:p>
        </p:txBody>
      </p:sp>
      <p:sp>
        <p:nvSpPr>
          <p:cNvPr id="13" name="TextBox 12"/>
          <p:cNvSpPr txBox="1"/>
          <p:nvPr/>
        </p:nvSpPr>
        <p:spPr>
          <a:xfrm>
            <a:off x="2779776" y="1783080"/>
            <a:ext cx="2057400" cy="658368"/>
          </a:xfrm>
          <a:prstGeom prst="rect">
            <a:avLst/>
          </a:prstGeom>
          <a:noFill/>
        </p:spPr>
        <p:txBody>
          <a:bodyPr wrap="square">
            <a:spAutoFit/>
          </a:bodyPr>
          <a:lstStyle/>
          <a:p>
            <a:pPr algn="ctr"/>
            <a:r>
              <a:rPr sz="1200" b="1" i="0">
                <a:solidFill>
                  <a:srgbClr val="FFFFFF"/>
                </a:solidFill>
              </a:rPr>
              <a:t>IP Franchise
Machinery</a:t>
            </a:r>
          </a:p>
        </p:txBody>
      </p:sp>
      <p:sp>
        <p:nvSpPr>
          <p:cNvPr id="14" name="Rectangle 13"/>
          <p:cNvSpPr/>
          <p:nvPr/>
        </p:nvSpPr>
        <p:spPr>
          <a:xfrm>
            <a:off x="2779776" y="2487168"/>
            <a:ext cx="2057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79776" y="2578608"/>
            <a:ext cx="2084831" cy="3566160"/>
          </a:xfrm>
          <a:prstGeom prst="rect">
            <a:avLst/>
          </a:prstGeom>
          <a:noFill/>
        </p:spPr>
        <p:txBody>
          <a:bodyPr wrap="square">
            <a:spAutoFit/>
          </a:bodyPr>
          <a:lstStyle/>
          <a:p>
            <a:pPr algn="l"/>
            <a:r>
              <a:rPr sz="950" b="0" i="0">
                <a:solidFill>
                  <a:srgbClr val="FFFFFF"/>
                </a:solidFill>
              </a:rPr>
              <a:t>• DC Universe: 20+ hero franchises; James Gunn DCU reboot (2025–2028)
• Harry Potter: HBO series + 4 Fantastic Beasts films in pipeline
• Lord of the Rings / Hobbit: Amazon competing for same eyeballs
• Looney Tunes, Tom &amp; Jerry: family animation library
• IP creates 5–10yr content roadmaps with built-in global fanbases</a:t>
            </a:r>
          </a:p>
        </p:txBody>
      </p:sp>
      <p:sp>
        <p:nvSpPr>
          <p:cNvPr id="16" name="Rectangle 15"/>
          <p:cNvSpPr/>
          <p:nvPr/>
        </p:nvSpPr>
        <p:spPr>
          <a:xfrm>
            <a:off x="5056631" y="1207008"/>
            <a:ext cx="2240280" cy="50292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6631" y="1234440"/>
            <a:ext cx="2240280" cy="594360"/>
          </a:xfrm>
          <a:prstGeom prst="rect">
            <a:avLst/>
          </a:prstGeom>
          <a:noFill/>
        </p:spPr>
        <p:txBody>
          <a:bodyPr wrap="square">
            <a:spAutoFit/>
          </a:bodyPr>
          <a:lstStyle/>
          <a:p>
            <a:pPr algn="ctr"/>
            <a:r>
              <a:rPr sz="2800" b="1" i="0">
                <a:solidFill>
                  <a:srgbClr val="FFFFFF"/>
                </a:solidFill>
              </a:rPr>
              <a:t>III</a:t>
            </a:r>
          </a:p>
        </p:txBody>
      </p:sp>
      <p:sp>
        <p:nvSpPr>
          <p:cNvPr id="18" name="TextBox 17"/>
          <p:cNvSpPr txBox="1"/>
          <p:nvPr/>
        </p:nvSpPr>
        <p:spPr>
          <a:xfrm>
            <a:off x="5148071" y="1783080"/>
            <a:ext cx="2057400" cy="658368"/>
          </a:xfrm>
          <a:prstGeom prst="rect">
            <a:avLst/>
          </a:prstGeom>
          <a:noFill/>
        </p:spPr>
        <p:txBody>
          <a:bodyPr wrap="square">
            <a:spAutoFit/>
          </a:bodyPr>
          <a:lstStyle/>
          <a:p>
            <a:pPr algn="ctr"/>
            <a:r>
              <a:rPr sz="1200" b="1" i="0">
                <a:solidFill>
                  <a:srgbClr val="FFFFFF"/>
                </a:solidFill>
              </a:rPr>
              <a:t>Subscriber Base &amp;
Market Position</a:t>
            </a:r>
          </a:p>
        </p:txBody>
      </p:sp>
      <p:sp>
        <p:nvSpPr>
          <p:cNvPr id="19" name="Rectangle 18"/>
          <p:cNvSpPr/>
          <p:nvPr/>
        </p:nvSpPr>
        <p:spPr>
          <a:xfrm>
            <a:off x="5148071" y="2487168"/>
            <a:ext cx="2057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48071" y="2578608"/>
            <a:ext cx="2084831" cy="3566160"/>
          </a:xfrm>
          <a:prstGeom prst="rect">
            <a:avLst/>
          </a:prstGeom>
          <a:noFill/>
        </p:spPr>
        <p:txBody>
          <a:bodyPr wrap="square">
            <a:spAutoFit/>
          </a:bodyPr>
          <a:lstStyle/>
          <a:p>
            <a:pPr algn="l"/>
            <a:r>
              <a:rPr sz="950" b="0" i="0">
                <a:solidFill>
                  <a:srgbClr val="FFFFFF"/>
                </a:solidFill>
              </a:rPr>
              <a:t>• Combined: 397M paid subs (Netflix 301M + Max 96M) — #1 globally by wide margin
• Eliminates Max as primary subscriber acquisition competitor
• Ad-tier cross-sell: Max $9.99 ad subs → Netflix $6.99 plan migration
• Retention improvement: Combined library reduces churn by est. 0.5–1.0pp/mo
• Bundle pricing power: $15–18/mo single streaming service</a:t>
            </a:r>
          </a:p>
        </p:txBody>
      </p:sp>
      <p:sp>
        <p:nvSpPr>
          <p:cNvPr id="21" name="Rectangle 20"/>
          <p:cNvSpPr/>
          <p:nvPr/>
        </p:nvSpPr>
        <p:spPr>
          <a:xfrm>
            <a:off x="7424927" y="1207008"/>
            <a:ext cx="2240280" cy="5029200"/>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4927" y="1234440"/>
            <a:ext cx="2240280" cy="594360"/>
          </a:xfrm>
          <a:prstGeom prst="rect">
            <a:avLst/>
          </a:prstGeom>
          <a:noFill/>
        </p:spPr>
        <p:txBody>
          <a:bodyPr wrap="square">
            <a:spAutoFit/>
          </a:bodyPr>
          <a:lstStyle/>
          <a:p>
            <a:pPr algn="ctr"/>
            <a:r>
              <a:rPr sz="2800" b="1" i="0">
                <a:solidFill>
                  <a:srgbClr val="FFFFFF"/>
                </a:solidFill>
              </a:rPr>
              <a:t>IV</a:t>
            </a:r>
          </a:p>
        </p:txBody>
      </p:sp>
      <p:sp>
        <p:nvSpPr>
          <p:cNvPr id="23" name="TextBox 22"/>
          <p:cNvSpPr txBox="1"/>
          <p:nvPr/>
        </p:nvSpPr>
        <p:spPr>
          <a:xfrm>
            <a:off x="7516367" y="1783080"/>
            <a:ext cx="2057400" cy="658368"/>
          </a:xfrm>
          <a:prstGeom prst="rect">
            <a:avLst/>
          </a:prstGeom>
          <a:noFill/>
        </p:spPr>
        <p:txBody>
          <a:bodyPr wrap="square">
            <a:spAutoFit/>
          </a:bodyPr>
          <a:lstStyle/>
          <a:p>
            <a:pPr algn="ctr"/>
            <a:r>
              <a:rPr sz="1200" b="1" i="0">
                <a:solidFill>
                  <a:srgbClr val="FFFFFF"/>
                </a:solidFill>
              </a:rPr>
              <a:t>Sports Rights &amp;
Live Content</a:t>
            </a:r>
          </a:p>
        </p:txBody>
      </p:sp>
      <p:sp>
        <p:nvSpPr>
          <p:cNvPr id="24" name="Rectangle 23"/>
          <p:cNvSpPr/>
          <p:nvPr/>
        </p:nvSpPr>
        <p:spPr>
          <a:xfrm>
            <a:off x="7516367" y="2487168"/>
            <a:ext cx="2057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6367" y="2578608"/>
            <a:ext cx="2084831" cy="3566160"/>
          </a:xfrm>
          <a:prstGeom prst="rect">
            <a:avLst/>
          </a:prstGeom>
          <a:noFill/>
        </p:spPr>
        <p:txBody>
          <a:bodyPr wrap="square">
            <a:spAutoFit/>
          </a:bodyPr>
          <a:lstStyle/>
          <a:p>
            <a:pPr algn="l"/>
            <a:r>
              <a:rPr sz="950" b="0" i="0">
                <a:solidFill>
                  <a:srgbClr val="FFFFFF"/>
                </a:solidFill>
              </a:rPr>
              <a:t>• March Madness (NCAA): 68-game tournament; contract through 2032
• MLB: Sunday/Wednesday games + playoffs through 2028
• NHL: Stanley Cup Playoffs + regular season through 2028
• Live sports = best-in-class churn reducer and ad-tier driver
• Netflix already exploring sports (NFL, Formula 1); WBD accelerates roadmap</a:t>
            </a:r>
          </a:p>
        </p:txBody>
      </p:sp>
      <p:sp>
        <p:nvSpPr>
          <p:cNvPr id="26" name="Rectangle 25"/>
          <p:cNvSpPr/>
          <p:nvPr/>
        </p:nvSpPr>
        <p:spPr>
          <a:xfrm>
            <a:off x="9793224" y="1207008"/>
            <a:ext cx="2240280" cy="502920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93224" y="1234440"/>
            <a:ext cx="2240280" cy="594360"/>
          </a:xfrm>
          <a:prstGeom prst="rect">
            <a:avLst/>
          </a:prstGeom>
          <a:noFill/>
        </p:spPr>
        <p:txBody>
          <a:bodyPr wrap="square">
            <a:spAutoFit/>
          </a:bodyPr>
          <a:lstStyle/>
          <a:p>
            <a:pPr algn="ctr"/>
            <a:r>
              <a:rPr sz="2800" b="1" i="0">
                <a:solidFill>
                  <a:srgbClr val="FFFFFF"/>
                </a:solidFill>
              </a:rPr>
              <a:t>V</a:t>
            </a:r>
          </a:p>
        </p:txBody>
      </p:sp>
      <p:sp>
        <p:nvSpPr>
          <p:cNvPr id="28" name="TextBox 27"/>
          <p:cNvSpPr txBox="1"/>
          <p:nvPr/>
        </p:nvSpPr>
        <p:spPr>
          <a:xfrm>
            <a:off x="9884663" y="1783080"/>
            <a:ext cx="2057400" cy="658368"/>
          </a:xfrm>
          <a:prstGeom prst="rect">
            <a:avLst/>
          </a:prstGeom>
          <a:noFill/>
        </p:spPr>
        <p:txBody>
          <a:bodyPr wrap="square">
            <a:spAutoFit/>
          </a:bodyPr>
          <a:lstStyle/>
          <a:p>
            <a:pPr algn="ctr"/>
            <a:r>
              <a:rPr sz="1200" b="1" i="0">
                <a:solidFill>
                  <a:srgbClr val="FFFFFF"/>
                </a:solidFill>
              </a:rPr>
              <a:t>Global Distribution
&amp; Studio Scale</a:t>
            </a:r>
          </a:p>
        </p:txBody>
      </p:sp>
      <p:sp>
        <p:nvSpPr>
          <p:cNvPr id="29" name="Rectangle 28"/>
          <p:cNvSpPr/>
          <p:nvPr/>
        </p:nvSpPr>
        <p:spPr>
          <a:xfrm>
            <a:off x="9884663" y="2487168"/>
            <a:ext cx="2057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4663" y="2578608"/>
            <a:ext cx="2084831" cy="3566160"/>
          </a:xfrm>
          <a:prstGeom prst="rect">
            <a:avLst/>
          </a:prstGeom>
          <a:noFill/>
        </p:spPr>
        <p:txBody>
          <a:bodyPr wrap="square">
            <a:spAutoFit/>
          </a:bodyPr>
          <a:lstStyle/>
          <a:p>
            <a:pPr algn="l"/>
            <a:r>
              <a:rPr sz="950" b="0" i="0">
                <a:solidFill>
                  <a:srgbClr val="FFFFFF"/>
                </a:solidFill>
              </a:rPr>
              <a:t>• Warner Bros. theatrical: global marketing machine for Netflix IP
• Day-and-date or short theatrical window → Netflix streaming
• Discovery's 220-country distribution footprint
• WBD consumer products / licensing: $1B+ incremental revenue
• Combined studio provides Netflix full vertical integration</a:t>
            </a:r>
          </a:p>
        </p:txBody>
      </p:sp>
      <p:sp>
        <p:nvSpPr>
          <p:cNvPr id="31" name="Rectangle 30"/>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Financial Advisor analysis. Sports rights contracts sourced from public filings. Subscriber data: Netflix Q1 2025; WBD Q4 2024 Earnings Supplements.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Content Library &amp; IP Value — Deep Dive</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Quantifying the Strategic Value of WBD's Irreplaceable Content Assets</a:t>
            </a:r>
          </a:p>
        </p:txBody>
      </p:sp>
      <p:sp>
        <p:nvSpPr>
          <p:cNvPr id="6" name="TextBox 5"/>
          <p:cNvSpPr txBox="1"/>
          <p:nvPr/>
        </p:nvSpPr>
        <p:spPr>
          <a:xfrm>
            <a:off x="320040" y="1170432"/>
            <a:ext cx="7406640" cy="347472"/>
          </a:xfrm>
          <a:prstGeom prst="rect">
            <a:avLst/>
          </a:prstGeom>
          <a:noFill/>
        </p:spPr>
        <p:txBody>
          <a:bodyPr wrap="square">
            <a:spAutoFit/>
          </a:bodyPr>
          <a:lstStyle/>
          <a:p>
            <a:pPr algn="l"/>
            <a:r>
              <a:rPr sz="1200" b="1" i="0">
                <a:solidFill>
                  <a:srgbClr val="1A1A2E"/>
                </a:solidFill>
              </a:rPr>
              <a:t>Comparable Content Library Transactions</a:t>
            </a:r>
          </a:p>
        </p:txBody>
      </p:sp>
      <p:graphicFrame>
        <p:nvGraphicFramePr>
          <p:cNvPr id="7" name="Table 6"/>
          <p:cNvGraphicFramePr>
            <a:graphicFrameLocks noGrp="1"/>
          </p:cNvGraphicFramePr>
          <p:nvPr/>
        </p:nvGraphicFramePr>
        <p:xfrm>
          <a:off x="320040" y="1554480"/>
          <a:ext cx="7406640" cy="2743200"/>
        </p:xfrm>
        <a:graphic>
          <a:graphicData uri="http://schemas.openxmlformats.org/drawingml/2006/table">
            <a:tbl>
              <a:tblPr firstRow="1" bandRow="1">
                <a:tableStyleId>{5C22544A-7EE6-4342-B048-85BDC9FD1C3A}</a:tableStyleId>
              </a:tblPr>
              <a:tblGrid>
                <a:gridCol w="1481328"/>
                <a:gridCol w="1481328"/>
                <a:gridCol w="1481328"/>
                <a:gridCol w="1481328"/>
                <a:gridCol w="1481328"/>
              </a:tblGrid>
              <a:tr h="391885">
                <a:tc>
                  <a:txBody>
                    <a:bodyPr wrap="square"/>
                    <a:lstStyle/>
                    <a:p>
                      <a:pPr algn="ctr"/>
                      <a:r>
                        <a:rPr sz="950" b="1" i="0">
                          <a:solidFill>
                            <a:srgbClr val="FFFFFF"/>
                          </a:solidFill>
                        </a:rPr>
                        <a:t>Transaction</a:t>
                      </a:r>
                    </a:p>
                  </a:txBody>
                  <a:tcPr>
                    <a:solidFill>
                      <a:srgbClr val="0F2044"/>
                    </a:solidFill>
                  </a:tcPr>
                </a:tc>
                <a:tc>
                  <a:txBody>
                    <a:bodyPr wrap="square"/>
                    <a:lstStyle/>
                    <a:p>
                      <a:pPr algn="ctr"/>
                      <a:r>
                        <a:rPr sz="950" b="1" i="0">
                          <a:solidFill>
                            <a:srgbClr val="FFFFFF"/>
                          </a:solidFill>
                        </a:rPr>
                        <a:t>Year</a:t>
                      </a:r>
                    </a:p>
                  </a:txBody>
                  <a:tcPr>
                    <a:solidFill>
                      <a:srgbClr val="0F2044"/>
                    </a:solidFill>
                  </a:tcPr>
                </a:tc>
                <a:tc>
                  <a:txBody>
                    <a:bodyPr wrap="square"/>
                    <a:lstStyle/>
                    <a:p>
                      <a:pPr algn="ctr"/>
                      <a:r>
                        <a:rPr sz="950" b="1" i="0">
                          <a:solidFill>
                            <a:srgbClr val="FFFFFF"/>
                          </a:solidFill>
                        </a:rPr>
                        <a:t>Library Size</a:t>
                      </a:r>
                    </a:p>
                  </a:txBody>
                  <a:tcPr>
                    <a:solidFill>
                      <a:srgbClr val="0F2044"/>
                    </a:solidFill>
                  </a:tcPr>
                </a:tc>
                <a:tc>
                  <a:txBody>
                    <a:bodyPr wrap="square"/>
                    <a:lstStyle/>
                    <a:p>
                      <a:pPr algn="ctr"/>
                      <a:r>
                        <a:rPr sz="950" b="1" i="0">
                          <a:solidFill>
                            <a:srgbClr val="FFFFFF"/>
                          </a:solidFill>
                        </a:rPr>
                        <a:t>Transaction Value</a:t>
                      </a:r>
                    </a:p>
                  </a:txBody>
                  <a:tcPr>
                    <a:solidFill>
                      <a:srgbClr val="0F2044"/>
                    </a:solidFill>
                  </a:tcPr>
                </a:tc>
                <a:tc>
                  <a:txBody>
                    <a:bodyPr wrap="square"/>
                    <a:lstStyle/>
                    <a:p>
                      <a:pPr algn="ctr"/>
                      <a:r>
                        <a:rPr sz="950" b="1" i="0">
                          <a:solidFill>
                            <a:srgbClr val="FFFFFF"/>
                          </a:solidFill>
                        </a:rPr>
                        <a:t>$/Hour</a:t>
                      </a:r>
                    </a:p>
                  </a:txBody>
                  <a:tcPr>
                    <a:solidFill>
                      <a:srgbClr val="0F2044"/>
                    </a:solidFill>
                  </a:tcPr>
                </a:tc>
              </a:tr>
              <a:tr h="391885">
                <a:tc>
                  <a:txBody>
                    <a:bodyPr wrap="square"/>
                    <a:lstStyle/>
                    <a:p>
                      <a:pPr algn="l"/>
                      <a:r>
                        <a:rPr sz="950" b="0" i="0">
                          <a:solidFill>
                            <a:srgbClr val="1A1A2E"/>
                          </a:solidFill>
                        </a:rPr>
                        <a:t>Disney / Fox (library assets)</a:t>
                      </a:r>
                    </a:p>
                  </a:txBody>
                  <a:tcPr>
                    <a:solidFill>
                      <a:srgbClr val="EAF0FB"/>
                    </a:solidFill>
                  </a:tcPr>
                </a:tc>
                <a:tc>
                  <a:txBody>
                    <a:bodyPr wrap="square"/>
                    <a:lstStyle/>
                    <a:p>
                      <a:pPr algn="r"/>
                      <a:r>
                        <a:rPr sz="950" b="0" i="0">
                          <a:solidFill>
                            <a:srgbClr val="1A1A2E"/>
                          </a:solidFill>
                        </a:rPr>
                        <a:t>2019</a:t>
                      </a:r>
                    </a:p>
                  </a:txBody>
                  <a:tcPr>
                    <a:solidFill>
                      <a:srgbClr val="EAF0FB"/>
                    </a:solidFill>
                  </a:tcPr>
                </a:tc>
                <a:tc>
                  <a:txBody>
                    <a:bodyPr wrap="square"/>
                    <a:lstStyle/>
                    <a:p>
                      <a:pPr algn="r"/>
                      <a:r>
                        <a:rPr sz="950" b="0" i="0">
                          <a:solidFill>
                            <a:srgbClr val="1A1A2E"/>
                          </a:solidFill>
                        </a:rPr>
                        <a:t>~75,000 hrs</a:t>
                      </a:r>
                    </a:p>
                  </a:txBody>
                  <a:tcPr>
                    <a:solidFill>
                      <a:srgbClr val="EAF0FB"/>
                    </a:solidFill>
                  </a:tcPr>
                </a:tc>
                <a:tc>
                  <a:txBody>
                    <a:bodyPr wrap="square"/>
                    <a:lstStyle/>
                    <a:p>
                      <a:pPr algn="r"/>
                      <a:r>
                        <a:rPr sz="950" b="0" i="0">
                          <a:solidFill>
                            <a:srgbClr val="1A1A2E"/>
                          </a:solidFill>
                        </a:rPr>
                        <a:t>$71.3B total</a:t>
                      </a:r>
                    </a:p>
                  </a:txBody>
                  <a:tcPr>
                    <a:solidFill>
                      <a:srgbClr val="EAF0FB"/>
                    </a:solidFill>
                  </a:tcPr>
                </a:tc>
                <a:tc>
                  <a:txBody>
                    <a:bodyPr wrap="square"/>
                    <a:lstStyle/>
                    <a:p>
                      <a:pPr algn="r"/>
                      <a:r>
                        <a:rPr sz="950" b="0" i="0">
                          <a:solidFill>
                            <a:srgbClr val="1A1A2E"/>
                          </a:solidFill>
                        </a:rPr>
                        <a:t>~$950K/hr</a:t>
                      </a:r>
                    </a:p>
                  </a:txBody>
                  <a:tcPr>
                    <a:solidFill>
                      <a:srgbClr val="EAF0FB"/>
                    </a:solidFill>
                  </a:tcPr>
                </a:tc>
              </a:tr>
              <a:tr h="391885">
                <a:tc>
                  <a:txBody>
                    <a:bodyPr wrap="square"/>
                    <a:lstStyle/>
                    <a:p>
                      <a:pPr algn="l"/>
                      <a:r>
                        <a:rPr sz="950" b="0" i="0">
                          <a:solidFill>
                            <a:srgbClr val="1A1A2E"/>
                          </a:solidFill>
                        </a:rPr>
                        <a:t>MGM / Amazon</a:t>
                      </a:r>
                    </a:p>
                  </a:txBody>
                  <a:tcPr/>
                </a:tc>
                <a:tc>
                  <a:txBody>
                    <a:bodyPr wrap="square"/>
                    <a:lstStyle/>
                    <a:p>
                      <a:pPr algn="r"/>
                      <a:r>
                        <a:rPr sz="950" b="0" i="0">
                          <a:solidFill>
                            <a:srgbClr val="1A1A2E"/>
                          </a:solidFill>
                        </a:rPr>
                        <a:t>2022</a:t>
                      </a:r>
                    </a:p>
                  </a:txBody>
                  <a:tcPr/>
                </a:tc>
                <a:tc>
                  <a:txBody>
                    <a:bodyPr wrap="square"/>
                    <a:lstStyle/>
                    <a:p>
                      <a:pPr algn="r"/>
                      <a:r>
                        <a:rPr sz="950" b="0" i="0">
                          <a:solidFill>
                            <a:srgbClr val="1A1A2E"/>
                          </a:solidFill>
                        </a:rPr>
                        <a:t>~17,000 hrs</a:t>
                      </a:r>
                    </a:p>
                  </a:txBody>
                  <a:tcPr/>
                </a:tc>
                <a:tc>
                  <a:txBody>
                    <a:bodyPr wrap="square"/>
                    <a:lstStyle/>
                    <a:p>
                      <a:pPr algn="r"/>
                      <a:r>
                        <a:rPr sz="950" b="0" i="0">
                          <a:solidFill>
                            <a:srgbClr val="1A1A2E"/>
                          </a:solidFill>
                        </a:rPr>
                        <a:t>$8.45B</a:t>
                      </a:r>
                    </a:p>
                  </a:txBody>
                  <a:tcPr/>
                </a:tc>
                <a:tc>
                  <a:txBody>
                    <a:bodyPr wrap="square"/>
                    <a:lstStyle/>
                    <a:p>
                      <a:pPr algn="r"/>
                      <a:r>
                        <a:rPr sz="950" b="0" i="0">
                          <a:solidFill>
                            <a:srgbClr val="1A1A2E"/>
                          </a:solidFill>
                        </a:rPr>
                        <a:t>~$497K/hr</a:t>
                      </a:r>
                    </a:p>
                  </a:txBody>
                  <a:tcPr/>
                </a:tc>
              </a:tr>
              <a:tr h="391885">
                <a:tc>
                  <a:txBody>
                    <a:bodyPr wrap="square"/>
                    <a:lstStyle/>
                    <a:p>
                      <a:pPr algn="l"/>
                      <a:r>
                        <a:rPr sz="950" b="0" i="0">
                          <a:solidFill>
                            <a:srgbClr val="1A1A2E"/>
                          </a:solidFill>
                        </a:rPr>
                        <a:t>Showtime / CBS / Paramount+</a:t>
                      </a:r>
                    </a:p>
                  </a:txBody>
                  <a:tcPr>
                    <a:solidFill>
                      <a:srgbClr val="EAF0FB"/>
                    </a:solidFill>
                  </a:tcPr>
                </a:tc>
                <a:tc>
                  <a:txBody>
                    <a:bodyPr wrap="square"/>
                    <a:lstStyle/>
                    <a:p>
                      <a:pPr algn="r"/>
                      <a:r>
                        <a:rPr sz="950" b="0" i="0">
                          <a:solidFill>
                            <a:srgbClr val="1A1A2E"/>
                          </a:solidFill>
                        </a:rPr>
                        <a:t>2023</a:t>
                      </a:r>
                    </a:p>
                  </a:txBody>
                  <a:tcPr>
                    <a:solidFill>
                      <a:srgbClr val="EAF0FB"/>
                    </a:solidFill>
                  </a:tcPr>
                </a:tc>
                <a:tc>
                  <a:txBody>
                    <a:bodyPr wrap="square"/>
                    <a:lstStyle/>
                    <a:p>
                      <a:pPr algn="r"/>
                      <a:r>
                        <a:rPr sz="950" b="0" i="0">
                          <a:solidFill>
                            <a:srgbClr val="1A1A2E"/>
                          </a:solidFill>
                        </a:rPr>
                        <a:t>~25,000 hrs</a:t>
                      </a:r>
                    </a:p>
                  </a:txBody>
                  <a:tcPr>
                    <a:solidFill>
                      <a:srgbClr val="EAF0FB"/>
                    </a:solidFill>
                  </a:tcPr>
                </a:tc>
                <a:tc>
                  <a:txBody>
                    <a:bodyPr wrap="square"/>
                    <a:lstStyle/>
                    <a:p>
                      <a:pPr algn="r"/>
                      <a:r>
                        <a:rPr sz="950" b="0" i="0">
                          <a:solidFill>
                            <a:srgbClr val="1A1A2E"/>
                          </a:solidFill>
                        </a:rPr>
                        <a:t>$15.4B total</a:t>
                      </a:r>
                    </a:p>
                  </a:txBody>
                  <a:tcPr>
                    <a:solidFill>
                      <a:srgbClr val="EAF0FB"/>
                    </a:solidFill>
                  </a:tcPr>
                </a:tc>
                <a:tc>
                  <a:txBody>
                    <a:bodyPr wrap="square"/>
                    <a:lstStyle/>
                    <a:p>
                      <a:pPr algn="r"/>
                      <a:r>
                        <a:rPr sz="950" b="0" i="0">
                          <a:solidFill>
                            <a:srgbClr val="1A1A2E"/>
                          </a:solidFill>
                        </a:rPr>
                        <a:t>~$616K/hr</a:t>
                      </a:r>
                    </a:p>
                  </a:txBody>
                  <a:tcPr>
                    <a:solidFill>
                      <a:srgbClr val="EAF0FB"/>
                    </a:solidFill>
                  </a:tcPr>
                </a:tc>
              </a:tr>
              <a:tr h="391885">
                <a:tc>
                  <a:txBody>
                    <a:bodyPr wrap="square"/>
                    <a:lstStyle/>
                    <a:p>
                      <a:pPr algn="l"/>
                      <a:r>
                        <a:rPr sz="950" b="0" i="0">
                          <a:solidFill>
                            <a:srgbClr val="1A1A2E"/>
                          </a:solidFill>
                        </a:rPr>
                        <a:t>Sony Pictures (partial license)</a:t>
                      </a:r>
                    </a:p>
                  </a:txBody>
                  <a:tcPr/>
                </a:tc>
                <a:tc>
                  <a:txBody>
                    <a:bodyPr wrap="square"/>
                    <a:lstStyle/>
                    <a:p>
                      <a:pPr algn="r"/>
                      <a:r>
                        <a:rPr sz="950" b="0" i="0">
                          <a:solidFill>
                            <a:srgbClr val="1A1A2E"/>
                          </a:solidFill>
                        </a:rPr>
                        <a:t>2021</a:t>
                      </a:r>
                    </a:p>
                  </a:txBody>
                  <a:tcPr/>
                </a:tc>
                <a:tc>
                  <a:txBody>
                    <a:bodyPr wrap="square"/>
                    <a:lstStyle/>
                    <a:p>
                      <a:pPr algn="r"/>
                      <a:r>
                        <a:rPr sz="950" b="0" i="0">
                          <a:solidFill>
                            <a:srgbClr val="1A1A2E"/>
                          </a:solidFill>
                        </a:rPr>
                        <a:t>~3,500 hrs/yr</a:t>
                      </a:r>
                    </a:p>
                  </a:txBody>
                  <a:tcPr/>
                </a:tc>
                <a:tc>
                  <a:txBody>
                    <a:bodyPr wrap="square"/>
                    <a:lstStyle/>
                    <a:p>
                      <a:pPr algn="r"/>
                      <a:r>
                        <a:rPr sz="950" b="0" i="0">
                          <a:solidFill>
                            <a:srgbClr val="1A1A2E"/>
                          </a:solidFill>
                        </a:rPr>
                        <a:t>$1.0B/yr</a:t>
                      </a:r>
                    </a:p>
                  </a:txBody>
                  <a:tcPr/>
                </a:tc>
                <a:tc>
                  <a:txBody>
                    <a:bodyPr wrap="square"/>
                    <a:lstStyle/>
                    <a:p>
                      <a:pPr algn="r"/>
                      <a:r>
                        <a:rPr sz="950" b="0" i="0">
                          <a:solidFill>
                            <a:srgbClr val="1A1A2E"/>
                          </a:solidFill>
                        </a:rPr>
                        <a:t>~$286K/hr</a:t>
                      </a:r>
                    </a:p>
                  </a:txBody>
                  <a:tcPr/>
                </a:tc>
              </a:tr>
              <a:tr h="391885">
                <a:tc>
                  <a:txBody>
                    <a:bodyPr wrap="square"/>
                    <a:lstStyle/>
                    <a:p>
                      <a:pPr algn="l"/>
                      <a:r>
                        <a:rPr sz="950" b="0" i="0">
                          <a:solidFill>
                            <a:srgbClr val="1A1A2E"/>
                          </a:solidFill>
                        </a:rPr>
                        <a:t>Comcast / NBCU streaming assets</a:t>
                      </a:r>
                    </a:p>
                  </a:txBody>
                  <a:tcPr>
                    <a:solidFill>
                      <a:srgbClr val="EAF0FB"/>
                    </a:solidFill>
                  </a:tcPr>
                </a:tc>
                <a:tc>
                  <a:txBody>
                    <a:bodyPr wrap="square"/>
                    <a:lstStyle/>
                    <a:p>
                      <a:pPr algn="r"/>
                      <a:r>
                        <a:rPr sz="950" b="0" i="0">
                          <a:solidFill>
                            <a:srgbClr val="1A1A2E"/>
                          </a:solidFill>
                        </a:rPr>
                        <a:t>2025</a:t>
                      </a:r>
                    </a:p>
                  </a:txBody>
                  <a:tcPr>
                    <a:solidFill>
                      <a:srgbClr val="EAF0FB"/>
                    </a:solidFill>
                  </a:tcPr>
                </a:tc>
                <a:tc>
                  <a:txBody>
                    <a:bodyPr wrap="square"/>
                    <a:lstStyle/>
                    <a:p>
                      <a:pPr algn="r"/>
                      <a:r>
                        <a:rPr sz="950" b="0" i="0">
                          <a:solidFill>
                            <a:srgbClr val="1A1A2E"/>
                          </a:solidFill>
                        </a:rPr>
                        <a:t>~30,000 hrs</a:t>
                      </a:r>
                    </a:p>
                  </a:txBody>
                  <a:tcPr>
                    <a:solidFill>
                      <a:srgbClr val="EAF0FB"/>
                    </a:solidFill>
                  </a:tcPr>
                </a:tc>
                <a:tc>
                  <a:txBody>
                    <a:bodyPr wrap="square"/>
                    <a:lstStyle/>
                    <a:p>
                      <a:pPr algn="r"/>
                      <a:r>
                        <a:rPr sz="950" b="0" i="0">
                          <a:solidFill>
                            <a:srgbClr val="1A1A2E"/>
                          </a:solidFill>
                        </a:rPr>
                        <a:t>~$9B est.</a:t>
                      </a:r>
                    </a:p>
                  </a:txBody>
                  <a:tcPr>
                    <a:solidFill>
                      <a:srgbClr val="EAF0FB"/>
                    </a:solidFill>
                  </a:tcPr>
                </a:tc>
                <a:tc>
                  <a:txBody>
                    <a:bodyPr wrap="square"/>
                    <a:lstStyle/>
                    <a:p>
                      <a:pPr algn="r"/>
                      <a:r>
                        <a:rPr sz="950" b="0" i="0">
                          <a:solidFill>
                            <a:srgbClr val="1A1A2E"/>
                          </a:solidFill>
                        </a:rPr>
                        <a:t>~$300K/hr</a:t>
                      </a:r>
                    </a:p>
                  </a:txBody>
                  <a:tcPr>
                    <a:solidFill>
                      <a:srgbClr val="EAF0FB"/>
                    </a:solidFill>
                  </a:tcPr>
                </a:tc>
              </a:tr>
              <a:tr h="391890">
                <a:tc>
                  <a:txBody>
                    <a:bodyPr wrap="square"/>
                    <a:lstStyle/>
                    <a:p>
                      <a:pPr algn="l"/>
                      <a:r>
                        <a:rPr sz="950" b="1" i="0">
                          <a:solidFill>
                            <a:srgbClr val="FFFFFF"/>
                          </a:solidFill>
                        </a:rPr>
                        <a:t>WBD Library (estimated)</a:t>
                      </a:r>
                    </a:p>
                  </a:txBody>
                  <a:tcPr>
                    <a:solidFill>
                      <a:srgbClr val="0F2044"/>
                    </a:solidFill>
                  </a:tcPr>
                </a:tc>
                <a:tc>
                  <a:txBody>
                    <a:bodyPr wrap="square"/>
                    <a:lstStyle/>
                    <a:p>
                      <a:pPr algn="r"/>
                      <a:r>
                        <a:rPr sz="950" b="1" i="0">
                          <a:solidFill>
                            <a:srgbClr val="FFFFFF"/>
                          </a:solidFill>
                        </a:rPr>
                        <a:t>2025</a:t>
                      </a:r>
                    </a:p>
                  </a:txBody>
                  <a:tcPr>
                    <a:solidFill>
                      <a:srgbClr val="0F2044"/>
                    </a:solidFill>
                  </a:tcPr>
                </a:tc>
                <a:tc>
                  <a:txBody>
                    <a:bodyPr wrap="square"/>
                    <a:lstStyle/>
                    <a:p>
                      <a:pPr algn="r"/>
                      <a:r>
                        <a:rPr sz="950" b="1" i="0">
                          <a:solidFill>
                            <a:srgbClr val="FFFFFF"/>
                          </a:solidFill>
                        </a:rPr>
                        <a:t>100,000+ hrs</a:t>
                      </a:r>
                    </a:p>
                  </a:txBody>
                  <a:tcPr>
                    <a:solidFill>
                      <a:srgbClr val="0F2044"/>
                    </a:solidFill>
                  </a:tcPr>
                </a:tc>
                <a:tc>
                  <a:txBody>
                    <a:bodyPr wrap="square"/>
                    <a:lstStyle/>
                    <a:p>
                      <a:pPr algn="r"/>
                      <a:r>
                        <a:rPr sz="950" b="1" i="0">
                          <a:solidFill>
                            <a:srgbClr val="FFFFFF"/>
                          </a:solidFill>
                        </a:rPr>
                        <a:t>$30–50B implied</a:t>
                      </a:r>
                    </a:p>
                  </a:txBody>
                  <a:tcPr>
                    <a:solidFill>
                      <a:srgbClr val="0F2044"/>
                    </a:solidFill>
                  </a:tcPr>
                </a:tc>
                <a:tc>
                  <a:txBody>
                    <a:bodyPr wrap="square"/>
                    <a:lstStyle/>
                    <a:p>
                      <a:pPr algn="r"/>
                      <a:r>
                        <a:rPr sz="950" b="1" i="0">
                          <a:solidFill>
                            <a:srgbClr val="FFFFFF"/>
                          </a:solidFill>
                        </a:rPr>
                        <a:t>$300–500K/hr</a:t>
                      </a:r>
                    </a:p>
                  </a:txBody>
                  <a:tcPr>
                    <a:solidFill>
                      <a:srgbClr val="0F2044"/>
                    </a:solidFill>
                  </a:tcPr>
                </a:tc>
              </a:tr>
            </a:tbl>
          </a:graphicData>
        </a:graphic>
      </p:graphicFrame>
      <p:sp>
        <p:nvSpPr>
          <p:cNvPr id="8" name="TextBox 7"/>
          <p:cNvSpPr txBox="1"/>
          <p:nvPr/>
        </p:nvSpPr>
        <p:spPr>
          <a:xfrm>
            <a:off x="7863840" y="1170432"/>
            <a:ext cx="4023360" cy="347472"/>
          </a:xfrm>
          <a:prstGeom prst="rect">
            <a:avLst/>
          </a:prstGeom>
          <a:noFill/>
        </p:spPr>
        <p:txBody>
          <a:bodyPr wrap="square">
            <a:spAutoFit/>
          </a:bodyPr>
          <a:lstStyle/>
          <a:p>
            <a:pPr algn="l"/>
            <a:r>
              <a:rPr sz="1200" b="1" i="0">
                <a:solidFill>
                  <a:srgbClr val="1A1A2E"/>
                </a:solidFill>
              </a:rPr>
              <a:t>Franchise IP Value Estimates</a:t>
            </a:r>
          </a:p>
        </p:txBody>
      </p:sp>
      <p:graphicFrame>
        <p:nvGraphicFramePr>
          <p:cNvPr id="9" name="Table 8"/>
          <p:cNvGraphicFramePr>
            <a:graphicFrameLocks noGrp="1"/>
          </p:cNvGraphicFramePr>
          <p:nvPr/>
        </p:nvGraphicFramePr>
        <p:xfrm>
          <a:off x="7863840" y="1554480"/>
          <a:ext cx="4023360" cy="1920240"/>
        </p:xfrm>
        <a:graphic>
          <a:graphicData uri="http://schemas.openxmlformats.org/drawingml/2006/table">
            <a:tbl>
              <a:tblPr firstRow="1" bandRow="1">
                <a:tableStyleId>{5C22544A-7EE6-4342-B048-85BDC9FD1C3A}</a:tableStyleId>
              </a:tblPr>
              <a:tblGrid>
                <a:gridCol w="1341120"/>
                <a:gridCol w="1341120"/>
                <a:gridCol w="1341120"/>
              </a:tblGrid>
              <a:tr h="320040">
                <a:tc>
                  <a:txBody>
                    <a:bodyPr wrap="square"/>
                    <a:lstStyle/>
                    <a:p>
                      <a:pPr algn="ctr"/>
                      <a:r>
                        <a:rPr sz="950" b="1" i="0">
                          <a:solidFill>
                            <a:srgbClr val="FFFFFF"/>
                          </a:solidFill>
                        </a:rPr>
                        <a:t>IP Franchise</a:t>
                      </a:r>
                    </a:p>
                  </a:txBody>
                  <a:tcPr>
                    <a:solidFill>
                      <a:srgbClr val="0F2044"/>
                    </a:solidFill>
                  </a:tcPr>
                </a:tc>
                <a:tc>
                  <a:txBody>
                    <a:bodyPr wrap="square"/>
                    <a:lstStyle/>
                    <a:p>
                      <a:pPr algn="ctr"/>
                      <a:r>
                        <a:rPr sz="950" b="1" i="0">
                          <a:solidFill>
                            <a:srgbClr val="FFFFFF"/>
                          </a:solidFill>
                        </a:rPr>
                        <a:t>Est. Franchise Value</a:t>
                      </a:r>
                    </a:p>
                  </a:txBody>
                  <a:tcPr>
                    <a:solidFill>
                      <a:srgbClr val="0F2044"/>
                    </a:solidFill>
                  </a:tcPr>
                </a:tc>
                <a:tc>
                  <a:txBody>
                    <a:bodyPr wrap="square"/>
                    <a:lstStyle/>
                    <a:p>
                      <a:pPr algn="ctr"/>
                      <a:r>
                        <a:rPr sz="950" b="1" i="0">
                          <a:solidFill>
                            <a:srgbClr val="FFFFFF"/>
                          </a:solidFill>
                        </a:rPr>
                        <a:t>Note</a:t>
                      </a:r>
                    </a:p>
                  </a:txBody>
                  <a:tcPr>
                    <a:solidFill>
                      <a:srgbClr val="0F2044"/>
                    </a:solidFill>
                  </a:tcPr>
                </a:tc>
              </a:tr>
              <a:tr h="320040">
                <a:tc>
                  <a:txBody>
                    <a:bodyPr wrap="square"/>
                    <a:lstStyle/>
                    <a:p>
                      <a:pPr algn="l"/>
                      <a:r>
                        <a:rPr sz="950" b="0" i="0">
                          <a:solidFill>
                            <a:srgbClr val="1A1A2E"/>
                          </a:solidFill>
                        </a:rPr>
                        <a:t>DC Universe</a:t>
                      </a:r>
                    </a:p>
                  </a:txBody>
                  <a:tcPr>
                    <a:solidFill>
                      <a:srgbClr val="EAF0FB"/>
                    </a:solidFill>
                  </a:tcPr>
                </a:tc>
                <a:tc>
                  <a:txBody>
                    <a:bodyPr wrap="square"/>
                    <a:lstStyle/>
                    <a:p>
                      <a:pPr algn="r"/>
                      <a:r>
                        <a:rPr sz="950" b="0" i="0">
                          <a:solidFill>
                            <a:srgbClr val="1A1A2E"/>
                          </a:solidFill>
                        </a:rPr>
                        <a:t>$15–25B</a:t>
                      </a:r>
                    </a:p>
                  </a:txBody>
                  <a:tcPr>
                    <a:solidFill>
                      <a:srgbClr val="EAF0FB"/>
                    </a:solidFill>
                  </a:tcPr>
                </a:tc>
                <a:tc>
                  <a:txBody>
                    <a:bodyPr wrap="square"/>
                    <a:lstStyle/>
                    <a:p>
                      <a:pPr algn="l"/>
                      <a:r>
                        <a:rPr sz="950" b="0" i="0">
                          <a:solidFill>
                            <a:srgbClr val="1A1A2E"/>
                          </a:solidFill>
                        </a:rPr>
                        <a:t>Reboot; 20+ films planned</a:t>
                      </a:r>
                    </a:p>
                  </a:txBody>
                  <a:tcPr>
                    <a:solidFill>
                      <a:srgbClr val="EAF0FB"/>
                    </a:solidFill>
                  </a:tcPr>
                </a:tc>
              </a:tr>
              <a:tr h="320040">
                <a:tc>
                  <a:txBody>
                    <a:bodyPr wrap="square"/>
                    <a:lstStyle/>
                    <a:p>
                      <a:pPr algn="l"/>
                      <a:r>
                        <a:rPr sz="950" b="0" i="0">
                          <a:solidFill>
                            <a:srgbClr val="1A1A2E"/>
                          </a:solidFill>
                        </a:rPr>
                        <a:t>Harry Potter</a:t>
                      </a:r>
                    </a:p>
                  </a:txBody>
                  <a:tcPr/>
                </a:tc>
                <a:tc>
                  <a:txBody>
                    <a:bodyPr wrap="square"/>
                    <a:lstStyle/>
                    <a:p>
                      <a:pPr algn="r"/>
                      <a:r>
                        <a:rPr sz="950" b="0" i="0">
                          <a:solidFill>
                            <a:srgbClr val="1A1A2E"/>
                          </a:solidFill>
                        </a:rPr>
                        <a:t>$10–15B</a:t>
                      </a:r>
                    </a:p>
                  </a:txBody>
                  <a:tcPr/>
                </a:tc>
                <a:tc>
                  <a:txBody>
                    <a:bodyPr wrap="square"/>
                    <a:lstStyle/>
                    <a:p>
                      <a:pPr algn="l"/>
                      <a:r>
                        <a:rPr sz="950" b="0" i="0">
                          <a:solidFill>
                            <a:srgbClr val="1A1A2E"/>
                          </a:solidFill>
                        </a:rPr>
                        <a:t>HBO series + Fantastic Beasts</a:t>
                      </a:r>
                    </a:p>
                  </a:txBody>
                  <a:tcPr/>
                </a:tc>
              </a:tr>
              <a:tr h="320040">
                <a:tc>
                  <a:txBody>
                    <a:bodyPr wrap="square"/>
                    <a:lstStyle/>
                    <a:p>
                      <a:pPr algn="l"/>
                      <a:r>
                        <a:rPr sz="950" b="0" i="0">
                          <a:solidFill>
                            <a:srgbClr val="1A1A2E"/>
                          </a:solidFill>
                        </a:rPr>
                        <a:t>Game of Thrones</a:t>
                      </a:r>
                    </a:p>
                  </a:txBody>
                  <a:tcPr>
                    <a:solidFill>
                      <a:srgbClr val="EAF0FB"/>
                    </a:solidFill>
                  </a:tcPr>
                </a:tc>
                <a:tc>
                  <a:txBody>
                    <a:bodyPr wrap="square"/>
                    <a:lstStyle/>
                    <a:p>
                      <a:pPr algn="r"/>
                      <a:r>
                        <a:rPr sz="950" b="0" i="0">
                          <a:solidFill>
                            <a:srgbClr val="1A1A2E"/>
                          </a:solidFill>
                        </a:rPr>
                        <a:t> $5–10B</a:t>
                      </a:r>
                    </a:p>
                  </a:txBody>
                  <a:tcPr>
                    <a:solidFill>
                      <a:srgbClr val="EAF0FB"/>
                    </a:solidFill>
                  </a:tcPr>
                </a:tc>
                <a:tc>
                  <a:txBody>
                    <a:bodyPr wrap="square"/>
                    <a:lstStyle/>
                    <a:p>
                      <a:pPr algn="l"/>
                      <a:r>
                        <a:rPr sz="950" b="0" i="0">
                          <a:solidFill>
                            <a:srgbClr val="1A1A2E"/>
                          </a:solidFill>
                        </a:rPr>
                        <a:t>Multiple spin-offs in dev.</a:t>
                      </a:r>
                    </a:p>
                  </a:txBody>
                  <a:tcPr>
                    <a:solidFill>
                      <a:srgbClr val="EAF0FB"/>
                    </a:solidFill>
                  </a:tcPr>
                </a:tc>
              </a:tr>
              <a:tr h="320040">
                <a:tc>
                  <a:txBody>
                    <a:bodyPr wrap="square"/>
                    <a:lstStyle/>
                    <a:p>
                      <a:pPr algn="l"/>
                      <a:r>
                        <a:rPr sz="950" b="0" i="0">
                          <a:solidFill>
                            <a:srgbClr val="1A1A2E"/>
                          </a:solidFill>
                        </a:rPr>
                        <a:t>Lord of the Rings</a:t>
                      </a:r>
                    </a:p>
                  </a:txBody>
                  <a:tcPr/>
                </a:tc>
                <a:tc>
                  <a:txBody>
                    <a:bodyPr wrap="square"/>
                    <a:lstStyle/>
                    <a:p>
                      <a:pPr algn="r"/>
                      <a:r>
                        <a:rPr sz="950" b="0" i="0">
                          <a:solidFill>
                            <a:srgbClr val="1A1A2E"/>
                          </a:solidFill>
                        </a:rPr>
                        <a:t> $4–8B</a:t>
                      </a:r>
                    </a:p>
                  </a:txBody>
                  <a:tcPr/>
                </a:tc>
                <a:tc>
                  <a:txBody>
                    <a:bodyPr wrap="square"/>
                    <a:lstStyle/>
                    <a:p>
                      <a:pPr algn="l"/>
                      <a:r>
                        <a:rPr sz="950" b="0" i="0">
                          <a:solidFill>
                            <a:srgbClr val="1A1A2E"/>
                          </a:solidFill>
                        </a:rPr>
                        <a:t>Amazon competing; leverage</a:t>
                      </a:r>
                    </a:p>
                  </a:txBody>
                  <a:tcPr/>
                </a:tc>
              </a:tr>
              <a:tr h="320040">
                <a:tc>
                  <a:txBody>
                    <a:bodyPr wrap="square"/>
                    <a:lstStyle/>
                    <a:p>
                      <a:pPr algn="l"/>
                      <a:r>
                        <a:rPr sz="950" b="1" i="0">
                          <a:solidFill>
                            <a:srgbClr val="FFFFFF"/>
                          </a:solidFill>
                        </a:rPr>
                        <a:t>Total (4 franchises)</a:t>
                      </a:r>
                    </a:p>
                  </a:txBody>
                  <a:tcPr>
                    <a:solidFill>
                      <a:srgbClr val="0F2044"/>
                    </a:solidFill>
                  </a:tcPr>
                </a:tc>
                <a:tc>
                  <a:txBody>
                    <a:bodyPr wrap="square"/>
                    <a:lstStyle/>
                    <a:p>
                      <a:pPr algn="r"/>
                      <a:r>
                        <a:rPr sz="950" b="1" i="0">
                          <a:solidFill>
                            <a:srgbClr val="FFFFFF"/>
                          </a:solidFill>
                        </a:rPr>
                        <a:t>$34–58B</a:t>
                      </a:r>
                    </a:p>
                  </a:txBody>
                  <a:tcPr>
                    <a:solidFill>
                      <a:srgbClr val="0F2044"/>
                    </a:solidFill>
                  </a:tcPr>
                </a:tc>
                <a:tc>
                  <a:txBody>
                    <a:bodyPr wrap="square"/>
                    <a:lstStyle/>
                    <a:p>
                      <a:pPr algn="l"/>
                      <a:r>
                        <a:rPr sz="950" b="0" i="0">
                          <a:solidFill>
                            <a:srgbClr val="FFFFFF"/>
                          </a:solidFill>
                        </a:rPr>
                        <a:t>vs. WBD EV of $44.5B</a:t>
                      </a:r>
                    </a:p>
                  </a:txBody>
                  <a:tcPr>
                    <a:solidFill>
                      <a:srgbClr val="0F2044"/>
                    </a:solidFill>
                  </a:tcPr>
                </a:tc>
              </a:tr>
            </a:tbl>
          </a:graphicData>
        </a:graphic>
      </p:graphicFrame>
      <p:sp>
        <p:nvSpPr>
          <p:cNvPr id="10" name="Rectangle 9"/>
          <p:cNvSpPr/>
          <p:nvPr/>
        </p:nvSpPr>
        <p:spPr>
          <a:xfrm>
            <a:off x="320040" y="4434840"/>
            <a:ext cx="11548872" cy="17373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4434840"/>
            <a:ext cx="109728" cy="1737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498848"/>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498848"/>
            <a:ext cx="91440" cy="155448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526280"/>
            <a:ext cx="3429000" cy="329184"/>
          </a:xfrm>
          <a:prstGeom prst="rect">
            <a:avLst/>
          </a:prstGeom>
          <a:noFill/>
        </p:spPr>
        <p:txBody>
          <a:bodyPr wrap="square">
            <a:spAutoFit/>
          </a:bodyPr>
          <a:lstStyle/>
          <a:p>
            <a:pPr algn="l"/>
            <a:r>
              <a:rPr sz="1100" b="1" i="0">
                <a:solidFill>
                  <a:srgbClr val="1A1A2E"/>
                </a:solidFill>
              </a:rPr>
              <a:t>Content Cost Efficiency</a:t>
            </a:r>
          </a:p>
        </p:txBody>
      </p:sp>
      <p:sp>
        <p:nvSpPr>
          <p:cNvPr id="15" name="TextBox 14"/>
          <p:cNvSpPr txBox="1"/>
          <p:nvPr/>
        </p:nvSpPr>
        <p:spPr>
          <a:xfrm>
            <a:off x="621792" y="4892040"/>
            <a:ext cx="3429000" cy="1097280"/>
          </a:xfrm>
          <a:prstGeom prst="rect">
            <a:avLst/>
          </a:prstGeom>
          <a:noFill/>
        </p:spPr>
        <p:txBody>
          <a:bodyPr wrap="square">
            <a:spAutoFit/>
          </a:bodyPr>
          <a:lstStyle/>
          <a:p>
            <a:pPr algn="l"/>
            <a:r>
              <a:rPr sz="950" b="0" i="0">
                <a:solidFill>
                  <a:srgbClr val="4A4A5A"/>
                </a:solidFill>
              </a:rPr>
              <a:t>Netflix pays avg. $150–300K/hr for originals. WBD library adds 100K hours at ~$0 marginal cost post-acquisition. Content cost savings of $3–5B/yr vs. recreating equivalent content organically.</a:t>
            </a:r>
          </a:p>
        </p:txBody>
      </p:sp>
      <p:sp>
        <p:nvSpPr>
          <p:cNvPr id="16" name="Rectangle 15"/>
          <p:cNvSpPr/>
          <p:nvPr/>
        </p:nvSpPr>
        <p:spPr>
          <a:xfrm>
            <a:off x="4297680" y="4498848"/>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4498848"/>
            <a:ext cx="91440" cy="155448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4526280"/>
            <a:ext cx="3429000" cy="329184"/>
          </a:xfrm>
          <a:prstGeom prst="rect">
            <a:avLst/>
          </a:prstGeom>
          <a:noFill/>
        </p:spPr>
        <p:txBody>
          <a:bodyPr wrap="square">
            <a:spAutoFit/>
          </a:bodyPr>
          <a:lstStyle/>
          <a:p>
            <a:pPr algn="l"/>
            <a:r>
              <a:rPr sz="1100" b="1" i="0">
                <a:solidFill>
                  <a:srgbClr val="1A1A2E"/>
                </a:solidFill>
              </a:rPr>
              <a:t>IP Monetization</a:t>
            </a:r>
          </a:p>
        </p:txBody>
      </p:sp>
      <p:sp>
        <p:nvSpPr>
          <p:cNvPr id="19" name="TextBox 18"/>
          <p:cNvSpPr txBox="1"/>
          <p:nvPr/>
        </p:nvSpPr>
        <p:spPr>
          <a:xfrm>
            <a:off x="4462272" y="4892040"/>
            <a:ext cx="3429000" cy="1097280"/>
          </a:xfrm>
          <a:prstGeom prst="rect">
            <a:avLst/>
          </a:prstGeom>
          <a:noFill/>
        </p:spPr>
        <p:txBody>
          <a:bodyPr wrap="square">
            <a:spAutoFit/>
          </a:bodyPr>
          <a:lstStyle/>
          <a:p>
            <a:pPr algn="l"/>
            <a:r>
              <a:rPr sz="950" b="0" i="0">
                <a:solidFill>
                  <a:srgbClr val="4A4A5A"/>
                </a:solidFill>
              </a:rPr>
              <a:t>Netflix's House of Cards → $0.4B lifetime value. DC reboot films historically generate $500M–$1B+ box office. Netflix + theatrical releases = highest-value content monetization model.</a:t>
            </a:r>
          </a:p>
        </p:txBody>
      </p:sp>
      <p:sp>
        <p:nvSpPr>
          <p:cNvPr id="20" name="Rectangle 19"/>
          <p:cNvSpPr/>
          <p:nvPr/>
        </p:nvSpPr>
        <p:spPr>
          <a:xfrm>
            <a:off x="8138160" y="4498848"/>
            <a:ext cx="36576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4498848"/>
            <a:ext cx="91440" cy="1554480"/>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2752" y="4526280"/>
            <a:ext cx="3429000" cy="329184"/>
          </a:xfrm>
          <a:prstGeom prst="rect">
            <a:avLst/>
          </a:prstGeom>
          <a:noFill/>
        </p:spPr>
        <p:txBody>
          <a:bodyPr wrap="square">
            <a:spAutoFit/>
          </a:bodyPr>
          <a:lstStyle/>
          <a:p>
            <a:pPr algn="l"/>
            <a:r>
              <a:rPr sz="1100" b="1" i="0">
                <a:solidFill>
                  <a:srgbClr val="1A1A2E"/>
                </a:solidFill>
              </a:rPr>
              <a:t>Library Retention Value</a:t>
            </a:r>
          </a:p>
        </p:txBody>
      </p:sp>
      <p:sp>
        <p:nvSpPr>
          <p:cNvPr id="23" name="TextBox 22"/>
          <p:cNvSpPr txBox="1"/>
          <p:nvPr/>
        </p:nvSpPr>
        <p:spPr>
          <a:xfrm>
            <a:off x="8302752" y="4892040"/>
            <a:ext cx="3429000" cy="1097280"/>
          </a:xfrm>
          <a:prstGeom prst="rect">
            <a:avLst/>
          </a:prstGeom>
          <a:noFill/>
        </p:spPr>
        <p:txBody>
          <a:bodyPr wrap="square">
            <a:spAutoFit/>
          </a:bodyPr>
          <a:lstStyle/>
          <a:p>
            <a:pPr algn="l"/>
            <a:r>
              <a:rPr sz="950" b="0" i="0">
                <a:solidFill>
                  <a:srgbClr val="4A4A5A"/>
                </a:solidFill>
              </a:rPr>
              <a:t>Library content (back-catalogue) accounts for 40–60% of Netflix viewing hours. WBD library reduces monthly churn by est. 0.5–1.0 percentage points = $2–4B/yr retention value.</a:t>
            </a:r>
          </a:p>
        </p:txBody>
      </p:sp>
      <p:sp>
        <p:nvSpPr>
          <p:cNvPr id="24" name="Rectangle 23"/>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IP valuations are Financial Advisor estimates based on comparable franchise transactions. Library transaction data sourced from public filings and industry reports.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Synergy Analysis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~$4.0B Annual Synergies by Year 3 — NPV of ~$38B at 8.75% Discount Rate</a:t>
            </a:r>
          </a:p>
        </p:txBody>
      </p:sp>
      <p:sp>
        <p:nvSpPr>
          <p:cNvPr id="6" name="Rectangle 5"/>
          <p:cNvSpPr/>
          <p:nvPr/>
        </p:nvSpPr>
        <p:spPr>
          <a:xfrm>
            <a:off x="320040"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2359152"/>
            <a:ext cx="1828800" cy="54864"/>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71600"/>
            <a:ext cx="1828800" cy="658368"/>
          </a:xfrm>
          <a:prstGeom prst="rect">
            <a:avLst/>
          </a:prstGeom>
          <a:noFill/>
        </p:spPr>
        <p:txBody>
          <a:bodyPr wrap="square">
            <a:spAutoFit/>
          </a:bodyPr>
          <a:lstStyle/>
          <a:p>
            <a:pPr algn="ctr"/>
            <a:r>
              <a:rPr sz="2400" b="1" i="0">
                <a:solidFill>
                  <a:srgbClr val="008A48"/>
                </a:solidFill>
              </a:rPr>
              <a:t>~$1.5B</a:t>
            </a:r>
          </a:p>
        </p:txBody>
      </p:sp>
      <p:sp>
        <p:nvSpPr>
          <p:cNvPr id="9" name="TextBox 8"/>
          <p:cNvSpPr txBox="1"/>
          <p:nvPr/>
        </p:nvSpPr>
        <p:spPr>
          <a:xfrm>
            <a:off x="320040" y="2029968"/>
            <a:ext cx="1828800" cy="384048"/>
          </a:xfrm>
          <a:prstGeom prst="rect">
            <a:avLst/>
          </a:prstGeom>
          <a:noFill/>
        </p:spPr>
        <p:txBody>
          <a:bodyPr wrap="square">
            <a:spAutoFit/>
          </a:bodyPr>
          <a:lstStyle/>
          <a:p>
            <a:pPr algn="ctr"/>
            <a:r>
              <a:rPr sz="1000" b="0" i="0">
                <a:solidFill>
                  <a:srgbClr val="8A8A9A"/>
                </a:solidFill>
              </a:rPr>
              <a:t>Content Cost
Synergies / Yr</a:t>
            </a:r>
          </a:p>
        </p:txBody>
      </p:sp>
      <p:sp>
        <p:nvSpPr>
          <p:cNvPr id="10" name="Rectangle 9"/>
          <p:cNvSpPr/>
          <p:nvPr/>
        </p:nvSpPr>
        <p:spPr>
          <a:xfrm>
            <a:off x="2258568"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58568" y="2359152"/>
            <a:ext cx="1828800" cy="5486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1371600"/>
            <a:ext cx="1828800" cy="658368"/>
          </a:xfrm>
          <a:prstGeom prst="rect">
            <a:avLst/>
          </a:prstGeom>
          <a:noFill/>
        </p:spPr>
        <p:txBody>
          <a:bodyPr wrap="square">
            <a:spAutoFit/>
          </a:bodyPr>
          <a:lstStyle/>
          <a:p>
            <a:pPr algn="ctr"/>
            <a:r>
              <a:rPr sz="2400" b="1" i="0">
                <a:solidFill>
                  <a:srgbClr val="18408C"/>
                </a:solidFill>
              </a:rPr>
              <a:t>~$1.2B</a:t>
            </a:r>
          </a:p>
        </p:txBody>
      </p:sp>
      <p:sp>
        <p:nvSpPr>
          <p:cNvPr id="13" name="TextBox 12"/>
          <p:cNvSpPr txBox="1"/>
          <p:nvPr/>
        </p:nvSpPr>
        <p:spPr>
          <a:xfrm>
            <a:off x="2258568" y="2029968"/>
            <a:ext cx="1828800" cy="384048"/>
          </a:xfrm>
          <a:prstGeom prst="rect">
            <a:avLst/>
          </a:prstGeom>
          <a:noFill/>
        </p:spPr>
        <p:txBody>
          <a:bodyPr wrap="square">
            <a:spAutoFit/>
          </a:bodyPr>
          <a:lstStyle/>
          <a:p>
            <a:pPr algn="ctr"/>
            <a:r>
              <a:rPr sz="1000" b="0" i="0">
                <a:solidFill>
                  <a:srgbClr val="8A8A9A"/>
                </a:solidFill>
              </a:rPr>
              <a:t>Revenue
Synergies / Yr</a:t>
            </a:r>
          </a:p>
        </p:txBody>
      </p:sp>
      <p:sp>
        <p:nvSpPr>
          <p:cNvPr id="14" name="Rectangle 13"/>
          <p:cNvSpPr/>
          <p:nvPr/>
        </p:nvSpPr>
        <p:spPr>
          <a:xfrm>
            <a:off x="4197096"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2359152"/>
            <a:ext cx="182880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97096" y="1371600"/>
            <a:ext cx="1828800" cy="658368"/>
          </a:xfrm>
          <a:prstGeom prst="rect">
            <a:avLst/>
          </a:prstGeom>
          <a:noFill/>
        </p:spPr>
        <p:txBody>
          <a:bodyPr wrap="square">
            <a:spAutoFit/>
          </a:bodyPr>
          <a:lstStyle/>
          <a:p>
            <a:pPr algn="ctr"/>
            <a:r>
              <a:rPr sz="2400" b="1" i="0">
                <a:solidFill>
                  <a:srgbClr val="007B83"/>
                </a:solidFill>
              </a:rPr>
              <a:t>~$0.8B</a:t>
            </a:r>
          </a:p>
        </p:txBody>
      </p:sp>
      <p:sp>
        <p:nvSpPr>
          <p:cNvPr id="17" name="TextBox 16"/>
          <p:cNvSpPr txBox="1"/>
          <p:nvPr/>
        </p:nvSpPr>
        <p:spPr>
          <a:xfrm>
            <a:off x="4197096" y="2029968"/>
            <a:ext cx="1828800" cy="384048"/>
          </a:xfrm>
          <a:prstGeom prst="rect">
            <a:avLst/>
          </a:prstGeom>
          <a:noFill/>
        </p:spPr>
        <p:txBody>
          <a:bodyPr wrap="square">
            <a:spAutoFit/>
          </a:bodyPr>
          <a:lstStyle/>
          <a:p>
            <a:pPr algn="ctr"/>
            <a:r>
              <a:rPr sz="1000" b="0" i="0">
                <a:solidFill>
                  <a:srgbClr val="8A8A9A"/>
                </a:solidFill>
              </a:rPr>
              <a:t>Corporate &amp;
Tech Synergies</a:t>
            </a:r>
          </a:p>
        </p:txBody>
      </p:sp>
      <p:sp>
        <p:nvSpPr>
          <p:cNvPr id="18" name="Rectangle 17"/>
          <p:cNvSpPr/>
          <p:nvPr/>
        </p:nvSpPr>
        <p:spPr>
          <a:xfrm>
            <a:off x="6135624"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2359152"/>
            <a:ext cx="18288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371600"/>
            <a:ext cx="1828800" cy="658368"/>
          </a:xfrm>
          <a:prstGeom prst="rect">
            <a:avLst/>
          </a:prstGeom>
          <a:noFill/>
        </p:spPr>
        <p:txBody>
          <a:bodyPr wrap="square">
            <a:spAutoFit/>
          </a:bodyPr>
          <a:lstStyle/>
          <a:p>
            <a:pPr algn="ctr"/>
            <a:r>
              <a:rPr sz="2400" b="1" i="0">
                <a:solidFill>
                  <a:srgbClr val="C9A84C"/>
                </a:solidFill>
              </a:rPr>
              <a:t>~$0.5B</a:t>
            </a:r>
          </a:p>
        </p:txBody>
      </p:sp>
      <p:sp>
        <p:nvSpPr>
          <p:cNvPr id="21" name="TextBox 20"/>
          <p:cNvSpPr txBox="1"/>
          <p:nvPr/>
        </p:nvSpPr>
        <p:spPr>
          <a:xfrm>
            <a:off x="6135624" y="2029968"/>
            <a:ext cx="1828800" cy="384048"/>
          </a:xfrm>
          <a:prstGeom prst="rect">
            <a:avLst/>
          </a:prstGeom>
          <a:noFill/>
        </p:spPr>
        <p:txBody>
          <a:bodyPr wrap="square">
            <a:spAutoFit/>
          </a:bodyPr>
          <a:lstStyle/>
          <a:p>
            <a:pPr algn="ctr"/>
            <a:r>
              <a:rPr sz="1000" b="0" i="0">
                <a:solidFill>
                  <a:srgbClr val="8A8A9A"/>
                </a:solidFill>
              </a:rPr>
              <a:t>Distribution &amp;
Marketing</a:t>
            </a:r>
          </a:p>
        </p:txBody>
      </p:sp>
      <p:sp>
        <p:nvSpPr>
          <p:cNvPr id="22" name="Rectangle 21"/>
          <p:cNvSpPr/>
          <p:nvPr/>
        </p:nvSpPr>
        <p:spPr>
          <a:xfrm>
            <a:off x="8074152"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1371600"/>
            <a:ext cx="1828800" cy="658368"/>
          </a:xfrm>
          <a:prstGeom prst="rect">
            <a:avLst/>
          </a:prstGeom>
          <a:noFill/>
        </p:spPr>
        <p:txBody>
          <a:bodyPr wrap="square">
            <a:spAutoFit/>
          </a:bodyPr>
          <a:lstStyle/>
          <a:p>
            <a:pPr algn="ctr"/>
            <a:r>
              <a:rPr sz="2400" b="1" i="0">
                <a:solidFill>
                  <a:srgbClr val="0F2044"/>
                </a:solidFill>
              </a:rPr>
              <a:t>~$4.0B</a:t>
            </a:r>
          </a:p>
        </p:txBody>
      </p:sp>
      <p:sp>
        <p:nvSpPr>
          <p:cNvPr id="25" name="TextBox 24"/>
          <p:cNvSpPr txBox="1"/>
          <p:nvPr/>
        </p:nvSpPr>
        <p:spPr>
          <a:xfrm>
            <a:off x="8074152" y="2029968"/>
            <a:ext cx="1828800" cy="384048"/>
          </a:xfrm>
          <a:prstGeom prst="rect">
            <a:avLst/>
          </a:prstGeom>
          <a:noFill/>
        </p:spPr>
        <p:txBody>
          <a:bodyPr wrap="square">
            <a:spAutoFit/>
          </a:bodyPr>
          <a:lstStyle/>
          <a:p>
            <a:pPr algn="ctr"/>
            <a:r>
              <a:rPr sz="1000" b="0" i="0">
                <a:solidFill>
                  <a:srgbClr val="8A8A9A"/>
                </a:solidFill>
              </a:rPr>
              <a:t>Total Annual
Synergies (Yr 3)</a:t>
            </a:r>
          </a:p>
        </p:txBody>
      </p:sp>
      <p:sp>
        <p:nvSpPr>
          <p:cNvPr id="26" name="Rectangle 25"/>
          <p:cNvSpPr/>
          <p:nvPr/>
        </p:nvSpPr>
        <p:spPr>
          <a:xfrm>
            <a:off x="10012680"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12680" y="2359152"/>
            <a:ext cx="1828800" cy="54864"/>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1371600"/>
            <a:ext cx="1828800" cy="658368"/>
          </a:xfrm>
          <a:prstGeom prst="rect">
            <a:avLst/>
          </a:prstGeom>
          <a:noFill/>
        </p:spPr>
        <p:txBody>
          <a:bodyPr wrap="square">
            <a:spAutoFit/>
          </a:bodyPr>
          <a:lstStyle/>
          <a:p>
            <a:pPr algn="ctr"/>
            <a:r>
              <a:rPr sz="2400" b="1" i="0">
                <a:solidFill>
                  <a:srgbClr val="E50914"/>
                </a:solidFill>
              </a:rPr>
              <a:t>~$38B</a:t>
            </a:r>
          </a:p>
        </p:txBody>
      </p:sp>
      <p:sp>
        <p:nvSpPr>
          <p:cNvPr id="29" name="TextBox 28"/>
          <p:cNvSpPr txBox="1"/>
          <p:nvPr/>
        </p:nvSpPr>
        <p:spPr>
          <a:xfrm>
            <a:off x="10012680" y="2029968"/>
            <a:ext cx="1828800" cy="384048"/>
          </a:xfrm>
          <a:prstGeom prst="rect">
            <a:avLst/>
          </a:prstGeom>
          <a:noFill/>
        </p:spPr>
        <p:txBody>
          <a:bodyPr wrap="square">
            <a:spAutoFit/>
          </a:bodyPr>
          <a:lstStyle/>
          <a:p>
            <a:pPr algn="ctr"/>
            <a:r>
              <a:rPr sz="1000" b="0" i="0">
                <a:solidFill>
                  <a:srgbClr val="8A8A9A"/>
                </a:solidFill>
              </a:rPr>
              <a:t>NPV of
Synergies</a:t>
            </a:r>
          </a:p>
        </p:txBody>
      </p:sp>
      <p:sp>
        <p:nvSpPr>
          <p:cNvPr id="30" name="TextBox 29"/>
          <p:cNvSpPr txBox="1"/>
          <p:nvPr/>
        </p:nvSpPr>
        <p:spPr>
          <a:xfrm>
            <a:off x="320040" y="2578608"/>
            <a:ext cx="11548872" cy="347472"/>
          </a:xfrm>
          <a:prstGeom prst="rect">
            <a:avLst/>
          </a:prstGeom>
          <a:noFill/>
        </p:spPr>
        <p:txBody>
          <a:bodyPr wrap="square">
            <a:spAutoFit/>
          </a:bodyPr>
          <a:lstStyle/>
          <a:p>
            <a:pPr algn="l"/>
            <a:r>
              <a:rPr sz="1200" b="1" i="0">
                <a:solidFill>
                  <a:srgbClr val="1A1A2E"/>
                </a:solidFill>
              </a:rPr>
              <a:t>Synergy Build-Up — Phased Implementation ($M)</a:t>
            </a:r>
          </a:p>
        </p:txBody>
      </p:sp>
      <p:graphicFrame>
        <p:nvGraphicFramePr>
          <p:cNvPr id="31" name="Table 30"/>
          <p:cNvGraphicFramePr>
            <a:graphicFrameLocks noGrp="1"/>
          </p:cNvGraphicFramePr>
          <p:nvPr/>
        </p:nvGraphicFramePr>
        <p:xfrm>
          <a:off x="320040" y="2971800"/>
          <a:ext cx="11548872" cy="3063240"/>
        </p:xfrm>
        <a:graphic>
          <a:graphicData uri="http://schemas.openxmlformats.org/drawingml/2006/table">
            <a:tbl>
              <a:tblPr firstRow="1" bandRow="1">
                <a:tableStyleId>{5C22544A-7EE6-4342-B048-85BDC9FD1C3A}</a:tableStyleId>
              </a:tblPr>
              <a:tblGrid>
                <a:gridCol w="1924812"/>
                <a:gridCol w="1924812"/>
                <a:gridCol w="1924812"/>
                <a:gridCol w="1924812"/>
                <a:gridCol w="1924812"/>
                <a:gridCol w="1924812"/>
              </a:tblGrid>
              <a:tr h="235633">
                <a:tc>
                  <a:txBody>
                    <a:bodyPr wrap="square"/>
                    <a:lstStyle/>
                    <a:p>
                      <a:pPr algn="ctr"/>
                      <a:r>
                        <a:rPr sz="950" b="1" i="0">
                          <a:solidFill>
                            <a:srgbClr val="FFFFFF"/>
                          </a:solidFill>
                        </a:rPr>
                        <a:t>Category</a:t>
                      </a:r>
                    </a:p>
                  </a:txBody>
                  <a:tcPr>
                    <a:solidFill>
                      <a:srgbClr val="0F2044"/>
                    </a:solidFill>
                  </a:tcPr>
                </a:tc>
                <a:tc>
                  <a:txBody>
                    <a:bodyPr wrap="square"/>
                    <a:lstStyle/>
                    <a:p>
                      <a:pPr algn="ctr"/>
                      <a:r>
                        <a:rPr sz="950" b="1" i="0">
                          <a:solidFill>
                            <a:srgbClr val="FFFFFF"/>
                          </a:solidFill>
                        </a:rPr>
                        <a:t>Description</a:t>
                      </a:r>
                    </a:p>
                  </a:txBody>
                  <a:tcPr>
                    <a:solidFill>
                      <a:srgbClr val="0F2044"/>
                    </a:solidFill>
                  </a:tcPr>
                </a:tc>
                <a:tc>
                  <a:txBody>
                    <a:bodyPr wrap="square"/>
                    <a:lstStyle/>
                    <a:p>
                      <a:pPr algn="ctr"/>
                      <a:r>
                        <a:rPr sz="950" b="1" i="0">
                          <a:solidFill>
                            <a:srgbClr val="FFFFFF"/>
                          </a:solidFill>
                        </a:rPr>
                        <a:t>Yr 1E</a:t>
                      </a:r>
                    </a:p>
                  </a:txBody>
                  <a:tcPr>
                    <a:solidFill>
                      <a:srgbClr val="0F2044"/>
                    </a:solidFill>
                  </a:tcPr>
                </a:tc>
                <a:tc>
                  <a:txBody>
                    <a:bodyPr wrap="square"/>
                    <a:lstStyle/>
                    <a:p>
                      <a:pPr algn="ctr"/>
                      <a:r>
                        <a:rPr sz="950" b="1" i="0">
                          <a:solidFill>
                            <a:srgbClr val="FFFFFF"/>
                          </a:solidFill>
                        </a:rPr>
                        <a:t>Yr 2E</a:t>
                      </a:r>
                    </a:p>
                  </a:txBody>
                  <a:tcPr>
                    <a:solidFill>
                      <a:srgbClr val="0F2044"/>
                    </a:solidFill>
                  </a:tcPr>
                </a:tc>
                <a:tc>
                  <a:txBody>
                    <a:bodyPr wrap="square"/>
                    <a:lstStyle/>
                    <a:p>
                      <a:pPr algn="ctr"/>
                      <a:r>
                        <a:rPr sz="950" b="1" i="0">
                          <a:solidFill>
                            <a:srgbClr val="FFFFFF"/>
                          </a:solidFill>
                        </a:rPr>
                        <a:t>Yr 3E</a:t>
                      </a:r>
                    </a:p>
                  </a:txBody>
                  <a:tcPr>
                    <a:solidFill>
                      <a:srgbClr val="0F2044"/>
                    </a:solidFill>
                  </a:tcPr>
                </a:tc>
                <a:tc>
                  <a:txBody>
                    <a:bodyPr wrap="square"/>
                    <a:lstStyle/>
                    <a:p>
                      <a:pPr algn="ctr"/>
                      <a:r>
                        <a:rPr sz="950" b="1" i="0">
                          <a:solidFill>
                            <a:srgbClr val="FFFFFF"/>
                          </a:solidFill>
                        </a:rPr>
                        <a:t>Confidence</a:t>
                      </a:r>
                    </a:p>
                  </a:txBody>
                  <a:tcPr>
                    <a:solidFill>
                      <a:srgbClr val="0F2044"/>
                    </a:solidFill>
                  </a:tcPr>
                </a:tc>
              </a:tr>
              <a:tr h="235633">
                <a:tc>
                  <a:txBody>
                    <a:bodyPr wrap="square"/>
                    <a:lstStyle/>
                    <a:p>
                      <a:pPr algn="l"/>
                      <a:r>
                        <a:rPr sz="900" b="1" i="0">
                          <a:solidFill>
                            <a:srgbClr val="FFFFFF"/>
                          </a:solidFill>
                        </a:rPr>
                        <a:t>COST SYNERGIES</a:t>
                      </a:r>
                    </a:p>
                  </a:txBody>
                  <a:tcPr>
                    <a:solidFill>
                      <a:srgbClr val="18408C"/>
                    </a:solidFill>
                  </a:tcPr>
                </a:tc>
                <a:tc>
                  <a:txBody>
                    <a:bodyPr wrap="square"/>
                    <a:lstStyle/>
                    <a:p>
                      <a:pPr algn="l"/>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l"/>
                      <a:r>
                        <a:rPr sz="900" b="1" i="0">
                          <a:solidFill>
                            <a:srgbClr val="FFFFFF"/>
                          </a:solidFill>
                        </a:rPr>
                        <a:t/>
                      </a:r>
                    </a:p>
                  </a:txBody>
                  <a:tcPr>
                    <a:solidFill>
                      <a:srgbClr val="18408C"/>
                    </a:solidFill>
                  </a:tcPr>
                </a:tc>
              </a:tr>
              <a:tr h="235633">
                <a:tc>
                  <a:txBody>
                    <a:bodyPr wrap="square"/>
                    <a:lstStyle/>
                    <a:p>
                      <a:pPr algn="l"/>
                      <a:r>
                        <a:rPr sz="900" b="0" i="0">
                          <a:solidFill>
                            <a:srgbClr val="1A1A2E"/>
                          </a:solidFill>
                        </a:rPr>
                        <a:t>Content Spend Reduction</a:t>
                      </a:r>
                    </a:p>
                  </a:txBody>
                  <a:tcPr/>
                </a:tc>
                <a:tc>
                  <a:txBody>
                    <a:bodyPr wrap="square"/>
                    <a:lstStyle/>
                    <a:p>
                      <a:pPr algn="l"/>
                      <a:r>
                        <a:rPr sz="900" b="0" i="0">
                          <a:solidFill>
                            <a:srgbClr val="1A1A2E"/>
                          </a:solidFill>
                        </a:rPr>
                        <a:t>Eliminate duplicate originals; leverage combined library</a:t>
                      </a:r>
                    </a:p>
                  </a:txBody>
                  <a:tcPr/>
                </a:tc>
                <a:tc>
                  <a:txBody>
                    <a:bodyPr wrap="square"/>
                    <a:lstStyle/>
                    <a:p>
                      <a:pPr algn="r"/>
                      <a:r>
                        <a:rPr sz="900" b="0" i="0">
                          <a:solidFill>
                            <a:srgbClr val="1A1A2E"/>
                          </a:solidFill>
                        </a:rPr>
                        <a:t>$500</a:t>
                      </a:r>
                    </a:p>
                  </a:txBody>
                  <a:tcPr/>
                </a:tc>
                <a:tc>
                  <a:txBody>
                    <a:bodyPr wrap="square"/>
                    <a:lstStyle/>
                    <a:p>
                      <a:pPr algn="r"/>
                      <a:r>
                        <a:rPr sz="900" b="0" i="0">
                          <a:solidFill>
                            <a:srgbClr val="1A1A2E"/>
                          </a:solidFill>
                        </a:rPr>
                        <a:t>$900</a:t>
                      </a:r>
                    </a:p>
                  </a:txBody>
                  <a:tcPr/>
                </a:tc>
                <a:tc>
                  <a:txBody>
                    <a:bodyPr wrap="square"/>
                    <a:lstStyle/>
                    <a:p>
                      <a:pPr algn="r"/>
                      <a:r>
                        <a:rPr sz="900" b="0" i="0">
                          <a:solidFill>
                            <a:srgbClr val="1A1A2E"/>
                          </a:solidFill>
                        </a:rPr>
                        <a:t>$1,500</a:t>
                      </a:r>
                    </a:p>
                  </a:txBody>
                  <a:tcPr/>
                </a:tc>
                <a:tc>
                  <a:txBody>
                    <a:bodyPr wrap="square"/>
                    <a:lstStyle/>
                    <a:p>
                      <a:pPr algn="l"/>
                      <a:r>
                        <a:rPr sz="900" b="0" i="0">
                          <a:solidFill>
                            <a:srgbClr val="1A1A2E"/>
                          </a:solidFill>
                        </a:rPr>
                        <a:t>High</a:t>
                      </a:r>
                    </a:p>
                  </a:txBody>
                  <a:tcPr/>
                </a:tc>
              </a:tr>
              <a:tr h="235633">
                <a:tc>
                  <a:txBody>
                    <a:bodyPr wrap="square"/>
                    <a:lstStyle/>
                    <a:p>
                      <a:pPr algn="l"/>
                      <a:r>
                        <a:rPr sz="900" b="0" i="0">
                          <a:solidFill>
                            <a:srgbClr val="1A1A2E"/>
                          </a:solidFill>
                        </a:rPr>
                        <a:t>Technology / Infrastructure</a:t>
                      </a:r>
                    </a:p>
                  </a:txBody>
                  <a:tcPr>
                    <a:solidFill>
                      <a:srgbClr val="EAF0FB"/>
                    </a:solidFill>
                  </a:tcPr>
                </a:tc>
                <a:tc>
                  <a:txBody>
                    <a:bodyPr wrap="square"/>
                    <a:lstStyle/>
                    <a:p>
                      <a:pPr algn="l"/>
                      <a:r>
                        <a:rPr sz="900" b="0" i="0">
                          <a:solidFill>
                            <a:srgbClr val="1A1A2E"/>
                          </a:solidFill>
                        </a:rPr>
                        <a:t>Consolidate streaming tech; single CDN + data infra</a:t>
                      </a:r>
                    </a:p>
                  </a:txBody>
                  <a:tcPr>
                    <a:solidFill>
                      <a:srgbClr val="EAF0FB"/>
                    </a:solidFill>
                  </a:tcPr>
                </a:tc>
                <a:tc>
                  <a:txBody>
                    <a:bodyPr wrap="square"/>
                    <a:lstStyle/>
                    <a:p>
                      <a:pPr algn="r"/>
                      <a:r>
                        <a:rPr sz="900" b="0" i="0">
                          <a:solidFill>
                            <a:srgbClr val="1A1A2E"/>
                          </a:solidFill>
                        </a:rPr>
                        <a:t>$150</a:t>
                      </a:r>
                    </a:p>
                  </a:txBody>
                  <a:tcPr>
                    <a:solidFill>
                      <a:srgbClr val="EAF0FB"/>
                    </a:solidFill>
                  </a:tcPr>
                </a:tc>
                <a:tc>
                  <a:txBody>
                    <a:bodyPr wrap="square"/>
                    <a:lstStyle/>
                    <a:p>
                      <a:pPr algn="r"/>
                      <a:r>
                        <a:rPr sz="900" b="0" i="0">
                          <a:solidFill>
                            <a:srgbClr val="1A1A2E"/>
                          </a:solidFill>
                        </a:rPr>
                        <a:t>$250</a:t>
                      </a:r>
                    </a:p>
                  </a:txBody>
                  <a:tcPr>
                    <a:solidFill>
                      <a:srgbClr val="EAF0FB"/>
                    </a:solidFill>
                  </a:tcPr>
                </a:tc>
                <a:tc>
                  <a:txBody>
                    <a:bodyPr wrap="square"/>
                    <a:lstStyle/>
                    <a:p>
                      <a:pPr algn="r"/>
                      <a:r>
                        <a:rPr sz="900" b="0" i="0">
                          <a:solidFill>
                            <a:srgbClr val="1A1A2E"/>
                          </a:solidFill>
                        </a:rPr>
                        <a:t>$400</a:t>
                      </a:r>
                    </a:p>
                  </a:txBody>
                  <a:tcPr>
                    <a:solidFill>
                      <a:srgbClr val="EAF0FB"/>
                    </a:solidFill>
                  </a:tcPr>
                </a:tc>
                <a:tc>
                  <a:txBody>
                    <a:bodyPr wrap="square"/>
                    <a:lstStyle/>
                    <a:p>
                      <a:pPr algn="l"/>
                      <a:r>
                        <a:rPr sz="900" b="0" i="0">
                          <a:solidFill>
                            <a:srgbClr val="1A1A2E"/>
                          </a:solidFill>
                        </a:rPr>
                        <a:t>High</a:t>
                      </a:r>
                    </a:p>
                  </a:txBody>
                  <a:tcPr>
                    <a:solidFill>
                      <a:srgbClr val="EAF0FB"/>
                    </a:solidFill>
                  </a:tcPr>
                </a:tc>
              </a:tr>
              <a:tr h="235633">
                <a:tc>
                  <a:txBody>
                    <a:bodyPr wrap="square"/>
                    <a:lstStyle/>
                    <a:p>
                      <a:pPr algn="l"/>
                      <a:r>
                        <a:rPr sz="900" b="0" i="0">
                          <a:solidFill>
                            <a:srgbClr val="1A1A2E"/>
                          </a:solidFill>
                        </a:rPr>
                        <a:t>Corporate Overhead</a:t>
                      </a:r>
                    </a:p>
                  </a:txBody>
                  <a:tcPr/>
                </a:tc>
                <a:tc>
                  <a:txBody>
                    <a:bodyPr wrap="square"/>
                    <a:lstStyle/>
                    <a:p>
                      <a:pPr algn="l"/>
                      <a:r>
                        <a:rPr sz="900" b="0" i="0">
                          <a:solidFill>
                            <a:srgbClr val="1A1A2E"/>
                          </a:solidFill>
                        </a:rPr>
                        <a:t>Duplicate G&amp;A, exec comp, legal, finance, HR</a:t>
                      </a:r>
                    </a:p>
                  </a:txBody>
                  <a:tcPr/>
                </a:tc>
                <a:tc>
                  <a:txBody>
                    <a:bodyPr wrap="square"/>
                    <a:lstStyle/>
                    <a:p>
                      <a:pPr algn="r"/>
                      <a:r>
                        <a:rPr sz="900" b="0" i="0">
                          <a:solidFill>
                            <a:srgbClr val="1A1A2E"/>
                          </a:solidFill>
                        </a:rPr>
                        <a:t>$100</a:t>
                      </a:r>
                    </a:p>
                  </a:txBody>
                  <a:tcPr/>
                </a:tc>
                <a:tc>
                  <a:txBody>
                    <a:bodyPr wrap="square"/>
                    <a:lstStyle/>
                    <a:p>
                      <a:pPr algn="r"/>
                      <a:r>
                        <a:rPr sz="900" b="0" i="0">
                          <a:solidFill>
                            <a:srgbClr val="1A1A2E"/>
                          </a:solidFill>
                        </a:rPr>
                        <a:t>$180</a:t>
                      </a:r>
                    </a:p>
                  </a:txBody>
                  <a:tcPr/>
                </a:tc>
                <a:tc>
                  <a:txBody>
                    <a:bodyPr wrap="square"/>
                    <a:lstStyle/>
                    <a:p>
                      <a:pPr algn="r"/>
                      <a:r>
                        <a:rPr sz="900" b="0" i="0">
                          <a:solidFill>
                            <a:srgbClr val="1A1A2E"/>
                          </a:solidFill>
                        </a:rPr>
                        <a:t>$280</a:t>
                      </a:r>
                    </a:p>
                  </a:txBody>
                  <a:tcPr/>
                </a:tc>
                <a:tc>
                  <a:txBody>
                    <a:bodyPr wrap="square"/>
                    <a:lstStyle/>
                    <a:p>
                      <a:pPr algn="l"/>
                      <a:r>
                        <a:rPr sz="900" b="0" i="0">
                          <a:solidFill>
                            <a:srgbClr val="1A1A2E"/>
                          </a:solidFill>
                        </a:rPr>
                        <a:t>High</a:t>
                      </a:r>
                    </a:p>
                  </a:txBody>
                  <a:tcPr/>
                </a:tc>
              </a:tr>
              <a:tr h="235633">
                <a:tc>
                  <a:txBody>
                    <a:bodyPr wrap="square"/>
                    <a:lstStyle/>
                    <a:p>
                      <a:pPr algn="l"/>
                      <a:r>
                        <a:rPr sz="900" b="0" i="0">
                          <a:solidFill>
                            <a:srgbClr val="1A1A2E"/>
                          </a:solidFill>
                        </a:rPr>
                        <a:t>Marketing &amp; Distribution</a:t>
                      </a:r>
                    </a:p>
                  </a:txBody>
                  <a:tcPr>
                    <a:solidFill>
                      <a:srgbClr val="EAF0FB"/>
                    </a:solidFill>
                  </a:tcPr>
                </a:tc>
                <a:tc>
                  <a:txBody>
                    <a:bodyPr wrap="square"/>
                    <a:lstStyle/>
                    <a:p>
                      <a:pPr algn="l"/>
                      <a:r>
                        <a:rPr sz="900" b="0" i="0">
                          <a:solidFill>
                            <a:srgbClr val="1A1A2E"/>
                          </a:solidFill>
                        </a:rPr>
                        <a:t>Combined subscriber marketing; co-brand promotions</a:t>
                      </a:r>
                    </a:p>
                  </a:txBody>
                  <a:tcPr>
                    <a:solidFill>
                      <a:srgbClr val="EAF0FB"/>
                    </a:solidFill>
                  </a:tcPr>
                </a:tc>
                <a:tc>
                  <a:txBody>
                    <a:bodyPr wrap="square"/>
                    <a:lstStyle/>
                    <a:p>
                      <a:pPr algn="r"/>
                      <a:r>
                        <a:rPr sz="900" b="0" i="0">
                          <a:solidFill>
                            <a:srgbClr val="1A1A2E"/>
                          </a:solidFill>
                        </a:rPr>
                        <a:t>$100</a:t>
                      </a:r>
                    </a:p>
                  </a:txBody>
                  <a:tcPr>
                    <a:solidFill>
                      <a:srgbClr val="EAF0FB"/>
                    </a:solidFill>
                  </a:tcPr>
                </a:tc>
                <a:tc>
                  <a:txBody>
                    <a:bodyPr wrap="square"/>
                    <a:lstStyle/>
                    <a:p>
                      <a:pPr algn="r"/>
                      <a:r>
                        <a:rPr sz="900" b="0" i="0">
                          <a:solidFill>
                            <a:srgbClr val="1A1A2E"/>
                          </a:solidFill>
                        </a:rPr>
                        <a:t>$200</a:t>
                      </a:r>
                    </a:p>
                  </a:txBody>
                  <a:tcPr>
                    <a:solidFill>
                      <a:srgbClr val="EAF0FB"/>
                    </a:solidFill>
                  </a:tcPr>
                </a:tc>
                <a:tc>
                  <a:txBody>
                    <a:bodyPr wrap="square"/>
                    <a:lstStyle/>
                    <a:p>
                      <a:pPr algn="r"/>
                      <a:r>
                        <a:rPr sz="900" b="0" i="0">
                          <a:solidFill>
                            <a:srgbClr val="1A1A2E"/>
                          </a:solidFill>
                        </a:rPr>
                        <a:t>$350</a:t>
                      </a:r>
                    </a:p>
                  </a:txBody>
                  <a:tcPr>
                    <a:solidFill>
                      <a:srgbClr val="EAF0FB"/>
                    </a:solidFill>
                  </a:tcPr>
                </a:tc>
                <a:tc>
                  <a:txBody>
                    <a:bodyPr wrap="square"/>
                    <a:lstStyle/>
                    <a:p>
                      <a:pPr algn="l"/>
                      <a:r>
                        <a:rPr sz="900" b="0" i="0">
                          <a:solidFill>
                            <a:srgbClr val="1A1A2E"/>
                          </a:solidFill>
                        </a:rPr>
                        <a:t>Medium</a:t>
                      </a:r>
                    </a:p>
                  </a:txBody>
                  <a:tcPr>
                    <a:solidFill>
                      <a:srgbClr val="EAF0FB"/>
                    </a:solidFill>
                  </a:tcPr>
                </a:tc>
              </a:tr>
              <a:tr h="235633">
                <a:tc>
                  <a:txBody>
                    <a:bodyPr wrap="square"/>
                    <a:lstStyle/>
                    <a:p>
                      <a:pPr algn="l"/>
                      <a:r>
                        <a:rPr sz="900" b="1" i="0">
                          <a:solidFill>
                            <a:srgbClr val="1A1A2E"/>
                          </a:solidFill>
                        </a:rPr>
                        <a:t>Cost Subtotal</a:t>
                      </a:r>
                    </a:p>
                  </a:txBody>
                  <a:tcPr>
                    <a:solidFill>
                      <a:srgbClr val="F5F6F8"/>
                    </a:solidFill>
                  </a:tcPr>
                </a:tc>
                <a:tc>
                  <a:txBody>
                    <a:bodyPr wrap="square"/>
                    <a:lstStyle/>
                    <a:p>
                      <a:pPr algn="l"/>
                      <a:r>
                        <a:rPr sz="900" b="1" i="0">
                          <a:solidFill>
                            <a:srgbClr val="1A1A2E"/>
                          </a:solidFill>
                        </a:rPr>
                        <a:t/>
                      </a:r>
                    </a:p>
                  </a:txBody>
                  <a:tcPr>
                    <a:solidFill>
                      <a:srgbClr val="F5F6F8"/>
                    </a:solidFill>
                  </a:tcPr>
                </a:tc>
                <a:tc>
                  <a:txBody>
                    <a:bodyPr wrap="square"/>
                    <a:lstStyle/>
                    <a:p>
                      <a:pPr algn="r"/>
                      <a:r>
                        <a:rPr sz="900" b="1" i="0">
                          <a:solidFill>
                            <a:srgbClr val="1A1A2E"/>
                          </a:solidFill>
                        </a:rPr>
                        <a:t>$850</a:t>
                      </a:r>
                    </a:p>
                  </a:txBody>
                  <a:tcPr>
                    <a:solidFill>
                      <a:srgbClr val="F5F6F8"/>
                    </a:solidFill>
                  </a:tcPr>
                </a:tc>
                <a:tc>
                  <a:txBody>
                    <a:bodyPr wrap="square"/>
                    <a:lstStyle/>
                    <a:p>
                      <a:pPr algn="r"/>
                      <a:r>
                        <a:rPr sz="900" b="1" i="0">
                          <a:solidFill>
                            <a:srgbClr val="1A1A2E"/>
                          </a:solidFill>
                        </a:rPr>
                        <a:t>$1,530</a:t>
                      </a:r>
                    </a:p>
                  </a:txBody>
                  <a:tcPr>
                    <a:solidFill>
                      <a:srgbClr val="F5F6F8"/>
                    </a:solidFill>
                  </a:tcPr>
                </a:tc>
                <a:tc>
                  <a:txBody>
                    <a:bodyPr wrap="square"/>
                    <a:lstStyle/>
                    <a:p>
                      <a:pPr algn="r"/>
                      <a:r>
                        <a:rPr sz="900" b="1" i="0">
                          <a:solidFill>
                            <a:srgbClr val="1A1A2E"/>
                          </a:solidFill>
                        </a:rPr>
                        <a:t>$2,530</a:t>
                      </a:r>
                    </a:p>
                  </a:txBody>
                  <a:tcPr>
                    <a:solidFill>
                      <a:srgbClr val="F5F6F8"/>
                    </a:solidFill>
                  </a:tcPr>
                </a:tc>
                <a:tc>
                  <a:txBody>
                    <a:bodyPr wrap="square"/>
                    <a:lstStyle/>
                    <a:p>
                      <a:pPr algn="l"/>
                      <a:r>
                        <a:rPr sz="900" b="1" i="0">
                          <a:solidFill>
                            <a:srgbClr val="1A1A2E"/>
                          </a:solidFill>
                        </a:rPr>
                        <a:t/>
                      </a:r>
                    </a:p>
                  </a:txBody>
                  <a:tcPr>
                    <a:solidFill>
                      <a:srgbClr val="F5F6F8"/>
                    </a:solidFill>
                  </a:tcPr>
                </a:tc>
              </a:tr>
              <a:tr h="235633">
                <a:tc>
                  <a:txBody>
                    <a:bodyPr wrap="square"/>
                    <a:lstStyle/>
                    <a:p>
                      <a:pPr algn="l"/>
                      <a:r>
                        <a:rPr sz="900" b="1" i="0">
                          <a:solidFill>
                            <a:srgbClr val="FFFFFF"/>
                          </a:solidFill>
                        </a:rPr>
                        <a:t>REVENUE SYNERGIES</a:t>
                      </a:r>
                    </a:p>
                  </a:txBody>
                  <a:tcPr>
                    <a:solidFill>
                      <a:srgbClr val="008A48"/>
                    </a:solidFill>
                  </a:tcPr>
                </a:tc>
                <a:tc>
                  <a:txBody>
                    <a:bodyPr wrap="square"/>
                    <a:lstStyle/>
                    <a:p>
                      <a:pPr algn="l"/>
                      <a:r>
                        <a:rPr sz="900" b="1" i="0">
                          <a:solidFill>
                            <a:srgbClr val="FFFFFF"/>
                          </a:solidFill>
                        </a:rPr>
                        <a:t/>
                      </a:r>
                    </a:p>
                  </a:txBody>
                  <a:tcPr>
                    <a:solidFill>
                      <a:srgbClr val="008A48"/>
                    </a:solidFill>
                  </a:tcPr>
                </a:tc>
                <a:tc>
                  <a:txBody>
                    <a:bodyPr wrap="square"/>
                    <a:lstStyle/>
                    <a:p>
                      <a:pPr algn="r"/>
                      <a:r>
                        <a:rPr sz="900" b="1" i="0">
                          <a:solidFill>
                            <a:srgbClr val="FFFFFF"/>
                          </a:solidFill>
                        </a:rPr>
                        <a:t/>
                      </a:r>
                    </a:p>
                  </a:txBody>
                  <a:tcPr>
                    <a:solidFill>
                      <a:srgbClr val="008A48"/>
                    </a:solidFill>
                  </a:tcPr>
                </a:tc>
                <a:tc>
                  <a:txBody>
                    <a:bodyPr wrap="square"/>
                    <a:lstStyle/>
                    <a:p>
                      <a:pPr algn="r"/>
                      <a:r>
                        <a:rPr sz="900" b="1" i="0">
                          <a:solidFill>
                            <a:srgbClr val="FFFFFF"/>
                          </a:solidFill>
                        </a:rPr>
                        <a:t/>
                      </a:r>
                    </a:p>
                  </a:txBody>
                  <a:tcPr>
                    <a:solidFill>
                      <a:srgbClr val="008A48"/>
                    </a:solidFill>
                  </a:tcPr>
                </a:tc>
                <a:tc>
                  <a:txBody>
                    <a:bodyPr wrap="square"/>
                    <a:lstStyle/>
                    <a:p>
                      <a:pPr algn="r"/>
                      <a:r>
                        <a:rPr sz="900" b="1" i="0">
                          <a:solidFill>
                            <a:srgbClr val="FFFFFF"/>
                          </a:solidFill>
                        </a:rPr>
                        <a:t/>
                      </a:r>
                    </a:p>
                  </a:txBody>
                  <a:tcPr>
                    <a:solidFill>
                      <a:srgbClr val="008A48"/>
                    </a:solidFill>
                  </a:tcPr>
                </a:tc>
                <a:tc>
                  <a:txBody>
                    <a:bodyPr wrap="square"/>
                    <a:lstStyle/>
                    <a:p>
                      <a:pPr algn="l"/>
                      <a:r>
                        <a:rPr sz="900" b="1" i="0">
                          <a:solidFill>
                            <a:srgbClr val="FFFFFF"/>
                          </a:solidFill>
                        </a:rPr>
                        <a:t/>
                      </a:r>
                    </a:p>
                  </a:txBody>
                  <a:tcPr>
                    <a:solidFill>
                      <a:srgbClr val="008A48"/>
                    </a:solidFill>
                  </a:tcPr>
                </a:tc>
              </a:tr>
              <a:tr h="235633">
                <a:tc>
                  <a:txBody>
                    <a:bodyPr wrap="square"/>
                    <a:lstStyle/>
                    <a:p>
                      <a:pPr algn="l"/>
                      <a:r>
                        <a:rPr sz="900" b="0" i="0">
                          <a:solidFill>
                            <a:srgbClr val="1A1A2E"/>
                          </a:solidFill>
                        </a:rPr>
                        <a:t>Cross-Platform Subscribers</a:t>
                      </a:r>
                    </a:p>
                  </a:txBody>
                  <a:tcPr/>
                </a:tc>
                <a:tc>
                  <a:txBody>
                    <a:bodyPr wrap="square"/>
                    <a:lstStyle/>
                    <a:p>
                      <a:pPr algn="l"/>
                      <a:r>
                        <a:rPr sz="900" b="0" i="0">
                          <a:solidFill>
                            <a:srgbClr val="1A1A2E"/>
                          </a:solidFill>
                        </a:rPr>
                        <a:t>Max-to-Netflix migration; retention improvement</a:t>
                      </a:r>
                    </a:p>
                  </a:txBody>
                  <a:tcPr/>
                </a:tc>
                <a:tc>
                  <a:txBody>
                    <a:bodyPr wrap="square"/>
                    <a:lstStyle/>
                    <a:p>
                      <a:pPr algn="r"/>
                      <a:r>
                        <a:rPr sz="900" b="0" i="0">
                          <a:solidFill>
                            <a:srgbClr val="1A1A2E"/>
                          </a:solidFill>
                        </a:rPr>
                        <a:t>$200</a:t>
                      </a:r>
                    </a:p>
                  </a:txBody>
                  <a:tcPr/>
                </a:tc>
                <a:tc>
                  <a:txBody>
                    <a:bodyPr wrap="square"/>
                    <a:lstStyle/>
                    <a:p>
                      <a:pPr algn="r"/>
                      <a:r>
                        <a:rPr sz="900" b="0" i="0">
                          <a:solidFill>
                            <a:srgbClr val="1A1A2E"/>
                          </a:solidFill>
                        </a:rPr>
                        <a:t>$450</a:t>
                      </a:r>
                    </a:p>
                  </a:txBody>
                  <a:tcPr/>
                </a:tc>
                <a:tc>
                  <a:txBody>
                    <a:bodyPr wrap="square"/>
                    <a:lstStyle/>
                    <a:p>
                      <a:pPr algn="r"/>
                      <a:r>
                        <a:rPr sz="900" b="0" i="0">
                          <a:solidFill>
                            <a:srgbClr val="1A1A2E"/>
                          </a:solidFill>
                        </a:rPr>
                        <a:t>$800</a:t>
                      </a:r>
                    </a:p>
                  </a:txBody>
                  <a:tcPr/>
                </a:tc>
                <a:tc>
                  <a:txBody>
                    <a:bodyPr wrap="square"/>
                    <a:lstStyle/>
                    <a:p>
                      <a:pPr algn="l"/>
                      <a:r>
                        <a:rPr sz="900" b="0" i="0">
                          <a:solidFill>
                            <a:srgbClr val="1A1A2E"/>
                          </a:solidFill>
                        </a:rPr>
                        <a:t>Medium</a:t>
                      </a:r>
                    </a:p>
                  </a:txBody>
                  <a:tcPr/>
                </a:tc>
              </a:tr>
              <a:tr h="235633">
                <a:tc>
                  <a:txBody>
                    <a:bodyPr wrap="square"/>
                    <a:lstStyle/>
                    <a:p>
                      <a:pPr algn="l"/>
                      <a:r>
                        <a:rPr sz="900" b="0" i="0">
                          <a:solidFill>
                            <a:srgbClr val="1A1A2E"/>
                          </a:solidFill>
                        </a:rPr>
                        <a:t>Advertising Uplift</a:t>
                      </a:r>
                    </a:p>
                  </a:txBody>
                  <a:tcPr>
                    <a:solidFill>
                      <a:srgbClr val="EAF0FB"/>
                    </a:solidFill>
                  </a:tcPr>
                </a:tc>
                <a:tc>
                  <a:txBody>
                    <a:bodyPr wrap="square"/>
                    <a:lstStyle/>
                    <a:p>
                      <a:pPr algn="l"/>
                      <a:r>
                        <a:rPr sz="900" b="0" i="0">
                          <a:solidFill>
                            <a:srgbClr val="1A1A2E"/>
                          </a:solidFill>
                        </a:rPr>
                        <a:t>Combined audience scale → CPM premium for ad tier</a:t>
                      </a:r>
                    </a:p>
                  </a:txBody>
                  <a:tcPr>
                    <a:solidFill>
                      <a:srgbClr val="EAF0FB"/>
                    </a:solidFill>
                  </a:tcPr>
                </a:tc>
                <a:tc>
                  <a:txBody>
                    <a:bodyPr wrap="square"/>
                    <a:lstStyle/>
                    <a:p>
                      <a:pPr algn="r"/>
                      <a:r>
                        <a:rPr sz="900" b="0" i="0">
                          <a:solidFill>
                            <a:srgbClr val="1A1A2E"/>
                          </a:solidFill>
                        </a:rPr>
                        <a:t>$100</a:t>
                      </a:r>
                    </a:p>
                  </a:txBody>
                  <a:tcPr>
                    <a:solidFill>
                      <a:srgbClr val="EAF0FB"/>
                    </a:solidFill>
                  </a:tcPr>
                </a:tc>
                <a:tc>
                  <a:txBody>
                    <a:bodyPr wrap="square"/>
                    <a:lstStyle/>
                    <a:p>
                      <a:pPr algn="r"/>
                      <a:r>
                        <a:rPr sz="900" b="0" i="0">
                          <a:solidFill>
                            <a:srgbClr val="1A1A2E"/>
                          </a:solidFill>
                        </a:rPr>
                        <a:t>$250</a:t>
                      </a:r>
                    </a:p>
                  </a:txBody>
                  <a:tcPr>
                    <a:solidFill>
                      <a:srgbClr val="EAF0FB"/>
                    </a:solidFill>
                  </a:tcPr>
                </a:tc>
                <a:tc>
                  <a:txBody>
                    <a:bodyPr wrap="square"/>
                    <a:lstStyle/>
                    <a:p>
                      <a:pPr algn="r"/>
                      <a:r>
                        <a:rPr sz="900" b="0" i="0">
                          <a:solidFill>
                            <a:srgbClr val="1A1A2E"/>
                          </a:solidFill>
                        </a:rPr>
                        <a:t>$500</a:t>
                      </a:r>
                    </a:p>
                  </a:txBody>
                  <a:tcPr>
                    <a:solidFill>
                      <a:srgbClr val="EAF0FB"/>
                    </a:solidFill>
                  </a:tcPr>
                </a:tc>
                <a:tc>
                  <a:txBody>
                    <a:bodyPr wrap="square"/>
                    <a:lstStyle/>
                    <a:p>
                      <a:pPr algn="l"/>
                      <a:r>
                        <a:rPr sz="900" b="0" i="0">
                          <a:solidFill>
                            <a:srgbClr val="1A1A2E"/>
                          </a:solidFill>
                        </a:rPr>
                        <a:t>Medium</a:t>
                      </a:r>
                    </a:p>
                  </a:txBody>
                  <a:tcPr>
                    <a:solidFill>
                      <a:srgbClr val="EAF0FB"/>
                    </a:solidFill>
                  </a:tcPr>
                </a:tc>
              </a:tr>
              <a:tr h="235633">
                <a:tc>
                  <a:txBody>
                    <a:bodyPr wrap="square"/>
                    <a:lstStyle/>
                    <a:p>
                      <a:pPr algn="l"/>
                      <a:r>
                        <a:rPr sz="900" b="0" i="0">
                          <a:solidFill>
                            <a:srgbClr val="1A1A2E"/>
                          </a:solidFill>
                        </a:rPr>
                        <a:t>Content Monetization</a:t>
                      </a:r>
                    </a:p>
                  </a:txBody>
                  <a:tcPr/>
                </a:tc>
                <a:tc>
                  <a:txBody>
                    <a:bodyPr wrap="square"/>
                    <a:lstStyle/>
                    <a:p>
                      <a:pPr algn="l"/>
                      <a:r>
                        <a:rPr sz="900" b="0" i="0">
                          <a:solidFill>
                            <a:srgbClr val="1A1A2E"/>
                          </a:solidFill>
                        </a:rPr>
                        <a:t>IP licensing, consumer products, theatrical windows</a:t>
                      </a:r>
                    </a:p>
                  </a:txBody>
                  <a:tcPr/>
                </a:tc>
                <a:tc>
                  <a:txBody>
                    <a:bodyPr wrap="square"/>
                    <a:lstStyle/>
                    <a:p>
                      <a:pPr algn="r"/>
                      <a:r>
                        <a:rPr sz="900" b="0" i="0">
                          <a:solidFill>
                            <a:srgbClr val="1A1A2E"/>
                          </a:solidFill>
                        </a:rPr>
                        <a:t>$100</a:t>
                      </a:r>
                    </a:p>
                  </a:txBody>
                  <a:tcPr/>
                </a:tc>
                <a:tc>
                  <a:txBody>
                    <a:bodyPr wrap="square"/>
                    <a:lstStyle/>
                    <a:p>
                      <a:pPr algn="r"/>
                      <a:r>
                        <a:rPr sz="900" b="0" i="0">
                          <a:solidFill>
                            <a:srgbClr val="1A1A2E"/>
                          </a:solidFill>
                        </a:rPr>
                        <a:t>$200</a:t>
                      </a:r>
                    </a:p>
                  </a:txBody>
                  <a:tcPr/>
                </a:tc>
                <a:tc>
                  <a:txBody>
                    <a:bodyPr wrap="square"/>
                    <a:lstStyle/>
                    <a:p>
                      <a:pPr algn="r"/>
                      <a:r>
                        <a:rPr sz="900" b="0" i="0">
                          <a:solidFill>
                            <a:srgbClr val="1A1A2E"/>
                          </a:solidFill>
                        </a:rPr>
                        <a:t>$300</a:t>
                      </a:r>
                    </a:p>
                  </a:txBody>
                  <a:tcPr/>
                </a:tc>
                <a:tc>
                  <a:txBody>
                    <a:bodyPr wrap="square"/>
                    <a:lstStyle/>
                    <a:p>
                      <a:pPr algn="l"/>
                      <a:r>
                        <a:rPr sz="900" b="0" i="0">
                          <a:solidFill>
                            <a:srgbClr val="1A1A2E"/>
                          </a:solidFill>
                        </a:rPr>
                        <a:t>Low</a:t>
                      </a:r>
                    </a:p>
                  </a:txBody>
                  <a:tcPr/>
                </a:tc>
              </a:tr>
              <a:tr h="235633">
                <a:tc>
                  <a:txBody>
                    <a:bodyPr wrap="square"/>
                    <a:lstStyle/>
                    <a:p>
                      <a:pPr algn="l"/>
                      <a:r>
                        <a:rPr sz="900" b="0" i="0">
                          <a:solidFill>
                            <a:srgbClr val="1A1A2E"/>
                          </a:solidFill>
                        </a:rPr>
                        <a:t>Bundle Pricing Power</a:t>
                      </a:r>
                    </a:p>
                  </a:txBody>
                  <a:tcPr>
                    <a:solidFill>
                      <a:srgbClr val="EAF0FB"/>
                    </a:solidFill>
                  </a:tcPr>
                </a:tc>
                <a:tc>
                  <a:txBody>
                    <a:bodyPr wrap="square"/>
                    <a:lstStyle/>
                    <a:p>
                      <a:pPr algn="l"/>
                      <a:r>
                        <a:rPr sz="900" b="0" i="0">
                          <a:solidFill>
                            <a:srgbClr val="1A1A2E"/>
                          </a:solidFill>
                        </a:rPr>
                        <a:t>Single $17.99 Netflix bundle: est. 10% ARPU improvement</a:t>
                      </a:r>
                    </a:p>
                  </a:txBody>
                  <a:tcPr>
                    <a:solidFill>
                      <a:srgbClr val="EAF0FB"/>
                    </a:solidFill>
                  </a:tcPr>
                </a:tc>
                <a:tc>
                  <a:txBody>
                    <a:bodyPr wrap="square"/>
                    <a:lstStyle/>
                    <a:p>
                      <a:pPr algn="r"/>
                      <a:r>
                        <a:rPr sz="900" b="0" i="0">
                          <a:solidFill>
                            <a:srgbClr val="1A1A2E"/>
                          </a:solidFill>
                        </a:rPr>
                        <a:t> $75</a:t>
                      </a:r>
                    </a:p>
                  </a:txBody>
                  <a:tcPr>
                    <a:solidFill>
                      <a:srgbClr val="EAF0FB"/>
                    </a:solidFill>
                  </a:tcPr>
                </a:tc>
                <a:tc>
                  <a:txBody>
                    <a:bodyPr wrap="square"/>
                    <a:lstStyle/>
                    <a:p>
                      <a:pPr algn="r"/>
                      <a:r>
                        <a:rPr sz="900" b="0" i="0">
                          <a:solidFill>
                            <a:srgbClr val="1A1A2E"/>
                          </a:solidFill>
                        </a:rPr>
                        <a:t>$170</a:t>
                      </a:r>
                    </a:p>
                  </a:txBody>
                  <a:tcPr>
                    <a:solidFill>
                      <a:srgbClr val="EAF0FB"/>
                    </a:solidFill>
                  </a:tcPr>
                </a:tc>
                <a:tc>
                  <a:txBody>
                    <a:bodyPr wrap="square"/>
                    <a:lstStyle/>
                    <a:p>
                      <a:pPr algn="r"/>
                      <a:r>
                        <a:rPr sz="900" b="0" i="0">
                          <a:solidFill>
                            <a:srgbClr val="1A1A2E"/>
                          </a:solidFill>
                        </a:rPr>
                        <a:t>$320</a:t>
                      </a:r>
                    </a:p>
                  </a:txBody>
                  <a:tcPr>
                    <a:solidFill>
                      <a:srgbClr val="EAF0FB"/>
                    </a:solidFill>
                  </a:tcPr>
                </a:tc>
                <a:tc>
                  <a:txBody>
                    <a:bodyPr wrap="square"/>
                    <a:lstStyle/>
                    <a:p>
                      <a:pPr algn="l"/>
                      <a:r>
                        <a:rPr sz="900" b="0" i="0">
                          <a:solidFill>
                            <a:srgbClr val="1A1A2E"/>
                          </a:solidFill>
                        </a:rPr>
                        <a:t>Low</a:t>
                      </a:r>
                    </a:p>
                  </a:txBody>
                  <a:tcPr>
                    <a:solidFill>
                      <a:srgbClr val="EAF0FB"/>
                    </a:solidFill>
                  </a:tcPr>
                </a:tc>
              </a:tr>
              <a:tr h="235644">
                <a:tc>
                  <a:txBody>
                    <a:bodyPr wrap="square"/>
                    <a:lstStyle/>
                    <a:p>
                      <a:pPr algn="l"/>
                      <a:r>
                        <a:rPr sz="900" b="1" i="0">
                          <a:solidFill>
                            <a:srgbClr val="FFFFFF"/>
                          </a:solidFill>
                        </a:rPr>
                        <a:t>TOTAL SYNERGIES</a:t>
                      </a:r>
                    </a:p>
                  </a:txBody>
                  <a:tcPr>
                    <a:solidFill>
                      <a:srgbClr val="0F2044"/>
                    </a:solidFill>
                  </a:tcPr>
                </a:tc>
                <a:tc>
                  <a:txBody>
                    <a:bodyPr wrap="square"/>
                    <a:lstStyle/>
                    <a:p>
                      <a:pPr algn="l"/>
                      <a:r>
                        <a:rPr sz="900" b="1" i="0">
                          <a:solidFill>
                            <a:srgbClr val="FFFFFF"/>
                          </a:solidFill>
                        </a:rPr>
                        <a:t/>
                      </a:r>
                    </a:p>
                  </a:txBody>
                  <a:tcPr>
                    <a:solidFill>
                      <a:srgbClr val="0F2044"/>
                    </a:solidFill>
                  </a:tcPr>
                </a:tc>
                <a:tc>
                  <a:txBody>
                    <a:bodyPr wrap="square"/>
                    <a:lstStyle/>
                    <a:p>
                      <a:pPr algn="r"/>
                      <a:r>
                        <a:rPr sz="900" b="1" i="0">
                          <a:solidFill>
                            <a:srgbClr val="FFFFFF"/>
                          </a:solidFill>
                        </a:rPr>
                        <a:t>$1,325</a:t>
                      </a:r>
                    </a:p>
                  </a:txBody>
                  <a:tcPr>
                    <a:solidFill>
                      <a:srgbClr val="0F2044"/>
                    </a:solidFill>
                  </a:tcPr>
                </a:tc>
                <a:tc>
                  <a:txBody>
                    <a:bodyPr wrap="square"/>
                    <a:lstStyle/>
                    <a:p>
                      <a:pPr algn="r"/>
                      <a:r>
                        <a:rPr sz="900" b="1" i="0">
                          <a:solidFill>
                            <a:srgbClr val="FFFFFF"/>
                          </a:solidFill>
                        </a:rPr>
                        <a:t>$2,600</a:t>
                      </a:r>
                    </a:p>
                  </a:txBody>
                  <a:tcPr>
                    <a:solidFill>
                      <a:srgbClr val="0F2044"/>
                    </a:solidFill>
                  </a:tcPr>
                </a:tc>
                <a:tc>
                  <a:txBody>
                    <a:bodyPr wrap="square"/>
                    <a:lstStyle/>
                    <a:p>
                      <a:pPr algn="r"/>
                      <a:r>
                        <a:rPr sz="900" b="1" i="0">
                          <a:solidFill>
                            <a:srgbClr val="FFFFFF"/>
                          </a:solidFill>
                        </a:rPr>
                        <a:t>$4,450</a:t>
                      </a:r>
                    </a:p>
                  </a:txBody>
                  <a:tcPr>
                    <a:solidFill>
                      <a:srgbClr val="0F2044"/>
                    </a:solidFill>
                  </a:tcPr>
                </a:tc>
                <a:tc>
                  <a:txBody>
                    <a:bodyPr wrap="square"/>
                    <a:lstStyle/>
                    <a:p>
                      <a:pPr algn="l"/>
                      <a:r>
                        <a:rPr sz="900" b="1" i="0">
                          <a:solidFill>
                            <a:srgbClr val="FFFFFF"/>
                          </a:solidFill>
                        </a:rPr>
                        <a:t/>
                      </a:r>
                    </a:p>
                  </a:txBody>
                  <a:tcPr>
                    <a:solidFill>
                      <a:srgbClr val="0F2044"/>
                    </a:solidFill>
                  </a:tcPr>
                </a:tc>
              </a:tr>
            </a:tbl>
          </a:graphicData>
        </a:graphic>
      </p:graphicFrame>
      <p:sp>
        <p:nvSpPr>
          <p:cNvPr id="32" name="Rectangle 31"/>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Synergy estimates are Financial Advisor projections based on comparable media M&amp;A transactions. NPV calculated at 8.75% WACC. Synergies net of estimated one-time restructuring costs of ~$1.5B.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Proposed Transaction Terms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All-Cash / Stock Merger at $10.00 per WBD Share — ~$60B Total Transaction Value</a:t>
            </a:r>
          </a:p>
        </p:txBody>
      </p:sp>
      <p:sp>
        <p:nvSpPr>
          <p:cNvPr id="6" name="TextBox 5"/>
          <p:cNvSpPr txBox="1"/>
          <p:nvPr/>
        </p:nvSpPr>
        <p:spPr>
          <a:xfrm>
            <a:off x="320040" y="1170432"/>
            <a:ext cx="5577840" cy="347472"/>
          </a:xfrm>
          <a:prstGeom prst="rect">
            <a:avLst/>
          </a:prstGeom>
          <a:noFill/>
        </p:spPr>
        <p:txBody>
          <a:bodyPr wrap="square">
            <a:spAutoFit/>
          </a:bodyPr>
          <a:lstStyle/>
          <a:p>
            <a:pPr algn="l"/>
            <a:r>
              <a:rPr sz="1300" b="1" i="0">
                <a:solidFill>
                  <a:srgbClr val="1A1A2E"/>
                </a:solidFill>
              </a:rPr>
              <a:t>Transaction Summary</a:t>
            </a:r>
          </a:p>
        </p:txBody>
      </p:sp>
      <p:graphicFrame>
        <p:nvGraphicFramePr>
          <p:cNvPr id="7" name="Table 6"/>
          <p:cNvGraphicFramePr>
            <a:graphicFrameLocks noGrp="1"/>
          </p:cNvGraphicFramePr>
          <p:nvPr/>
        </p:nvGraphicFramePr>
        <p:xfrm>
          <a:off x="320040" y="1554480"/>
          <a:ext cx="5577840" cy="4160520"/>
        </p:xfrm>
        <a:graphic>
          <a:graphicData uri="http://schemas.openxmlformats.org/drawingml/2006/table">
            <a:tbl>
              <a:tblPr firstRow="1" bandRow="1">
                <a:tableStyleId>{5C22544A-7EE6-4342-B048-85BDC9FD1C3A}</a:tableStyleId>
              </a:tblPr>
              <a:tblGrid>
                <a:gridCol w="2788920"/>
                <a:gridCol w="2788920"/>
              </a:tblGrid>
              <a:tr h="297180">
                <a:tc>
                  <a:txBody>
                    <a:bodyPr wrap="square"/>
                    <a:lstStyle/>
                    <a:p>
                      <a:pPr algn="ctr"/>
                      <a:r>
                        <a:rPr sz="1000" b="1" i="0">
                          <a:solidFill>
                            <a:srgbClr val="FFFFFF"/>
                          </a:solidFill>
                        </a:rPr>
                        <a:t>Term</a:t>
                      </a:r>
                    </a:p>
                  </a:txBody>
                  <a:tcPr>
                    <a:solidFill>
                      <a:srgbClr val="0F2044"/>
                    </a:solidFill>
                  </a:tcPr>
                </a:tc>
                <a:tc>
                  <a:txBody>
                    <a:bodyPr wrap="square"/>
                    <a:lstStyle/>
                    <a:p>
                      <a:pPr algn="l"/>
                      <a:r>
                        <a:rPr sz="1000" b="1" i="0">
                          <a:solidFill>
                            <a:srgbClr val="FFFFFF"/>
                          </a:solidFill>
                        </a:rPr>
                        <a:t>Detail</a:t>
                      </a:r>
                    </a:p>
                  </a:txBody>
                  <a:tcPr>
                    <a:solidFill>
                      <a:srgbClr val="0F2044"/>
                    </a:solidFill>
                  </a:tcPr>
                </a:tc>
              </a:tr>
              <a:tr h="297180">
                <a:tc>
                  <a:txBody>
                    <a:bodyPr wrap="square"/>
                    <a:lstStyle/>
                    <a:p>
                      <a:pPr algn="l"/>
                      <a:r>
                        <a:rPr sz="950" b="0" i="0">
                          <a:solidFill>
                            <a:srgbClr val="1A1A2E"/>
                          </a:solidFill>
                        </a:rPr>
                        <a:t>Transaction Type</a:t>
                      </a:r>
                    </a:p>
                  </a:txBody>
                  <a:tcPr>
                    <a:solidFill>
                      <a:srgbClr val="EAF0FB"/>
                    </a:solidFill>
                  </a:tcPr>
                </a:tc>
                <a:tc>
                  <a:txBody>
                    <a:bodyPr wrap="square"/>
                    <a:lstStyle/>
                    <a:p>
                      <a:pPr algn="l"/>
                      <a:r>
                        <a:rPr sz="950" b="0" i="0">
                          <a:solidFill>
                            <a:srgbClr val="1A1A2E"/>
                          </a:solidFill>
                        </a:rPr>
                        <a:t>Negotiated merger; cash &amp; stock consideration</a:t>
                      </a:r>
                    </a:p>
                  </a:txBody>
                  <a:tcPr>
                    <a:solidFill>
                      <a:srgbClr val="EAF0FB"/>
                    </a:solidFill>
                  </a:tcPr>
                </a:tc>
              </a:tr>
              <a:tr h="297180">
                <a:tc>
                  <a:txBody>
                    <a:bodyPr wrap="square"/>
                    <a:lstStyle/>
                    <a:p>
                      <a:pPr algn="l"/>
                      <a:r>
                        <a:rPr sz="950" b="0" i="0">
                          <a:solidFill>
                            <a:srgbClr val="1A1A2E"/>
                          </a:solidFill>
                        </a:rPr>
                        <a:t>Acquirer</a:t>
                      </a:r>
                    </a:p>
                  </a:txBody>
                  <a:tcPr/>
                </a:tc>
                <a:tc>
                  <a:txBody>
                    <a:bodyPr wrap="square"/>
                    <a:lstStyle/>
                    <a:p>
                      <a:pPr algn="l"/>
                      <a:r>
                        <a:rPr sz="950" b="0" i="0">
                          <a:solidFill>
                            <a:srgbClr val="1A1A2E"/>
                          </a:solidFill>
                        </a:rPr>
                        <a:t>Netflix, Inc. (NASDAQ: NFLX)</a:t>
                      </a:r>
                    </a:p>
                  </a:txBody>
                  <a:tcPr/>
                </a:tc>
              </a:tr>
              <a:tr h="297180">
                <a:tc>
                  <a:txBody>
                    <a:bodyPr wrap="square"/>
                    <a:lstStyle/>
                    <a:p>
                      <a:pPr algn="l"/>
                      <a:r>
                        <a:rPr sz="950" b="0" i="0">
                          <a:solidFill>
                            <a:srgbClr val="1A1A2E"/>
                          </a:solidFill>
                        </a:rPr>
                        <a:t>Target</a:t>
                      </a:r>
                    </a:p>
                  </a:txBody>
                  <a:tcPr>
                    <a:solidFill>
                      <a:srgbClr val="EAF0FB"/>
                    </a:solidFill>
                  </a:tcPr>
                </a:tc>
                <a:tc>
                  <a:txBody>
                    <a:bodyPr wrap="square"/>
                    <a:lstStyle/>
                    <a:p>
                      <a:pPr algn="l"/>
                      <a:r>
                        <a:rPr sz="950" b="0" i="0">
                          <a:solidFill>
                            <a:srgbClr val="1A1A2E"/>
                          </a:solidFill>
                        </a:rPr>
                        <a:t>Warner Bros. Discovery, Inc. (NASDAQ: WBD)</a:t>
                      </a:r>
                    </a:p>
                  </a:txBody>
                  <a:tcPr>
                    <a:solidFill>
                      <a:srgbClr val="EAF0FB"/>
                    </a:solidFill>
                  </a:tcPr>
                </a:tc>
              </a:tr>
              <a:tr h="297180">
                <a:tc>
                  <a:txBody>
                    <a:bodyPr wrap="square"/>
                    <a:lstStyle/>
                    <a:p>
                      <a:pPr algn="l"/>
                      <a:r>
                        <a:rPr sz="950" b="1" i="0">
                          <a:solidFill>
                            <a:srgbClr val="1A1A2E"/>
                          </a:solidFill>
                        </a:rPr>
                        <a:t>Offer Price Per Share</a:t>
                      </a:r>
                    </a:p>
                  </a:txBody>
                  <a:tcPr/>
                </a:tc>
                <a:tc>
                  <a:txBody>
                    <a:bodyPr wrap="square"/>
                    <a:lstStyle/>
                    <a:p>
                      <a:pPr algn="l"/>
                      <a:r>
                        <a:rPr sz="950" b="1" i="0">
                          <a:solidFill>
                            <a:srgbClr val="1A1A2E"/>
                          </a:solidFill>
                        </a:rPr>
                        <a:t>$10.00 (mix: 50% cash / 50% NFLX stock)</a:t>
                      </a:r>
                    </a:p>
                  </a:txBody>
                  <a:tcPr/>
                </a:tc>
              </a:tr>
              <a:tr h="297180">
                <a:tc>
                  <a:txBody>
                    <a:bodyPr wrap="square"/>
                    <a:lstStyle/>
                    <a:p>
                      <a:pPr algn="l"/>
                      <a:r>
                        <a:rPr sz="950" b="0" i="0">
                          <a:solidFill>
                            <a:srgbClr val="1A1A2E"/>
                          </a:solidFill>
                        </a:rPr>
                        <a:t>Premium to Undisturbed Price</a:t>
                      </a:r>
                    </a:p>
                  </a:txBody>
                  <a:tcPr>
                    <a:solidFill>
                      <a:srgbClr val="EAF0FB"/>
                    </a:solidFill>
                  </a:tcPr>
                </a:tc>
                <a:tc>
                  <a:txBody>
                    <a:bodyPr wrap="square"/>
                    <a:lstStyle/>
                    <a:p>
                      <a:pPr algn="l"/>
                      <a:r>
                        <a:rPr sz="950" b="0" i="0">
                          <a:solidFill>
                            <a:srgbClr val="1A1A2E"/>
                          </a:solidFill>
                        </a:rPr>
                        <a:t>~182% to $3.55 (30-day VWAP: ~177%)</a:t>
                      </a:r>
                    </a:p>
                  </a:txBody>
                  <a:tcPr>
                    <a:solidFill>
                      <a:srgbClr val="EAF0FB"/>
                    </a:solidFill>
                  </a:tcPr>
                </a:tc>
              </a:tr>
              <a:tr h="297180">
                <a:tc>
                  <a:txBody>
                    <a:bodyPr wrap="square"/>
                    <a:lstStyle/>
                    <a:p>
                      <a:pPr algn="l"/>
                      <a:r>
                        <a:rPr sz="950" b="0" i="0">
                          <a:solidFill>
                            <a:srgbClr val="1A1A2E"/>
                          </a:solidFill>
                        </a:rPr>
                        <a:t>Target Shares Outstanding</a:t>
                      </a:r>
                    </a:p>
                  </a:txBody>
                  <a:tcPr/>
                </a:tc>
                <a:tc>
                  <a:txBody>
                    <a:bodyPr wrap="square"/>
                    <a:lstStyle/>
                    <a:p>
                      <a:pPr algn="l"/>
                      <a:r>
                        <a:rPr sz="950" b="0" i="0">
                          <a:solidFill>
                            <a:srgbClr val="1A1A2E"/>
                          </a:solidFill>
                        </a:rPr>
                        <a:t>~2.38 billion (diluted)</a:t>
                      </a:r>
                    </a:p>
                  </a:txBody>
                  <a:tcPr/>
                </a:tc>
              </a:tr>
              <a:tr h="297180">
                <a:tc>
                  <a:txBody>
                    <a:bodyPr wrap="square"/>
                    <a:lstStyle/>
                    <a:p>
                      <a:pPr algn="l"/>
                      <a:r>
                        <a:rPr sz="950" b="0" i="0">
                          <a:solidFill>
                            <a:srgbClr val="1A1A2E"/>
                          </a:solidFill>
                        </a:rPr>
                        <a:t>Equity Value</a:t>
                      </a:r>
                    </a:p>
                  </a:txBody>
                  <a:tcPr>
                    <a:solidFill>
                      <a:srgbClr val="EAF0FB"/>
                    </a:solidFill>
                  </a:tcPr>
                </a:tc>
                <a:tc>
                  <a:txBody>
                    <a:bodyPr wrap="square"/>
                    <a:lstStyle/>
                    <a:p>
                      <a:pPr algn="l"/>
                      <a:r>
                        <a:rPr sz="950" b="0" i="0">
                          <a:solidFill>
                            <a:srgbClr val="1A1A2E"/>
                          </a:solidFill>
                        </a:rPr>
                        <a:t>~$23.8 billion</a:t>
                      </a:r>
                    </a:p>
                  </a:txBody>
                  <a:tcPr>
                    <a:solidFill>
                      <a:srgbClr val="EAF0FB"/>
                    </a:solidFill>
                  </a:tcPr>
                </a:tc>
              </a:tr>
              <a:tr h="297180">
                <a:tc>
                  <a:txBody>
                    <a:bodyPr wrap="square"/>
                    <a:lstStyle/>
                    <a:p>
                      <a:pPr algn="l"/>
                      <a:r>
                        <a:rPr sz="950" b="0" i="0">
                          <a:solidFill>
                            <a:srgbClr val="1A1A2E"/>
                          </a:solidFill>
                        </a:rPr>
                        <a:t>Assumed Net Debt</a:t>
                      </a:r>
                    </a:p>
                  </a:txBody>
                  <a:tcPr/>
                </a:tc>
                <a:tc>
                  <a:txBody>
                    <a:bodyPr wrap="square"/>
                    <a:lstStyle/>
                    <a:p>
                      <a:pPr algn="l"/>
                      <a:r>
                        <a:rPr sz="950" b="0" i="0">
                          <a:solidFill>
                            <a:srgbClr val="1A1A2E"/>
                          </a:solidFill>
                        </a:rPr>
                        <a:t>~$36.0 billion</a:t>
                      </a:r>
                    </a:p>
                  </a:txBody>
                  <a:tcPr/>
                </a:tc>
              </a:tr>
              <a:tr h="297180">
                <a:tc>
                  <a:txBody>
                    <a:bodyPr wrap="square"/>
                    <a:lstStyle/>
                    <a:p>
                      <a:pPr algn="l"/>
                      <a:r>
                        <a:rPr sz="950" b="1" i="0">
                          <a:solidFill>
                            <a:srgbClr val="FFFFFF"/>
                          </a:solidFill>
                        </a:rPr>
                        <a:t>Total Transaction Value (EV)</a:t>
                      </a:r>
                    </a:p>
                  </a:txBody>
                  <a:tcPr>
                    <a:solidFill>
                      <a:srgbClr val="0F2044"/>
                    </a:solidFill>
                  </a:tcPr>
                </a:tc>
                <a:tc>
                  <a:txBody>
                    <a:bodyPr wrap="square"/>
                    <a:lstStyle/>
                    <a:p>
                      <a:pPr algn="l"/>
                      <a:r>
                        <a:rPr sz="950" b="1" i="0">
                          <a:solidFill>
                            <a:srgbClr val="FFFFFF"/>
                          </a:solidFill>
                        </a:rPr>
                        <a:t>~$59.8 billion (~$60B)</a:t>
                      </a:r>
                    </a:p>
                  </a:txBody>
                  <a:tcPr>
                    <a:solidFill>
                      <a:srgbClr val="0F2044"/>
                    </a:solidFill>
                  </a:tcPr>
                </a:tc>
              </a:tr>
              <a:tr h="297180">
                <a:tc>
                  <a:txBody>
                    <a:bodyPr wrap="square"/>
                    <a:lstStyle/>
                    <a:p>
                      <a:pPr algn="l"/>
                      <a:r>
                        <a:rPr sz="950" b="1" i="0">
                          <a:solidFill>
                            <a:srgbClr val="1A1A2E"/>
                          </a:solidFill>
                        </a:rPr>
                        <a:t>EV / LTM Adj. EBITDA</a:t>
                      </a:r>
                    </a:p>
                  </a:txBody>
                  <a:tcPr/>
                </a:tc>
                <a:tc>
                  <a:txBody>
                    <a:bodyPr wrap="square"/>
                    <a:lstStyle/>
                    <a:p>
                      <a:pPr algn="l"/>
                      <a:r>
                        <a:rPr sz="950" b="1" i="0">
                          <a:solidFill>
                            <a:srgbClr val="1A1A2E"/>
                          </a:solidFill>
                        </a:rPr>
                        <a:t>6.2x ($60B / $9.7B)</a:t>
                      </a:r>
                    </a:p>
                  </a:txBody>
                  <a:tcPr/>
                </a:tc>
              </a:tr>
              <a:tr h="297180">
                <a:tc>
                  <a:txBody>
                    <a:bodyPr wrap="square"/>
                    <a:lstStyle/>
                    <a:p>
                      <a:pPr algn="l"/>
                      <a:r>
                        <a:rPr sz="950" b="0" i="0">
                          <a:solidFill>
                            <a:srgbClr val="1A1A2E"/>
                          </a:solidFill>
                        </a:rPr>
                        <a:t>EV / (EBITDA + Synergies)</a:t>
                      </a:r>
                    </a:p>
                  </a:txBody>
                  <a:tcPr>
                    <a:solidFill>
                      <a:srgbClr val="EAF0FB"/>
                    </a:solidFill>
                  </a:tcPr>
                </a:tc>
                <a:tc>
                  <a:txBody>
                    <a:bodyPr wrap="square"/>
                    <a:lstStyle/>
                    <a:p>
                      <a:pPr algn="l"/>
                      <a:r>
                        <a:rPr sz="950" b="0" i="0">
                          <a:solidFill>
                            <a:srgbClr val="1A1A2E"/>
                          </a:solidFill>
                        </a:rPr>
                        <a:t>4.4x (with $4.0B/yr synergies)</a:t>
                      </a:r>
                    </a:p>
                  </a:txBody>
                  <a:tcPr>
                    <a:solidFill>
                      <a:srgbClr val="EAF0FB"/>
                    </a:solidFill>
                  </a:tcPr>
                </a:tc>
              </a:tr>
              <a:tr h="297180">
                <a:tc>
                  <a:txBody>
                    <a:bodyPr wrap="square"/>
                    <a:lstStyle/>
                    <a:p>
                      <a:pPr algn="l"/>
                      <a:r>
                        <a:rPr sz="950" b="0" i="0">
                          <a:solidFill>
                            <a:srgbClr val="1A1A2E"/>
                          </a:solidFill>
                        </a:rPr>
                        <a:t>Form of Consideration</a:t>
                      </a:r>
                    </a:p>
                  </a:txBody>
                  <a:tcPr/>
                </a:tc>
                <a:tc>
                  <a:txBody>
                    <a:bodyPr wrap="square"/>
                    <a:lstStyle/>
                    <a:p>
                      <a:pPr algn="l"/>
                      <a:r>
                        <a:rPr sz="950" b="0" i="0">
                          <a:solidFill>
                            <a:srgbClr val="1A1A2E"/>
                          </a:solidFill>
                        </a:rPr>
                        <a:t>$5.00 cash + $5.00 in NFLX shares (at signing VWAP)</a:t>
                      </a:r>
                    </a:p>
                  </a:txBody>
                  <a:tcPr/>
                </a:tc>
              </a:tr>
              <a:tr h="297180">
                <a:tc>
                  <a:txBody>
                    <a:bodyPr wrap="square"/>
                    <a:lstStyle/>
                    <a:p>
                      <a:pPr algn="l"/>
                      <a:r>
                        <a:rPr sz="950" b="0" i="0">
                          <a:solidFill>
                            <a:srgbClr val="1A1A2E"/>
                          </a:solidFill>
                        </a:rPr>
                        <a:t>Expected Close</a:t>
                      </a:r>
                    </a:p>
                  </a:txBody>
                  <a:tcPr>
                    <a:solidFill>
                      <a:srgbClr val="EAF0FB"/>
                    </a:solidFill>
                  </a:tcPr>
                </a:tc>
                <a:tc>
                  <a:txBody>
                    <a:bodyPr wrap="square"/>
                    <a:lstStyle/>
                    <a:p>
                      <a:pPr algn="l"/>
                      <a:r>
                        <a:rPr sz="950" b="0" i="0">
                          <a:solidFill>
                            <a:srgbClr val="1A1A2E"/>
                          </a:solidFill>
                        </a:rPr>
                        <a:t>12–18 months post-announcement (H2 2026)</a:t>
                      </a:r>
                    </a:p>
                  </a:txBody>
                  <a:tcPr>
                    <a:solidFill>
                      <a:srgbClr val="EAF0FB"/>
                    </a:solidFill>
                  </a:tcPr>
                </a:tc>
              </a:tr>
            </a:tbl>
          </a:graphicData>
        </a:graphic>
      </p:graphicFrame>
      <p:sp>
        <p:nvSpPr>
          <p:cNvPr id="8" name="TextBox 7"/>
          <p:cNvSpPr txBox="1"/>
          <p:nvPr/>
        </p:nvSpPr>
        <p:spPr>
          <a:xfrm>
            <a:off x="6080760" y="1170432"/>
            <a:ext cx="5806440" cy="347472"/>
          </a:xfrm>
          <a:prstGeom prst="rect">
            <a:avLst/>
          </a:prstGeom>
          <a:noFill/>
        </p:spPr>
        <p:txBody>
          <a:bodyPr wrap="square">
            <a:spAutoFit/>
          </a:bodyPr>
          <a:lstStyle/>
          <a:p>
            <a:pPr algn="l"/>
            <a:r>
              <a:rPr sz="1300" b="1" i="0">
                <a:solidFill>
                  <a:srgbClr val="1A1A2E"/>
                </a:solidFill>
              </a:rPr>
              <a:t>Conditions to Closing</a:t>
            </a:r>
          </a:p>
        </p:txBody>
      </p:sp>
      <p:sp>
        <p:nvSpPr>
          <p:cNvPr id="9" name="Rectangle 8"/>
          <p:cNvSpPr/>
          <p:nvPr/>
        </p:nvSpPr>
        <p:spPr>
          <a:xfrm>
            <a:off x="6080760" y="1554480"/>
            <a:ext cx="5806440" cy="1508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1554480"/>
            <a:ext cx="109728" cy="150876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618488"/>
            <a:ext cx="5532120" cy="347472"/>
          </a:xfrm>
          <a:prstGeom prst="rect">
            <a:avLst/>
          </a:prstGeom>
          <a:noFill/>
        </p:spPr>
        <p:txBody>
          <a:bodyPr wrap="square">
            <a:spAutoFit/>
          </a:bodyPr>
          <a:lstStyle/>
          <a:p>
            <a:pPr algn="l"/>
            <a:r>
              <a:rPr sz="1100" b="1" i="0">
                <a:solidFill>
                  <a:srgbClr val="1A1A2E"/>
                </a:solidFill>
              </a:rPr>
              <a:t>Regulatory Approvals</a:t>
            </a:r>
          </a:p>
        </p:txBody>
      </p:sp>
      <p:sp>
        <p:nvSpPr>
          <p:cNvPr id="12" name="TextBox 11"/>
          <p:cNvSpPr txBox="1"/>
          <p:nvPr/>
        </p:nvSpPr>
        <p:spPr>
          <a:xfrm>
            <a:off x="6263640" y="2011680"/>
            <a:ext cx="5532120" cy="1005840"/>
          </a:xfrm>
          <a:prstGeom prst="rect">
            <a:avLst/>
          </a:prstGeom>
          <a:noFill/>
        </p:spPr>
        <p:txBody>
          <a:bodyPr wrap="square">
            <a:spAutoFit/>
          </a:bodyPr>
          <a:lstStyle/>
          <a:p>
            <a:pPr algn="l"/>
            <a:r>
              <a:rPr sz="950" b="0" i="0">
                <a:solidFill>
                  <a:srgbClr val="1A1A2E"/>
                </a:solidFill>
              </a:rPr>
              <a:t>• U.S. DOJ / FTC antitrust clearance
• EU Commission merger review
• FCC approval (no broadcast licenses held)
• UK CMA review (~6–9 months)
• Australian ACCC / Canadian review</a:t>
            </a:r>
          </a:p>
        </p:txBody>
      </p:sp>
      <p:sp>
        <p:nvSpPr>
          <p:cNvPr id="13" name="Rectangle 12"/>
          <p:cNvSpPr/>
          <p:nvPr/>
        </p:nvSpPr>
        <p:spPr>
          <a:xfrm>
            <a:off x="6080760" y="3154680"/>
            <a:ext cx="5806440" cy="1508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3154680"/>
            <a:ext cx="109728" cy="1508760"/>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3218688"/>
            <a:ext cx="5532120" cy="347472"/>
          </a:xfrm>
          <a:prstGeom prst="rect">
            <a:avLst/>
          </a:prstGeom>
          <a:noFill/>
        </p:spPr>
        <p:txBody>
          <a:bodyPr wrap="square">
            <a:spAutoFit/>
          </a:bodyPr>
          <a:lstStyle/>
          <a:p>
            <a:pPr algn="l"/>
            <a:r>
              <a:rPr sz="1100" b="1" i="0">
                <a:solidFill>
                  <a:srgbClr val="1A1A2E"/>
                </a:solidFill>
              </a:rPr>
              <a:t>Financing Condition</a:t>
            </a:r>
          </a:p>
        </p:txBody>
      </p:sp>
      <p:sp>
        <p:nvSpPr>
          <p:cNvPr id="16" name="TextBox 15"/>
          <p:cNvSpPr txBox="1"/>
          <p:nvPr/>
        </p:nvSpPr>
        <p:spPr>
          <a:xfrm>
            <a:off x="6263640" y="3611880"/>
            <a:ext cx="5532120" cy="1005840"/>
          </a:xfrm>
          <a:prstGeom prst="rect">
            <a:avLst/>
          </a:prstGeom>
          <a:noFill/>
        </p:spPr>
        <p:txBody>
          <a:bodyPr wrap="square">
            <a:spAutoFit/>
          </a:bodyPr>
          <a:lstStyle/>
          <a:p>
            <a:pPr algn="l"/>
            <a:r>
              <a:rPr sz="950" b="0" i="0">
                <a:solidFill>
                  <a:srgbClr val="1A1A2E"/>
                </a:solidFill>
              </a:rPr>
              <a:t>• Committed financing from lenders (no flex)
• NFLX board approval of stock issuance
• WBD board fiduciary process (go-shop 30 days)
• WBD shareholder vote (simple majority)</a:t>
            </a:r>
          </a:p>
        </p:txBody>
      </p:sp>
      <p:sp>
        <p:nvSpPr>
          <p:cNvPr id="17" name="Rectangle 16"/>
          <p:cNvSpPr/>
          <p:nvPr/>
        </p:nvSpPr>
        <p:spPr>
          <a:xfrm>
            <a:off x="6080760" y="4754880"/>
            <a:ext cx="5806440" cy="1508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80760" y="4754880"/>
            <a:ext cx="109728" cy="15087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4818888"/>
            <a:ext cx="5532120" cy="347472"/>
          </a:xfrm>
          <a:prstGeom prst="rect">
            <a:avLst/>
          </a:prstGeom>
          <a:noFill/>
        </p:spPr>
        <p:txBody>
          <a:bodyPr wrap="square">
            <a:spAutoFit/>
          </a:bodyPr>
          <a:lstStyle/>
          <a:p>
            <a:pPr algn="l"/>
            <a:r>
              <a:rPr sz="1100" b="1" i="0">
                <a:solidFill>
                  <a:srgbClr val="1A1A2E"/>
                </a:solidFill>
              </a:rPr>
              <a:t>Key Timeline</a:t>
            </a:r>
          </a:p>
        </p:txBody>
      </p:sp>
      <p:sp>
        <p:nvSpPr>
          <p:cNvPr id="20" name="TextBox 19"/>
          <p:cNvSpPr txBox="1"/>
          <p:nvPr/>
        </p:nvSpPr>
        <p:spPr>
          <a:xfrm>
            <a:off x="6263640" y="5212080"/>
            <a:ext cx="5532120" cy="1005840"/>
          </a:xfrm>
          <a:prstGeom prst="rect">
            <a:avLst/>
          </a:prstGeom>
          <a:noFill/>
        </p:spPr>
        <p:txBody>
          <a:bodyPr wrap="square">
            <a:spAutoFit/>
          </a:bodyPr>
          <a:lstStyle/>
          <a:p>
            <a:pPr algn="l"/>
            <a:r>
              <a:rPr sz="950" b="0" i="0">
                <a:solidFill>
                  <a:srgbClr val="1A1A2E"/>
                </a:solidFill>
              </a:rPr>
              <a:t>• Day 0: Signing &amp; public announcement
• Month 1–3: HSR filing + EU Form CO
• Month 6–12: Regulatory review periods
• Month 12–18: Close + integration Day 1</a:t>
            </a:r>
          </a:p>
        </p:txBody>
      </p:sp>
      <p:sp>
        <p:nvSpPr>
          <p:cNvPr id="21" name="Rectangle 20"/>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Terms are illustrative and subject to negotiation. Regulatory timeline is estimated. NFLX stock portion uses 20-day VWAP at signing. Transaction fees estimated at ~$300M.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Transaction Financing — Sources &amp; Uses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Pro Forma Net Leverage of ~2.8x EBITDA — Supported by $10B+ Combined FCF</a:t>
            </a:r>
          </a:p>
        </p:txBody>
      </p:sp>
      <p:sp>
        <p:nvSpPr>
          <p:cNvPr id="6" name="TextBox 5"/>
          <p:cNvSpPr txBox="1"/>
          <p:nvPr/>
        </p:nvSpPr>
        <p:spPr>
          <a:xfrm>
            <a:off x="320040" y="1170432"/>
            <a:ext cx="5303520" cy="347472"/>
          </a:xfrm>
          <a:prstGeom prst="rect">
            <a:avLst/>
          </a:prstGeom>
          <a:noFill/>
        </p:spPr>
        <p:txBody>
          <a:bodyPr wrap="square">
            <a:spAutoFit/>
          </a:bodyPr>
          <a:lstStyle/>
          <a:p>
            <a:pPr algn="l"/>
            <a:r>
              <a:rPr sz="1300" b="1" i="0">
                <a:solidFill>
                  <a:srgbClr val="1A1A2E"/>
                </a:solidFill>
              </a:rPr>
              <a:t>Sources of Funds</a:t>
            </a:r>
          </a:p>
        </p:txBody>
      </p:sp>
      <p:graphicFrame>
        <p:nvGraphicFramePr>
          <p:cNvPr id="7" name="Table 6"/>
          <p:cNvGraphicFramePr>
            <a:graphicFrameLocks noGrp="1"/>
          </p:cNvGraphicFramePr>
          <p:nvPr/>
        </p:nvGraphicFramePr>
        <p:xfrm>
          <a:off x="320040" y="1554480"/>
          <a:ext cx="5303520" cy="1965960"/>
        </p:xfrm>
        <a:graphic>
          <a:graphicData uri="http://schemas.openxmlformats.org/drawingml/2006/table">
            <a:tbl>
              <a:tblPr firstRow="1" bandRow="1">
                <a:tableStyleId>{5C22544A-7EE6-4342-B048-85BDC9FD1C3A}</a:tableStyleId>
              </a:tblPr>
              <a:tblGrid>
                <a:gridCol w="1767840"/>
                <a:gridCol w="1767840"/>
                <a:gridCol w="1767840"/>
              </a:tblGrid>
              <a:tr h="327660">
                <a:tc>
                  <a:txBody>
                    <a:bodyPr wrap="square"/>
                    <a:lstStyle/>
                    <a:p>
                      <a:pPr algn="l"/>
                      <a:r>
                        <a:rPr sz="1000" b="1" i="0">
                          <a:solidFill>
                            <a:srgbClr val="FFFFFF"/>
                          </a:solidFill>
                        </a:rPr>
                        <a:t>Source</a:t>
                      </a:r>
                    </a:p>
                  </a:txBody>
                  <a:tcPr>
                    <a:solidFill>
                      <a:srgbClr val="0F2044"/>
                    </a:solidFill>
                  </a:tcPr>
                </a:tc>
                <a:tc>
                  <a:txBody>
                    <a:bodyPr wrap="square"/>
                    <a:lstStyle/>
                    <a:p>
                      <a:pPr algn="r"/>
                      <a:r>
                        <a:rPr sz="1000" b="1" i="0">
                          <a:solidFill>
                            <a:srgbClr val="FFFFFF"/>
                          </a:solidFill>
                        </a:rPr>
                        <a:t>Amount ($B)</a:t>
                      </a:r>
                    </a:p>
                  </a:txBody>
                  <a:tcPr>
                    <a:solidFill>
                      <a:srgbClr val="0F2044"/>
                    </a:solidFill>
                  </a:tcPr>
                </a:tc>
                <a:tc>
                  <a:txBody>
                    <a:bodyPr wrap="square"/>
                    <a:lstStyle/>
                    <a:p>
                      <a:pPr algn="r"/>
                      <a:r>
                        <a:rPr sz="1000" b="1" i="0">
                          <a:solidFill>
                            <a:srgbClr val="FFFFFF"/>
                          </a:solidFill>
                        </a:rPr>
                        <a:t>% of Total</a:t>
                      </a:r>
                    </a:p>
                  </a:txBody>
                  <a:tcPr>
                    <a:solidFill>
                      <a:srgbClr val="0F2044"/>
                    </a:solidFill>
                  </a:tcPr>
                </a:tc>
              </a:tr>
              <a:tr h="327660">
                <a:tc>
                  <a:txBody>
                    <a:bodyPr wrap="square"/>
                    <a:lstStyle/>
                    <a:p>
                      <a:pPr algn="l"/>
                      <a:r>
                        <a:rPr sz="950" b="0" i="0">
                          <a:solidFill>
                            <a:srgbClr val="1A1A2E"/>
                          </a:solidFill>
                        </a:rPr>
                        <a:t>New Term Loan B (7-year)</a:t>
                      </a:r>
                    </a:p>
                  </a:txBody>
                  <a:tcPr>
                    <a:solidFill>
                      <a:srgbClr val="EAF0FB"/>
                    </a:solidFill>
                  </a:tcPr>
                </a:tc>
                <a:tc>
                  <a:txBody>
                    <a:bodyPr wrap="square"/>
                    <a:lstStyle/>
                    <a:p>
                      <a:pPr algn="r"/>
                      <a:r>
                        <a:rPr sz="950" b="0" i="0">
                          <a:solidFill>
                            <a:srgbClr val="1A1A2E"/>
                          </a:solidFill>
                        </a:rPr>
                        <a:t>$8.0B</a:t>
                      </a:r>
                    </a:p>
                  </a:txBody>
                  <a:tcPr>
                    <a:solidFill>
                      <a:srgbClr val="EAF0FB"/>
                    </a:solidFill>
                  </a:tcPr>
                </a:tc>
                <a:tc>
                  <a:txBody>
                    <a:bodyPr wrap="square"/>
                    <a:lstStyle/>
                    <a:p>
                      <a:pPr algn="r"/>
                      <a:r>
                        <a:rPr sz="950" b="0" i="0">
                          <a:solidFill>
                            <a:srgbClr val="1A1A2E"/>
                          </a:solidFill>
                        </a:rPr>
                        <a:t>13.7%</a:t>
                      </a:r>
                    </a:p>
                  </a:txBody>
                  <a:tcPr>
                    <a:solidFill>
                      <a:srgbClr val="EAF0FB"/>
                    </a:solidFill>
                  </a:tcPr>
                </a:tc>
              </a:tr>
              <a:tr h="327660">
                <a:tc>
                  <a:txBody>
                    <a:bodyPr wrap="square"/>
                    <a:lstStyle/>
                    <a:p>
                      <a:pPr algn="l"/>
                      <a:r>
                        <a:rPr sz="950" b="0" i="0">
                          <a:solidFill>
                            <a:srgbClr val="1A1A2E"/>
                          </a:solidFill>
                        </a:rPr>
                        <a:t>New Senior Notes (10-year)</a:t>
                      </a:r>
                    </a:p>
                  </a:txBody>
                  <a:tcPr/>
                </a:tc>
                <a:tc>
                  <a:txBody>
                    <a:bodyPr wrap="square"/>
                    <a:lstStyle/>
                    <a:p>
                      <a:pPr algn="r"/>
                      <a:r>
                        <a:rPr sz="950" b="0" i="0">
                          <a:solidFill>
                            <a:srgbClr val="1A1A2E"/>
                          </a:solidFill>
                        </a:rPr>
                        <a:t>$5.0B</a:t>
                      </a:r>
                    </a:p>
                  </a:txBody>
                  <a:tcPr/>
                </a:tc>
                <a:tc>
                  <a:txBody>
                    <a:bodyPr wrap="square"/>
                    <a:lstStyle/>
                    <a:p>
                      <a:pPr algn="r"/>
                      <a:r>
                        <a:rPr sz="950" b="0" i="0">
                          <a:solidFill>
                            <a:srgbClr val="1A1A2E"/>
                          </a:solidFill>
                        </a:rPr>
                        <a:t>8.6%</a:t>
                      </a:r>
                    </a:p>
                  </a:txBody>
                  <a:tcPr/>
                </a:tc>
              </a:tr>
              <a:tr h="327660">
                <a:tc>
                  <a:txBody>
                    <a:bodyPr wrap="square"/>
                    <a:lstStyle/>
                    <a:p>
                      <a:pPr algn="l"/>
                      <a:r>
                        <a:rPr sz="950" b="0" i="0">
                          <a:solidFill>
                            <a:srgbClr val="1A1A2E"/>
                          </a:solidFill>
                        </a:rPr>
                        <a:t>Netflix Cash on Balance Sheet</a:t>
                      </a:r>
                    </a:p>
                  </a:txBody>
                  <a:tcPr>
                    <a:solidFill>
                      <a:srgbClr val="EAF0FB"/>
                    </a:solidFill>
                  </a:tcPr>
                </a:tc>
                <a:tc>
                  <a:txBody>
                    <a:bodyPr wrap="square"/>
                    <a:lstStyle/>
                    <a:p>
                      <a:pPr algn="r"/>
                      <a:r>
                        <a:rPr sz="950" b="0" i="0">
                          <a:solidFill>
                            <a:srgbClr val="1A1A2E"/>
                          </a:solidFill>
                        </a:rPr>
                        <a:t>$7.0B</a:t>
                      </a:r>
                    </a:p>
                  </a:txBody>
                  <a:tcPr>
                    <a:solidFill>
                      <a:srgbClr val="EAF0FB"/>
                    </a:solidFill>
                  </a:tcPr>
                </a:tc>
                <a:tc>
                  <a:txBody>
                    <a:bodyPr wrap="square"/>
                    <a:lstStyle/>
                    <a:p>
                      <a:pPr algn="r"/>
                      <a:r>
                        <a:rPr sz="950" b="0" i="0">
                          <a:solidFill>
                            <a:srgbClr val="1A1A2E"/>
                          </a:solidFill>
                        </a:rPr>
                        <a:t>12.0%</a:t>
                      </a:r>
                    </a:p>
                  </a:txBody>
                  <a:tcPr>
                    <a:solidFill>
                      <a:srgbClr val="EAF0FB"/>
                    </a:solidFill>
                  </a:tcPr>
                </a:tc>
              </a:tr>
              <a:tr h="327660">
                <a:tc>
                  <a:txBody>
                    <a:bodyPr wrap="square"/>
                    <a:lstStyle/>
                    <a:p>
                      <a:pPr algn="l"/>
                      <a:r>
                        <a:rPr sz="950" b="0" i="0">
                          <a:solidFill>
                            <a:srgbClr val="1A1A2E"/>
                          </a:solidFill>
                        </a:rPr>
                        <a:t>Netflix Common Stock (11.5M shares)</a:t>
                      </a:r>
                    </a:p>
                  </a:txBody>
                  <a:tcPr/>
                </a:tc>
                <a:tc>
                  <a:txBody>
                    <a:bodyPr wrap="square"/>
                    <a:lstStyle/>
                    <a:p>
                      <a:pPr algn="r"/>
                      <a:r>
                        <a:rPr sz="950" b="0" i="0">
                          <a:solidFill>
                            <a:srgbClr val="1A1A2E"/>
                          </a:solidFill>
                        </a:rPr>
                        <a:t>$10.0B</a:t>
                      </a:r>
                    </a:p>
                  </a:txBody>
                  <a:tcPr/>
                </a:tc>
                <a:tc>
                  <a:txBody>
                    <a:bodyPr wrap="square"/>
                    <a:lstStyle/>
                    <a:p>
                      <a:pPr algn="r"/>
                      <a:r>
                        <a:rPr sz="950" b="0" i="0">
                          <a:solidFill>
                            <a:srgbClr val="1A1A2E"/>
                          </a:solidFill>
                        </a:rPr>
                        <a:t>17.2%</a:t>
                      </a:r>
                    </a:p>
                  </a:txBody>
                  <a:tcPr/>
                </a:tc>
              </a:tr>
              <a:tr h="327660">
                <a:tc>
                  <a:txBody>
                    <a:bodyPr wrap="square"/>
                    <a:lstStyle/>
                    <a:p>
                      <a:pPr algn="l"/>
                      <a:r>
                        <a:rPr sz="950" b="1" i="0">
                          <a:solidFill>
                            <a:srgbClr val="FFFFFF"/>
                          </a:solidFill>
                        </a:rPr>
                        <a:t>Total Sources</a:t>
                      </a:r>
                    </a:p>
                  </a:txBody>
                  <a:tcPr>
                    <a:solidFill>
                      <a:srgbClr val="0F2044"/>
                    </a:solidFill>
                  </a:tcPr>
                </a:tc>
                <a:tc>
                  <a:txBody>
                    <a:bodyPr wrap="square"/>
                    <a:lstStyle/>
                    <a:p>
                      <a:pPr algn="r"/>
                      <a:r>
                        <a:rPr sz="950" b="1" i="0">
                          <a:solidFill>
                            <a:srgbClr val="FFFFFF"/>
                          </a:solidFill>
                        </a:rPr>
                        <a:t>$58.2B</a:t>
                      </a:r>
                    </a:p>
                  </a:txBody>
                  <a:tcPr>
                    <a:solidFill>
                      <a:srgbClr val="0F2044"/>
                    </a:solidFill>
                  </a:tcPr>
                </a:tc>
                <a:tc>
                  <a:txBody>
                    <a:bodyPr wrap="square"/>
                    <a:lstStyle/>
                    <a:p>
                      <a:pPr algn="r"/>
                      <a:r>
                        <a:rPr sz="950" b="1" i="0">
                          <a:solidFill>
                            <a:srgbClr val="FFFFFF"/>
                          </a:solidFill>
                        </a:rPr>
                        <a:t>100.0%</a:t>
                      </a:r>
                    </a:p>
                  </a:txBody>
                  <a:tcPr>
                    <a:solidFill>
                      <a:srgbClr val="0F2044"/>
                    </a:solidFill>
                  </a:tcPr>
                </a:tc>
              </a:tr>
            </a:tbl>
          </a:graphicData>
        </a:graphic>
      </p:graphicFrame>
      <p:sp>
        <p:nvSpPr>
          <p:cNvPr id="8" name="TextBox 7"/>
          <p:cNvSpPr txBox="1"/>
          <p:nvPr/>
        </p:nvSpPr>
        <p:spPr>
          <a:xfrm>
            <a:off x="5806440" y="1170432"/>
            <a:ext cx="5303520" cy="347472"/>
          </a:xfrm>
          <a:prstGeom prst="rect">
            <a:avLst/>
          </a:prstGeom>
          <a:noFill/>
        </p:spPr>
        <p:txBody>
          <a:bodyPr wrap="square">
            <a:spAutoFit/>
          </a:bodyPr>
          <a:lstStyle/>
          <a:p>
            <a:pPr algn="l"/>
            <a:r>
              <a:rPr sz="1300" b="1" i="0">
                <a:solidFill>
                  <a:srgbClr val="1A1A2E"/>
                </a:solidFill>
              </a:rPr>
              <a:t>Uses of Funds</a:t>
            </a:r>
          </a:p>
        </p:txBody>
      </p:sp>
      <p:graphicFrame>
        <p:nvGraphicFramePr>
          <p:cNvPr id="9" name="Table 8"/>
          <p:cNvGraphicFramePr>
            <a:graphicFrameLocks noGrp="1"/>
          </p:cNvGraphicFramePr>
          <p:nvPr/>
        </p:nvGraphicFramePr>
        <p:xfrm>
          <a:off x="5806440" y="1554480"/>
          <a:ext cx="5303520" cy="1664208"/>
        </p:xfrm>
        <a:graphic>
          <a:graphicData uri="http://schemas.openxmlformats.org/drawingml/2006/table">
            <a:tbl>
              <a:tblPr firstRow="1" bandRow="1">
                <a:tableStyleId>{5C22544A-7EE6-4342-B048-85BDC9FD1C3A}</a:tableStyleId>
              </a:tblPr>
              <a:tblGrid>
                <a:gridCol w="1767840"/>
                <a:gridCol w="1767840"/>
                <a:gridCol w="1767840"/>
              </a:tblGrid>
              <a:tr h="332841">
                <a:tc>
                  <a:txBody>
                    <a:bodyPr wrap="square"/>
                    <a:lstStyle/>
                    <a:p>
                      <a:pPr algn="l"/>
                      <a:r>
                        <a:rPr sz="1000" b="1" i="0">
                          <a:solidFill>
                            <a:srgbClr val="FFFFFF"/>
                          </a:solidFill>
                        </a:rPr>
                        <a:t>Use</a:t>
                      </a:r>
                    </a:p>
                  </a:txBody>
                  <a:tcPr>
                    <a:solidFill>
                      <a:srgbClr val="0F2044"/>
                    </a:solidFill>
                  </a:tcPr>
                </a:tc>
                <a:tc>
                  <a:txBody>
                    <a:bodyPr wrap="square"/>
                    <a:lstStyle/>
                    <a:p>
                      <a:pPr algn="r"/>
                      <a:r>
                        <a:rPr sz="1000" b="1" i="0">
                          <a:solidFill>
                            <a:srgbClr val="FFFFFF"/>
                          </a:solidFill>
                        </a:rPr>
                        <a:t>Amount ($B)</a:t>
                      </a:r>
                    </a:p>
                  </a:txBody>
                  <a:tcPr>
                    <a:solidFill>
                      <a:srgbClr val="0F2044"/>
                    </a:solidFill>
                  </a:tcPr>
                </a:tc>
                <a:tc>
                  <a:txBody>
                    <a:bodyPr wrap="square"/>
                    <a:lstStyle/>
                    <a:p>
                      <a:pPr algn="r"/>
                      <a:r>
                        <a:rPr sz="1000" b="1" i="0">
                          <a:solidFill>
                            <a:srgbClr val="FFFFFF"/>
                          </a:solidFill>
                        </a:rPr>
                        <a:t>% of Total</a:t>
                      </a:r>
                    </a:p>
                  </a:txBody>
                  <a:tcPr>
                    <a:solidFill>
                      <a:srgbClr val="0F2044"/>
                    </a:solidFill>
                  </a:tcPr>
                </a:tc>
              </a:tr>
              <a:tr h="332841">
                <a:tc>
                  <a:txBody>
                    <a:bodyPr wrap="square"/>
                    <a:lstStyle/>
                    <a:p>
                      <a:pPr algn="l"/>
                      <a:r>
                        <a:rPr sz="950" b="0" i="0">
                          <a:solidFill>
                            <a:srgbClr val="1A1A2E"/>
                          </a:solidFill>
                        </a:rPr>
                        <a:t>Purchase of WBD Equity ($10.00/sh)</a:t>
                      </a:r>
                    </a:p>
                  </a:txBody>
                  <a:tcPr>
                    <a:solidFill>
                      <a:srgbClr val="EAF0FB"/>
                    </a:solidFill>
                  </a:tcPr>
                </a:tc>
                <a:tc>
                  <a:txBody>
                    <a:bodyPr wrap="square"/>
                    <a:lstStyle/>
                    <a:p>
                      <a:pPr algn="r"/>
                      <a:r>
                        <a:rPr sz="950" b="0" i="0">
                          <a:solidFill>
                            <a:srgbClr val="1A1A2E"/>
                          </a:solidFill>
                        </a:rPr>
                        <a:t>$23.8B</a:t>
                      </a:r>
                    </a:p>
                  </a:txBody>
                  <a:tcPr>
                    <a:solidFill>
                      <a:srgbClr val="EAF0FB"/>
                    </a:solidFill>
                  </a:tcPr>
                </a:tc>
                <a:tc>
                  <a:txBody>
                    <a:bodyPr wrap="square"/>
                    <a:lstStyle/>
                    <a:p>
                      <a:pPr algn="r"/>
                      <a:r>
                        <a:rPr sz="950" b="0" i="0">
                          <a:solidFill>
                            <a:srgbClr val="1A1A2E"/>
                          </a:solidFill>
                        </a:rPr>
                        <a:t>40.9%</a:t>
                      </a:r>
                    </a:p>
                  </a:txBody>
                  <a:tcPr>
                    <a:solidFill>
                      <a:srgbClr val="EAF0FB"/>
                    </a:solidFill>
                  </a:tcPr>
                </a:tc>
              </a:tr>
              <a:tr h="332841">
                <a:tc>
                  <a:txBody>
                    <a:bodyPr wrap="square"/>
                    <a:lstStyle/>
                    <a:p>
                      <a:pPr algn="l"/>
                      <a:r>
                        <a:rPr sz="950" b="0" i="0">
                          <a:solidFill>
                            <a:srgbClr val="1A1A2E"/>
                          </a:solidFill>
                        </a:rPr>
                        <a:t>Refinance WBD Existing Debt</a:t>
                      </a:r>
                    </a:p>
                  </a:txBody>
                  <a:tcPr/>
                </a:tc>
                <a:tc>
                  <a:txBody>
                    <a:bodyPr wrap="square"/>
                    <a:lstStyle/>
                    <a:p>
                      <a:pPr algn="r"/>
                      <a:r>
                        <a:rPr sz="950" b="0" i="0">
                          <a:solidFill>
                            <a:srgbClr val="1A1A2E"/>
                          </a:solidFill>
                        </a:rPr>
                        <a:t>$28.2B</a:t>
                      </a:r>
                    </a:p>
                  </a:txBody>
                  <a:tcPr/>
                </a:tc>
                <a:tc>
                  <a:txBody>
                    <a:bodyPr wrap="square"/>
                    <a:lstStyle/>
                    <a:p>
                      <a:pPr algn="r"/>
                      <a:r>
                        <a:rPr sz="950" b="0" i="0">
                          <a:solidFill>
                            <a:srgbClr val="1A1A2E"/>
                          </a:solidFill>
                        </a:rPr>
                        <a:t>48.5%</a:t>
                      </a:r>
                    </a:p>
                  </a:txBody>
                  <a:tcPr/>
                </a:tc>
              </a:tr>
              <a:tr h="332841">
                <a:tc>
                  <a:txBody>
                    <a:bodyPr wrap="square"/>
                    <a:lstStyle/>
                    <a:p>
                      <a:pPr algn="l"/>
                      <a:r>
                        <a:rPr sz="950" b="0" i="0">
                          <a:solidFill>
                            <a:srgbClr val="1A1A2E"/>
                          </a:solidFill>
                        </a:rPr>
                        <a:t>Estimated Transaction Fees &amp; Expenses</a:t>
                      </a:r>
                    </a:p>
                  </a:txBody>
                  <a:tcPr>
                    <a:solidFill>
                      <a:srgbClr val="EAF0FB"/>
                    </a:solidFill>
                  </a:tcPr>
                </a:tc>
                <a:tc>
                  <a:txBody>
                    <a:bodyPr wrap="square"/>
                    <a:lstStyle/>
                    <a:p>
                      <a:pPr algn="r"/>
                      <a:r>
                        <a:rPr sz="950" b="0" i="0">
                          <a:solidFill>
                            <a:srgbClr val="1A1A2E"/>
                          </a:solidFill>
                        </a:rPr>
                        <a:t> $0.3B</a:t>
                      </a:r>
                    </a:p>
                  </a:txBody>
                  <a:tcPr>
                    <a:solidFill>
                      <a:srgbClr val="EAF0FB"/>
                    </a:solidFill>
                  </a:tcPr>
                </a:tc>
                <a:tc>
                  <a:txBody>
                    <a:bodyPr wrap="square"/>
                    <a:lstStyle/>
                    <a:p>
                      <a:pPr algn="r"/>
                      <a:r>
                        <a:rPr sz="950" b="0" i="0">
                          <a:solidFill>
                            <a:srgbClr val="1A1A2E"/>
                          </a:solidFill>
                        </a:rPr>
                        <a:t>0.5%</a:t>
                      </a:r>
                    </a:p>
                  </a:txBody>
                  <a:tcPr>
                    <a:solidFill>
                      <a:srgbClr val="EAF0FB"/>
                    </a:solidFill>
                  </a:tcPr>
                </a:tc>
              </a:tr>
              <a:tr h="332844">
                <a:tc>
                  <a:txBody>
                    <a:bodyPr wrap="square"/>
                    <a:lstStyle/>
                    <a:p>
                      <a:pPr algn="l"/>
                      <a:r>
                        <a:rPr sz="950" b="1" i="0">
                          <a:solidFill>
                            <a:srgbClr val="FFFFFF"/>
                          </a:solidFill>
                        </a:rPr>
                        <a:t>Total Uses</a:t>
                      </a:r>
                    </a:p>
                  </a:txBody>
                  <a:tcPr>
                    <a:solidFill>
                      <a:srgbClr val="0F2044"/>
                    </a:solidFill>
                  </a:tcPr>
                </a:tc>
                <a:tc>
                  <a:txBody>
                    <a:bodyPr wrap="square"/>
                    <a:lstStyle/>
                    <a:p>
                      <a:pPr algn="r"/>
                      <a:r>
                        <a:rPr sz="950" b="1" i="0">
                          <a:solidFill>
                            <a:srgbClr val="FFFFFF"/>
                          </a:solidFill>
                        </a:rPr>
                        <a:t>$52.3B*</a:t>
                      </a:r>
                    </a:p>
                  </a:txBody>
                  <a:tcPr>
                    <a:solidFill>
                      <a:srgbClr val="0F2044"/>
                    </a:solidFill>
                  </a:tcPr>
                </a:tc>
                <a:tc>
                  <a:txBody>
                    <a:bodyPr wrap="square"/>
                    <a:lstStyle/>
                    <a:p>
                      <a:pPr algn="r"/>
                      <a:r>
                        <a:rPr sz="950" b="1" i="0">
                          <a:solidFill>
                            <a:srgbClr val="FFFFFF"/>
                          </a:solidFill>
                        </a:rPr>
                        <a:t>100.0%</a:t>
                      </a:r>
                    </a:p>
                  </a:txBody>
                  <a:tcPr>
                    <a:solidFill>
                      <a:srgbClr val="0F2044"/>
                    </a:solidFill>
                  </a:tcPr>
                </a:tc>
              </a:tr>
            </a:tbl>
          </a:graphicData>
        </a:graphic>
      </p:graphicFrame>
      <p:sp>
        <p:nvSpPr>
          <p:cNvPr id="10" name="TextBox 9"/>
          <p:cNvSpPr txBox="1"/>
          <p:nvPr/>
        </p:nvSpPr>
        <p:spPr>
          <a:xfrm>
            <a:off x="320040" y="3657600"/>
            <a:ext cx="11548872" cy="347472"/>
          </a:xfrm>
          <a:prstGeom prst="rect">
            <a:avLst/>
          </a:prstGeom>
          <a:noFill/>
        </p:spPr>
        <p:txBody>
          <a:bodyPr wrap="square">
            <a:spAutoFit/>
          </a:bodyPr>
          <a:lstStyle/>
          <a:p>
            <a:pPr algn="l"/>
            <a:r>
              <a:rPr sz="1300" b="1" i="0">
                <a:solidFill>
                  <a:srgbClr val="1A1A2E"/>
                </a:solidFill>
              </a:rPr>
              <a:t>Pro Forma Capitalization &amp; Leverage ($B)</a:t>
            </a:r>
          </a:p>
        </p:txBody>
      </p:sp>
      <p:graphicFrame>
        <p:nvGraphicFramePr>
          <p:cNvPr id="11" name="Table 10"/>
          <p:cNvGraphicFramePr>
            <a:graphicFrameLocks noGrp="1"/>
          </p:cNvGraphicFramePr>
          <p:nvPr/>
        </p:nvGraphicFramePr>
        <p:xfrm>
          <a:off x="320040" y="4041648"/>
          <a:ext cx="11548872" cy="2176272"/>
        </p:xfrm>
        <a:graphic>
          <a:graphicData uri="http://schemas.openxmlformats.org/drawingml/2006/table">
            <a:tbl>
              <a:tblPr firstRow="1" bandRow="1">
                <a:tableStyleId>{5C22544A-7EE6-4342-B048-85BDC9FD1C3A}</a:tableStyleId>
              </a:tblPr>
              <a:tblGrid>
                <a:gridCol w="2309774"/>
                <a:gridCol w="2309774"/>
                <a:gridCol w="2309774"/>
                <a:gridCol w="2309774"/>
                <a:gridCol w="2309776"/>
              </a:tblGrid>
              <a:tr h="310896">
                <a:tc>
                  <a:txBody>
                    <a:bodyPr wrap="square"/>
                    <a:lstStyle/>
                    <a:p>
                      <a:pPr algn="ctr"/>
                      <a:r>
                        <a:rPr sz="950" b="1" i="0">
                          <a:solidFill>
                            <a:srgbClr val="FFFFFF"/>
                          </a:solidFill>
                        </a:rPr>
                        <a:t>Metric</a:t>
                      </a:r>
                    </a:p>
                  </a:txBody>
                  <a:tcPr>
                    <a:solidFill>
                      <a:srgbClr val="0F2044"/>
                    </a:solidFill>
                  </a:tcPr>
                </a:tc>
                <a:tc>
                  <a:txBody>
                    <a:bodyPr wrap="square"/>
                    <a:lstStyle/>
                    <a:p>
                      <a:pPr algn="ctr"/>
                      <a:r>
                        <a:rPr sz="950" b="1" i="0">
                          <a:solidFill>
                            <a:srgbClr val="FFFFFF"/>
                          </a:solidFill>
                        </a:rPr>
                        <a:t>Netflix Stand-Alone</a:t>
                      </a:r>
                    </a:p>
                  </a:txBody>
                  <a:tcPr>
                    <a:solidFill>
                      <a:srgbClr val="0F2044"/>
                    </a:solidFill>
                  </a:tcPr>
                </a:tc>
                <a:tc>
                  <a:txBody>
                    <a:bodyPr wrap="square"/>
                    <a:lstStyle/>
                    <a:p>
                      <a:pPr algn="ctr"/>
                      <a:r>
                        <a:rPr sz="950" b="1" i="0">
                          <a:solidFill>
                            <a:srgbClr val="FFFFFF"/>
                          </a:solidFill>
                        </a:rPr>
                        <a:t>WBD Stand-Alone</a:t>
                      </a:r>
                    </a:p>
                  </a:txBody>
                  <a:tcPr>
                    <a:solidFill>
                      <a:srgbClr val="0F2044"/>
                    </a:solidFill>
                  </a:tcPr>
                </a:tc>
                <a:tc>
                  <a:txBody>
                    <a:bodyPr wrap="square"/>
                    <a:lstStyle/>
                    <a:p>
                      <a:pPr algn="ctr"/>
                      <a:r>
                        <a:rPr sz="950" b="1" i="0">
                          <a:solidFill>
                            <a:srgbClr val="FFFFFF"/>
                          </a:solidFill>
                        </a:rPr>
                        <a:t>Pro Forma Combined</a:t>
                      </a:r>
                    </a:p>
                  </a:txBody>
                  <a:tcPr>
                    <a:solidFill>
                      <a:srgbClr val="0F2044"/>
                    </a:solidFill>
                  </a:tcPr>
                </a:tc>
                <a:tc>
                  <a:txBody>
                    <a:bodyPr wrap="square"/>
                    <a:lstStyle/>
                    <a:p>
                      <a:pPr algn="ctr"/>
                      <a:r>
                        <a:rPr sz="950" b="1" i="0">
                          <a:solidFill>
                            <a:srgbClr val="FFFFFF"/>
                          </a:solidFill>
                        </a:rPr>
                        <a:t>Pro Forma + Yr 3 Synergies</a:t>
                      </a:r>
                    </a:p>
                  </a:txBody>
                  <a:tcPr>
                    <a:solidFill>
                      <a:srgbClr val="0F2044"/>
                    </a:solidFill>
                  </a:tcPr>
                </a:tc>
              </a:tr>
              <a:tr h="310896">
                <a:tc>
                  <a:txBody>
                    <a:bodyPr wrap="square"/>
                    <a:lstStyle/>
                    <a:p>
                      <a:pPr algn="l"/>
                      <a:r>
                        <a:rPr sz="950" b="0" i="0">
                          <a:solidFill>
                            <a:srgbClr val="1A1A2E"/>
                          </a:solidFill>
                        </a:rPr>
                        <a:t>Total Debt ($B)</a:t>
                      </a:r>
                    </a:p>
                  </a:txBody>
                  <a:tcPr>
                    <a:solidFill>
                      <a:srgbClr val="EAF0FB"/>
                    </a:solidFill>
                  </a:tcPr>
                </a:tc>
                <a:tc>
                  <a:txBody>
                    <a:bodyPr wrap="square"/>
                    <a:lstStyle/>
                    <a:p>
                      <a:pPr algn="r"/>
                      <a:r>
                        <a:rPr sz="950" b="0" i="0">
                          <a:solidFill>
                            <a:srgbClr val="1A1A2E"/>
                          </a:solidFill>
                        </a:rPr>
                        <a:t>$14.0B</a:t>
                      </a:r>
                    </a:p>
                  </a:txBody>
                  <a:tcPr>
                    <a:solidFill>
                      <a:srgbClr val="EAF0FB"/>
                    </a:solidFill>
                  </a:tcPr>
                </a:tc>
                <a:tc>
                  <a:txBody>
                    <a:bodyPr wrap="square"/>
                    <a:lstStyle/>
                    <a:p>
                      <a:pPr algn="r"/>
                      <a:r>
                        <a:rPr sz="950" b="0" i="0">
                          <a:solidFill>
                            <a:srgbClr val="1A1A2E"/>
                          </a:solidFill>
                        </a:rPr>
                        <a:t>$39.5B</a:t>
                      </a:r>
                    </a:p>
                  </a:txBody>
                  <a:tcPr>
                    <a:solidFill>
                      <a:srgbClr val="EAF0FB"/>
                    </a:solidFill>
                  </a:tcPr>
                </a:tc>
                <a:tc>
                  <a:txBody>
                    <a:bodyPr wrap="square"/>
                    <a:lstStyle/>
                    <a:p>
                      <a:pPr algn="r"/>
                      <a:r>
                        <a:rPr sz="950" b="0" i="0">
                          <a:solidFill>
                            <a:srgbClr val="1A1A2E"/>
                          </a:solidFill>
                        </a:rPr>
                        <a:t>$61.5B</a:t>
                      </a:r>
                    </a:p>
                  </a:txBody>
                  <a:tcPr>
                    <a:solidFill>
                      <a:srgbClr val="EAF0FB"/>
                    </a:solidFill>
                  </a:tcPr>
                </a:tc>
                <a:tc>
                  <a:txBody>
                    <a:bodyPr wrap="square"/>
                    <a:lstStyle/>
                    <a:p>
                      <a:pPr algn="r"/>
                      <a:r>
                        <a:rPr sz="950" b="0" i="0">
                          <a:solidFill>
                            <a:srgbClr val="1A1A2E"/>
                          </a:solidFill>
                        </a:rPr>
                        <a:t>$55.0B (after FCF paydown)</a:t>
                      </a:r>
                    </a:p>
                  </a:txBody>
                  <a:tcPr>
                    <a:solidFill>
                      <a:srgbClr val="EAF0FB"/>
                    </a:solidFill>
                  </a:tcPr>
                </a:tc>
              </a:tr>
              <a:tr h="310896">
                <a:tc>
                  <a:txBody>
                    <a:bodyPr wrap="square"/>
                    <a:lstStyle/>
                    <a:p>
                      <a:pPr algn="l"/>
                      <a:r>
                        <a:rPr sz="950" b="0" i="0">
                          <a:solidFill>
                            <a:srgbClr val="1A1A2E"/>
                          </a:solidFill>
                        </a:rPr>
                        <a:t>Cash ($B)</a:t>
                      </a:r>
                    </a:p>
                  </a:txBody>
                  <a:tcPr/>
                </a:tc>
                <a:tc>
                  <a:txBody>
                    <a:bodyPr wrap="square"/>
                    <a:lstStyle/>
                    <a:p>
                      <a:pPr algn="r"/>
                      <a:r>
                        <a:rPr sz="950" b="0" i="0">
                          <a:solidFill>
                            <a:srgbClr val="1A1A2E"/>
                          </a:solidFill>
                        </a:rPr>
                        <a:t> $7.0B</a:t>
                      </a:r>
                    </a:p>
                  </a:txBody>
                  <a:tcPr/>
                </a:tc>
                <a:tc>
                  <a:txBody>
                    <a:bodyPr wrap="square"/>
                    <a:lstStyle/>
                    <a:p>
                      <a:pPr algn="r"/>
                      <a:r>
                        <a:rPr sz="950" b="0" i="0">
                          <a:solidFill>
                            <a:srgbClr val="1A1A2E"/>
                          </a:solidFill>
                        </a:rPr>
                        <a:t> $3.5B</a:t>
                      </a:r>
                    </a:p>
                  </a:txBody>
                  <a:tcPr/>
                </a:tc>
                <a:tc>
                  <a:txBody>
                    <a:bodyPr wrap="square"/>
                    <a:lstStyle/>
                    <a:p>
                      <a:pPr algn="r"/>
                      <a:r>
                        <a:rPr sz="950" b="0" i="0">
                          <a:solidFill>
                            <a:srgbClr val="1A1A2E"/>
                          </a:solidFill>
                        </a:rPr>
                        <a:t> $3.5B</a:t>
                      </a:r>
                    </a:p>
                  </a:txBody>
                  <a:tcPr/>
                </a:tc>
                <a:tc>
                  <a:txBody>
                    <a:bodyPr wrap="square"/>
                    <a:lstStyle/>
                    <a:p>
                      <a:pPr algn="r"/>
                      <a:r>
                        <a:rPr sz="950" b="0" i="0">
                          <a:solidFill>
                            <a:srgbClr val="1A1A2E"/>
                          </a:solidFill>
                        </a:rPr>
                        <a:t>$5.0B+</a:t>
                      </a:r>
                    </a:p>
                  </a:txBody>
                  <a:tcPr/>
                </a:tc>
              </a:tr>
              <a:tr h="310896">
                <a:tc>
                  <a:txBody>
                    <a:bodyPr wrap="square"/>
                    <a:lstStyle/>
                    <a:p>
                      <a:pPr algn="l"/>
                      <a:r>
                        <a:rPr sz="950" b="0" i="0">
                          <a:solidFill>
                            <a:srgbClr val="1A1A2E"/>
                          </a:solidFill>
                        </a:rPr>
                        <a:t>Net Debt ($B)</a:t>
                      </a:r>
                    </a:p>
                  </a:txBody>
                  <a:tcPr>
                    <a:solidFill>
                      <a:srgbClr val="EAF0FB"/>
                    </a:solidFill>
                  </a:tcPr>
                </a:tc>
                <a:tc>
                  <a:txBody>
                    <a:bodyPr wrap="square"/>
                    <a:lstStyle/>
                    <a:p>
                      <a:pPr algn="r"/>
                      <a:r>
                        <a:rPr sz="950" b="0" i="0">
                          <a:solidFill>
                            <a:srgbClr val="1A1A2E"/>
                          </a:solidFill>
                        </a:rPr>
                        <a:t> $7.0B</a:t>
                      </a:r>
                    </a:p>
                  </a:txBody>
                  <a:tcPr>
                    <a:solidFill>
                      <a:srgbClr val="EAF0FB"/>
                    </a:solidFill>
                  </a:tcPr>
                </a:tc>
                <a:tc>
                  <a:txBody>
                    <a:bodyPr wrap="square"/>
                    <a:lstStyle/>
                    <a:p>
                      <a:pPr algn="r"/>
                      <a:r>
                        <a:rPr sz="950" b="0" i="0">
                          <a:solidFill>
                            <a:srgbClr val="1A1A2E"/>
                          </a:solidFill>
                        </a:rPr>
                        <a:t>$36.0B</a:t>
                      </a:r>
                    </a:p>
                  </a:txBody>
                  <a:tcPr>
                    <a:solidFill>
                      <a:srgbClr val="EAF0FB"/>
                    </a:solidFill>
                  </a:tcPr>
                </a:tc>
                <a:tc>
                  <a:txBody>
                    <a:bodyPr wrap="square"/>
                    <a:lstStyle/>
                    <a:p>
                      <a:pPr algn="r"/>
                      <a:r>
                        <a:rPr sz="950" b="0" i="0">
                          <a:solidFill>
                            <a:srgbClr val="1A1A2E"/>
                          </a:solidFill>
                        </a:rPr>
                        <a:t>$58.0B</a:t>
                      </a:r>
                    </a:p>
                  </a:txBody>
                  <a:tcPr>
                    <a:solidFill>
                      <a:srgbClr val="EAF0FB"/>
                    </a:solidFill>
                  </a:tcPr>
                </a:tc>
                <a:tc>
                  <a:txBody>
                    <a:bodyPr wrap="square"/>
                    <a:lstStyle/>
                    <a:p>
                      <a:pPr algn="r"/>
                      <a:r>
                        <a:rPr sz="950" b="0" i="0">
                          <a:solidFill>
                            <a:srgbClr val="1A1A2E"/>
                          </a:solidFill>
                        </a:rPr>
                        <a:t>$50.0B</a:t>
                      </a:r>
                    </a:p>
                  </a:txBody>
                  <a:tcPr>
                    <a:solidFill>
                      <a:srgbClr val="EAF0FB"/>
                    </a:solidFill>
                  </a:tcPr>
                </a:tc>
              </a:tr>
              <a:tr h="310896">
                <a:tc>
                  <a:txBody>
                    <a:bodyPr wrap="square"/>
                    <a:lstStyle/>
                    <a:p>
                      <a:pPr algn="l"/>
                      <a:r>
                        <a:rPr sz="950" b="0" i="0">
                          <a:solidFill>
                            <a:srgbClr val="1A1A2E"/>
                          </a:solidFill>
                        </a:rPr>
                        <a:t>Adj. EBITDA ($B)</a:t>
                      </a:r>
                    </a:p>
                  </a:txBody>
                  <a:tcPr/>
                </a:tc>
                <a:tc>
                  <a:txBody>
                    <a:bodyPr wrap="square"/>
                    <a:lstStyle/>
                    <a:p>
                      <a:pPr algn="r"/>
                      <a:r>
                        <a:rPr sz="950" b="0" i="0">
                          <a:solidFill>
                            <a:srgbClr val="1A1A2E"/>
                          </a:solidFill>
                        </a:rPr>
                        <a:t>$10.4B</a:t>
                      </a:r>
                    </a:p>
                  </a:txBody>
                  <a:tcPr/>
                </a:tc>
                <a:tc>
                  <a:txBody>
                    <a:bodyPr wrap="square"/>
                    <a:lstStyle/>
                    <a:p>
                      <a:pPr algn="r"/>
                      <a:r>
                        <a:rPr sz="950" b="0" i="0">
                          <a:solidFill>
                            <a:srgbClr val="1A1A2E"/>
                          </a:solidFill>
                        </a:rPr>
                        <a:t> $9.7B</a:t>
                      </a:r>
                    </a:p>
                  </a:txBody>
                  <a:tcPr/>
                </a:tc>
                <a:tc>
                  <a:txBody>
                    <a:bodyPr wrap="square"/>
                    <a:lstStyle/>
                    <a:p>
                      <a:pPr algn="r"/>
                      <a:r>
                        <a:rPr sz="950" b="0" i="0">
                          <a:solidFill>
                            <a:srgbClr val="1A1A2E"/>
                          </a:solidFill>
                        </a:rPr>
                        <a:t>$20.1B</a:t>
                      </a:r>
                    </a:p>
                  </a:txBody>
                  <a:tcPr/>
                </a:tc>
                <a:tc>
                  <a:txBody>
                    <a:bodyPr wrap="square"/>
                    <a:lstStyle/>
                    <a:p>
                      <a:pPr algn="r"/>
                      <a:r>
                        <a:rPr sz="950" b="0" i="0">
                          <a:solidFill>
                            <a:srgbClr val="1A1A2E"/>
                          </a:solidFill>
                        </a:rPr>
                        <a:t>$24.1B (incl. $4B synergies)</a:t>
                      </a:r>
                    </a:p>
                  </a:txBody>
                  <a:tcPr/>
                </a:tc>
              </a:tr>
              <a:tr h="310896">
                <a:tc>
                  <a:txBody>
                    <a:bodyPr wrap="square"/>
                    <a:lstStyle/>
                    <a:p>
                      <a:pPr algn="l"/>
                      <a:r>
                        <a:rPr sz="950" b="1" i="0">
                          <a:solidFill>
                            <a:srgbClr val="CC0000"/>
                          </a:solidFill>
                        </a:rPr>
                        <a:t>Net Debt / EBITDA</a:t>
                      </a:r>
                    </a:p>
                  </a:txBody>
                  <a:tcPr>
                    <a:solidFill>
                      <a:srgbClr val="EAF0FB"/>
                    </a:solidFill>
                  </a:tcPr>
                </a:tc>
                <a:tc>
                  <a:txBody>
                    <a:bodyPr wrap="square"/>
                    <a:lstStyle/>
                    <a:p>
                      <a:pPr algn="r"/>
                      <a:r>
                        <a:rPr sz="950" b="1" i="0">
                          <a:solidFill>
                            <a:srgbClr val="CC0000"/>
                          </a:solidFill>
                        </a:rPr>
                        <a:t>  0.7x</a:t>
                      </a:r>
                    </a:p>
                  </a:txBody>
                  <a:tcPr>
                    <a:solidFill>
                      <a:srgbClr val="EAF0FB"/>
                    </a:solidFill>
                  </a:tcPr>
                </a:tc>
                <a:tc>
                  <a:txBody>
                    <a:bodyPr wrap="square"/>
                    <a:lstStyle/>
                    <a:p>
                      <a:pPr algn="r"/>
                      <a:r>
                        <a:rPr sz="950" b="1" i="0">
                          <a:solidFill>
                            <a:srgbClr val="CC0000"/>
                          </a:solidFill>
                        </a:rPr>
                        <a:t>  3.7x</a:t>
                      </a:r>
                    </a:p>
                  </a:txBody>
                  <a:tcPr>
                    <a:solidFill>
                      <a:srgbClr val="EAF0FB"/>
                    </a:solidFill>
                  </a:tcPr>
                </a:tc>
                <a:tc>
                  <a:txBody>
                    <a:bodyPr wrap="square"/>
                    <a:lstStyle/>
                    <a:p>
                      <a:pPr algn="r"/>
                      <a:r>
                        <a:rPr sz="950" b="1" i="0">
                          <a:solidFill>
                            <a:srgbClr val="CC0000"/>
                          </a:solidFill>
                        </a:rPr>
                        <a:t>  2.9x</a:t>
                      </a:r>
                    </a:p>
                  </a:txBody>
                  <a:tcPr>
                    <a:solidFill>
                      <a:srgbClr val="EAF0FB"/>
                    </a:solidFill>
                  </a:tcPr>
                </a:tc>
                <a:tc>
                  <a:txBody>
                    <a:bodyPr wrap="square"/>
                    <a:lstStyle/>
                    <a:p>
                      <a:pPr algn="r"/>
                      <a:r>
                        <a:rPr sz="950" b="1" i="0">
                          <a:solidFill>
                            <a:srgbClr val="CC0000"/>
                          </a:solidFill>
                        </a:rPr>
                        <a:t>2.1x (delevering to &lt;2x Yr4)</a:t>
                      </a:r>
                    </a:p>
                  </a:txBody>
                  <a:tcPr>
                    <a:solidFill>
                      <a:srgbClr val="EAF0FB"/>
                    </a:solidFill>
                  </a:tcPr>
                </a:tc>
              </a:tr>
              <a:tr h="310896">
                <a:tc>
                  <a:txBody>
                    <a:bodyPr wrap="square"/>
                    <a:lstStyle/>
                    <a:p>
                      <a:pPr algn="l"/>
                      <a:r>
                        <a:rPr sz="950" b="0" i="0">
                          <a:solidFill>
                            <a:srgbClr val="1A1A2E"/>
                          </a:solidFill>
                        </a:rPr>
                        <a:t>FCF / Year ($B)</a:t>
                      </a:r>
                    </a:p>
                  </a:txBody>
                  <a:tcPr/>
                </a:tc>
                <a:tc>
                  <a:txBody>
                    <a:bodyPr wrap="square"/>
                    <a:lstStyle/>
                    <a:p>
                      <a:pPr algn="r"/>
                      <a:r>
                        <a:rPr sz="950" b="0" i="0">
                          <a:solidFill>
                            <a:srgbClr val="1A1A2E"/>
                          </a:solidFill>
                        </a:rPr>
                        <a:t> $6.9B</a:t>
                      </a:r>
                    </a:p>
                  </a:txBody>
                  <a:tcPr/>
                </a:tc>
                <a:tc>
                  <a:txBody>
                    <a:bodyPr wrap="square"/>
                    <a:lstStyle/>
                    <a:p>
                      <a:pPr algn="r"/>
                      <a:r>
                        <a:rPr sz="950" b="0" i="0">
                          <a:solidFill>
                            <a:srgbClr val="1A1A2E"/>
                          </a:solidFill>
                        </a:rPr>
                        <a:t> $2.1B</a:t>
                      </a:r>
                    </a:p>
                  </a:txBody>
                  <a:tcPr/>
                </a:tc>
                <a:tc>
                  <a:txBody>
                    <a:bodyPr wrap="square"/>
                    <a:lstStyle/>
                    <a:p>
                      <a:pPr algn="r"/>
                      <a:r>
                        <a:rPr sz="950" b="0" i="0">
                          <a:solidFill>
                            <a:srgbClr val="1A1A2E"/>
                          </a:solidFill>
                        </a:rPr>
                        <a:t> $9.0B</a:t>
                      </a:r>
                    </a:p>
                  </a:txBody>
                  <a:tcPr/>
                </a:tc>
                <a:tc>
                  <a:txBody>
                    <a:bodyPr wrap="square"/>
                    <a:lstStyle/>
                    <a:p>
                      <a:pPr algn="r"/>
                      <a:r>
                        <a:rPr sz="950" b="0" i="0">
                          <a:solidFill>
                            <a:srgbClr val="1A1A2E"/>
                          </a:solidFill>
                        </a:rPr>
                        <a:t>$11.5B+ (funding rapid delever)</a:t>
                      </a:r>
                    </a:p>
                  </a:txBody>
                  <a:tcPr/>
                </a:tc>
              </a:tr>
            </a:tbl>
          </a:graphicData>
        </a:graphic>
      </p:graphicFrame>
      <p:sp>
        <p:nvSpPr>
          <p:cNvPr id="12" name="Rectangle 11"/>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 Excludes $5.9B WBD deferred tax refinancing. Net leverage improves to ~2.1x within 3 years on $11.5B+ FCF. Pro forma credit ratings: BBB- / Ba1 (investment grade target within 24 months).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Valuation Analysis — Comparable Public Companies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WBD Trades at a Significant Discount to Peers on EV/EBITDA</a:t>
            </a:r>
          </a:p>
        </p:txBody>
      </p:sp>
      <p:sp>
        <p:nvSpPr>
          <p:cNvPr id="6" name="TextBox 5"/>
          <p:cNvSpPr txBox="1"/>
          <p:nvPr/>
        </p:nvSpPr>
        <p:spPr>
          <a:xfrm>
            <a:off x="320040" y="1170432"/>
            <a:ext cx="11548872" cy="347472"/>
          </a:xfrm>
          <a:prstGeom prst="rect">
            <a:avLst/>
          </a:prstGeom>
          <a:noFill/>
        </p:spPr>
        <p:txBody>
          <a:bodyPr wrap="square">
            <a:spAutoFit/>
          </a:bodyPr>
          <a:lstStyle/>
          <a:p>
            <a:pPr algn="l"/>
            <a:r>
              <a:rPr sz="1200" b="1" i="0">
                <a:solidFill>
                  <a:srgbClr val="1A1A2E"/>
                </a:solidFill>
              </a:rPr>
              <a:t>Selected Publicly Traded Media &amp; Streaming Comparables ($ in billions)</a:t>
            </a:r>
          </a:p>
        </p:txBody>
      </p:sp>
      <p:graphicFrame>
        <p:nvGraphicFramePr>
          <p:cNvPr id="7" name="Table 6"/>
          <p:cNvGraphicFramePr>
            <a:graphicFrameLocks noGrp="1"/>
          </p:cNvGraphicFramePr>
          <p:nvPr/>
        </p:nvGraphicFramePr>
        <p:xfrm>
          <a:off x="320040" y="1554480"/>
          <a:ext cx="11548872" cy="4572000"/>
        </p:xfrm>
        <a:graphic>
          <a:graphicData uri="http://schemas.openxmlformats.org/drawingml/2006/table">
            <a:tbl>
              <a:tblPr firstRow="1" bandRow="1">
                <a:tableStyleId>{5C22544A-7EE6-4342-B048-85BDC9FD1C3A}</a:tableStyleId>
              </a:tblPr>
              <a:tblGrid>
                <a:gridCol w="1283208"/>
                <a:gridCol w="1283208"/>
                <a:gridCol w="1283208"/>
                <a:gridCol w="1283208"/>
                <a:gridCol w="1283208"/>
                <a:gridCol w="1283208"/>
                <a:gridCol w="1283208"/>
                <a:gridCol w="1283208"/>
                <a:gridCol w="1283208"/>
              </a:tblGrid>
              <a:tr h="304800">
                <a:tc>
                  <a:txBody>
                    <a:bodyPr wrap="square"/>
                    <a:lstStyle/>
                    <a:p>
                      <a:pPr algn="ctr"/>
                      <a:r>
                        <a:rPr sz="900" b="1" i="0">
                          <a:solidFill>
                            <a:srgbClr val="FFFFFF"/>
                          </a:solidFill>
                        </a:rPr>
                        <a:t>Company</a:t>
                      </a:r>
                    </a:p>
                  </a:txBody>
                  <a:tcPr>
                    <a:solidFill>
                      <a:srgbClr val="0F2044"/>
                    </a:solidFill>
                  </a:tcPr>
                </a:tc>
                <a:tc>
                  <a:txBody>
                    <a:bodyPr wrap="square"/>
                    <a:lstStyle/>
                    <a:p>
                      <a:pPr algn="ctr"/>
                      <a:r>
                        <a:rPr sz="900" b="1" i="0">
                          <a:solidFill>
                            <a:srgbClr val="FFFFFF"/>
                          </a:solidFill>
                        </a:rPr>
                        <a:t>Ticker</a:t>
                      </a:r>
                    </a:p>
                  </a:txBody>
                  <a:tcPr>
                    <a:solidFill>
                      <a:srgbClr val="0F2044"/>
                    </a:solidFill>
                  </a:tcPr>
                </a:tc>
                <a:tc>
                  <a:txBody>
                    <a:bodyPr wrap="square"/>
                    <a:lstStyle/>
                    <a:p>
                      <a:pPr algn="ctr"/>
                      <a:r>
                        <a:rPr sz="900" b="1" i="0">
                          <a:solidFill>
                            <a:srgbClr val="FFFFFF"/>
                          </a:solidFill>
                        </a:rPr>
                        <a:t>Mkt Cap</a:t>
                      </a:r>
                    </a:p>
                  </a:txBody>
                  <a:tcPr>
                    <a:solidFill>
                      <a:srgbClr val="0F2044"/>
                    </a:solidFill>
                  </a:tcPr>
                </a:tc>
                <a:tc>
                  <a:txBody>
                    <a:bodyPr wrap="square"/>
                    <a:lstStyle/>
                    <a:p>
                      <a:pPr algn="ctr"/>
                      <a:r>
                        <a:rPr sz="900" b="1" i="0">
                          <a:solidFill>
                            <a:srgbClr val="FFFFFF"/>
                          </a:solidFill>
                        </a:rPr>
                        <a:t>EV</a:t>
                      </a:r>
                    </a:p>
                  </a:txBody>
                  <a:tcPr>
                    <a:solidFill>
                      <a:srgbClr val="0F2044"/>
                    </a:solidFill>
                  </a:tcPr>
                </a:tc>
                <a:tc>
                  <a:txBody>
                    <a:bodyPr wrap="square"/>
                    <a:lstStyle/>
                    <a:p>
                      <a:pPr algn="ctr"/>
                      <a:r>
                        <a:rPr sz="900" b="1" i="0">
                          <a:solidFill>
                            <a:srgbClr val="FFFFFF"/>
                          </a:solidFill>
                        </a:rPr>
                        <a:t>EV/Rev
(NTM)</a:t>
                      </a:r>
                    </a:p>
                  </a:txBody>
                  <a:tcPr>
                    <a:solidFill>
                      <a:srgbClr val="0F2044"/>
                    </a:solidFill>
                  </a:tcPr>
                </a:tc>
                <a:tc>
                  <a:txBody>
                    <a:bodyPr wrap="square"/>
                    <a:lstStyle/>
                    <a:p>
                      <a:pPr algn="ctr"/>
                      <a:r>
                        <a:rPr sz="900" b="1" i="0">
                          <a:solidFill>
                            <a:srgbClr val="FFFFFF"/>
                          </a:solidFill>
                        </a:rPr>
                        <a:t>EV/EBITDA
(NTM)</a:t>
                      </a:r>
                    </a:p>
                  </a:txBody>
                  <a:tcPr>
                    <a:solidFill>
                      <a:srgbClr val="0F2044"/>
                    </a:solidFill>
                  </a:tcPr>
                </a:tc>
                <a:tc>
                  <a:txBody>
                    <a:bodyPr wrap="square"/>
                    <a:lstStyle/>
                    <a:p>
                      <a:pPr algn="ctr"/>
                      <a:r>
                        <a:rPr sz="900" b="1" i="0">
                          <a:solidFill>
                            <a:srgbClr val="FFFFFF"/>
                          </a:solidFill>
                        </a:rPr>
                        <a:t>P/E
(NTM)</a:t>
                      </a:r>
                    </a:p>
                  </a:txBody>
                  <a:tcPr>
                    <a:solidFill>
                      <a:srgbClr val="0F2044"/>
                    </a:solidFill>
                  </a:tcPr>
                </a:tc>
                <a:tc>
                  <a:txBody>
                    <a:bodyPr wrap="square"/>
                    <a:lstStyle/>
                    <a:p>
                      <a:pPr algn="ctr"/>
                      <a:r>
                        <a:rPr sz="900" b="1" i="0">
                          <a:solidFill>
                            <a:srgbClr val="FFFFFF"/>
                          </a:solidFill>
                        </a:rPr>
                        <a:t>Rev
Growth</a:t>
                      </a:r>
                    </a:p>
                  </a:txBody>
                  <a:tcPr>
                    <a:solidFill>
                      <a:srgbClr val="0F2044"/>
                    </a:solidFill>
                  </a:tcPr>
                </a:tc>
                <a:tc>
                  <a:txBody>
                    <a:bodyPr wrap="square"/>
                    <a:lstStyle/>
                    <a:p>
                      <a:pPr algn="ctr"/>
                      <a:r>
                        <a:rPr sz="900" b="1" i="0">
                          <a:solidFill>
                            <a:srgbClr val="FFFFFF"/>
                          </a:solidFill>
                        </a:rPr>
                        <a:t>Commentary</a:t>
                      </a:r>
                    </a:p>
                  </a:txBody>
                  <a:tcPr>
                    <a:solidFill>
                      <a:srgbClr val="0F2044"/>
                    </a:solidFill>
                  </a:tcPr>
                </a:tc>
              </a:tr>
              <a:tr h="304800">
                <a:tc>
                  <a:txBody>
                    <a:bodyPr wrap="square"/>
                    <a:lstStyle/>
                    <a:p>
                      <a:pPr algn="l"/>
                      <a:r>
                        <a:rPr sz="900" b="1" i="0">
                          <a:solidFill>
                            <a:srgbClr val="FFFFFF"/>
                          </a:solidFill>
                        </a:rPr>
                        <a:t>— STREAMING / CONTENT —</a:t>
                      </a:r>
                    </a:p>
                  </a:txBody>
                  <a:tcPr>
                    <a:solidFill>
                      <a:srgbClr val="18408C"/>
                    </a:solidFill>
                  </a:tcPr>
                </a:tc>
                <a:tc>
                  <a:txBody>
                    <a:bodyPr wrap="square"/>
                    <a:lstStyle/>
                    <a:p>
                      <a:pPr algn="l"/>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l"/>
                      <a:r>
                        <a:rPr sz="900" b="1" i="0">
                          <a:solidFill>
                            <a:srgbClr val="FFFFFF"/>
                          </a:solidFill>
                        </a:rPr>
                        <a:t/>
                      </a:r>
                    </a:p>
                  </a:txBody>
                  <a:tcPr>
                    <a:solidFill>
                      <a:srgbClr val="18408C"/>
                    </a:solidFill>
                  </a:tcPr>
                </a:tc>
              </a:tr>
              <a:tr h="304800">
                <a:tc>
                  <a:txBody>
                    <a:bodyPr wrap="square"/>
                    <a:lstStyle/>
                    <a:p>
                      <a:pPr algn="l"/>
                      <a:r>
                        <a:rPr sz="850" b="0" i="0">
                          <a:solidFill>
                            <a:srgbClr val="1A1A2E"/>
                          </a:solidFill>
                        </a:rPr>
                        <a:t>Netflix</a:t>
                      </a:r>
                    </a:p>
                  </a:txBody>
                  <a:tcPr/>
                </a:tc>
                <a:tc>
                  <a:txBody>
                    <a:bodyPr wrap="square"/>
                    <a:lstStyle/>
                    <a:p>
                      <a:pPr algn="l"/>
                      <a:r>
                        <a:rPr sz="850" b="0" i="0">
                          <a:solidFill>
                            <a:srgbClr val="1A1A2E"/>
                          </a:solidFill>
                        </a:rPr>
                        <a:t>NFLX</a:t>
                      </a:r>
                    </a:p>
                  </a:txBody>
                  <a:tcPr/>
                </a:tc>
                <a:tc>
                  <a:txBody>
                    <a:bodyPr wrap="square"/>
                    <a:lstStyle/>
                    <a:p>
                      <a:pPr algn="r"/>
                      <a:r>
                        <a:rPr sz="850" b="0" i="0">
                          <a:solidFill>
                            <a:srgbClr val="1A1A2E"/>
                          </a:solidFill>
                        </a:rPr>
                        <a:t>$380B</a:t>
                      </a:r>
                    </a:p>
                  </a:txBody>
                  <a:tcPr/>
                </a:tc>
                <a:tc>
                  <a:txBody>
                    <a:bodyPr wrap="square"/>
                    <a:lstStyle/>
                    <a:p>
                      <a:pPr algn="r"/>
                      <a:r>
                        <a:rPr sz="850" b="0" i="0">
                          <a:solidFill>
                            <a:srgbClr val="1A1A2E"/>
                          </a:solidFill>
                        </a:rPr>
                        <a:t>$387B</a:t>
                      </a:r>
                    </a:p>
                  </a:txBody>
                  <a:tcPr/>
                </a:tc>
                <a:tc>
                  <a:txBody>
                    <a:bodyPr wrap="square"/>
                    <a:lstStyle/>
                    <a:p>
                      <a:pPr algn="r"/>
                      <a:r>
                        <a:rPr sz="850" b="0" i="0">
                          <a:solidFill>
                            <a:srgbClr val="1A1A2E"/>
                          </a:solidFill>
                        </a:rPr>
                        <a:t>8.9x</a:t>
                      </a:r>
                    </a:p>
                  </a:txBody>
                  <a:tcPr/>
                </a:tc>
                <a:tc>
                  <a:txBody>
                    <a:bodyPr wrap="square"/>
                    <a:lstStyle/>
                    <a:p>
                      <a:pPr algn="r"/>
                      <a:r>
                        <a:rPr sz="850" b="0" i="0">
                          <a:solidFill>
                            <a:srgbClr val="1A1A2E"/>
                          </a:solidFill>
                        </a:rPr>
                        <a:t>37.2x</a:t>
                      </a:r>
                    </a:p>
                  </a:txBody>
                  <a:tcPr/>
                </a:tc>
                <a:tc>
                  <a:txBody>
                    <a:bodyPr wrap="square"/>
                    <a:lstStyle/>
                    <a:p>
                      <a:pPr algn="r"/>
                      <a:r>
                        <a:rPr sz="850" b="0" i="0">
                          <a:solidFill>
                            <a:srgbClr val="1A1A2E"/>
                          </a:solidFill>
                        </a:rPr>
                        <a:t>43.6x</a:t>
                      </a:r>
                    </a:p>
                  </a:txBody>
                  <a:tcPr/>
                </a:tc>
                <a:tc>
                  <a:txBody>
                    <a:bodyPr wrap="square"/>
                    <a:lstStyle/>
                    <a:p>
                      <a:pPr algn="r"/>
                      <a:r>
                        <a:rPr sz="850" b="0" i="0">
                          <a:solidFill>
                            <a:srgbClr val="1A1A2E"/>
                          </a:solidFill>
                        </a:rPr>
                        <a:t>+12%</a:t>
                      </a:r>
                    </a:p>
                  </a:txBody>
                  <a:tcPr/>
                </a:tc>
                <a:tc>
                  <a:txBody>
                    <a:bodyPr wrap="square"/>
                    <a:lstStyle/>
                    <a:p>
                      <a:pPr algn="l"/>
                      <a:r>
                        <a:rPr sz="850" b="0" i="0">
                          <a:solidFill>
                            <a:srgbClr val="1A1A2E"/>
                          </a:solidFill>
                        </a:rPr>
                        <a:t>Subject — premium multiple justified by growth</a:t>
                      </a:r>
                    </a:p>
                  </a:txBody>
                  <a:tcPr/>
                </a:tc>
              </a:tr>
              <a:tr h="304800">
                <a:tc>
                  <a:txBody>
                    <a:bodyPr wrap="square"/>
                    <a:lstStyle/>
                    <a:p>
                      <a:pPr algn="l"/>
                      <a:r>
                        <a:rPr sz="850" b="1" i="0">
                          <a:solidFill>
                            <a:srgbClr val="1A1A2E"/>
                          </a:solidFill>
                        </a:rPr>
                        <a:t>Disney+/Hulu</a:t>
                      </a:r>
                    </a:p>
                  </a:txBody>
                  <a:tcPr>
                    <a:solidFill>
                      <a:srgbClr val="EAF0FB"/>
                    </a:solidFill>
                  </a:tcPr>
                </a:tc>
                <a:tc>
                  <a:txBody>
                    <a:bodyPr wrap="square"/>
                    <a:lstStyle/>
                    <a:p>
                      <a:pPr algn="l"/>
                      <a:r>
                        <a:rPr sz="850" b="1" i="0">
                          <a:solidFill>
                            <a:srgbClr val="1A1A2E"/>
                          </a:solidFill>
                        </a:rPr>
                        <a:t>DIS</a:t>
                      </a:r>
                    </a:p>
                  </a:txBody>
                  <a:tcPr>
                    <a:solidFill>
                      <a:srgbClr val="EAF0FB"/>
                    </a:solidFill>
                  </a:tcPr>
                </a:tc>
                <a:tc>
                  <a:txBody>
                    <a:bodyPr wrap="square"/>
                    <a:lstStyle/>
                    <a:p>
                      <a:pPr algn="r"/>
                      <a:r>
                        <a:rPr sz="850" b="1" i="0">
                          <a:solidFill>
                            <a:srgbClr val="1A1A2E"/>
                          </a:solidFill>
                        </a:rPr>
                        <a:t>$190B</a:t>
                      </a:r>
                    </a:p>
                  </a:txBody>
                  <a:tcPr>
                    <a:solidFill>
                      <a:srgbClr val="EAF0FB"/>
                    </a:solidFill>
                  </a:tcPr>
                </a:tc>
                <a:tc>
                  <a:txBody>
                    <a:bodyPr wrap="square"/>
                    <a:lstStyle/>
                    <a:p>
                      <a:pPr algn="r"/>
                      <a:r>
                        <a:rPr sz="850" b="1" i="0">
                          <a:solidFill>
                            <a:srgbClr val="1A1A2E"/>
                          </a:solidFill>
                        </a:rPr>
                        <a:t>$230B</a:t>
                      </a:r>
                    </a:p>
                  </a:txBody>
                  <a:tcPr>
                    <a:solidFill>
                      <a:srgbClr val="EAF0FB"/>
                    </a:solidFill>
                  </a:tcPr>
                </a:tc>
                <a:tc>
                  <a:txBody>
                    <a:bodyPr wrap="square"/>
                    <a:lstStyle/>
                    <a:p>
                      <a:pPr algn="r"/>
                      <a:r>
                        <a:rPr sz="850" b="1" i="0">
                          <a:solidFill>
                            <a:srgbClr val="1A1A2E"/>
                          </a:solidFill>
                        </a:rPr>
                        <a:t>2.4x</a:t>
                      </a:r>
                    </a:p>
                  </a:txBody>
                  <a:tcPr>
                    <a:solidFill>
                      <a:srgbClr val="EAF0FB"/>
                    </a:solidFill>
                  </a:tcPr>
                </a:tc>
                <a:tc>
                  <a:txBody>
                    <a:bodyPr wrap="square"/>
                    <a:lstStyle/>
                    <a:p>
                      <a:pPr algn="r"/>
                      <a:r>
                        <a:rPr sz="850" b="1" i="0">
                          <a:solidFill>
                            <a:srgbClr val="1A1A2E"/>
                          </a:solidFill>
                        </a:rPr>
                        <a:t>12.8x</a:t>
                      </a:r>
                    </a:p>
                  </a:txBody>
                  <a:tcPr>
                    <a:solidFill>
                      <a:srgbClr val="EAF0FB"/>
                    </a:solidFill>
                  </a:tcPr>
                </a:tc>
                <a:tc>
                  <a:txBody>
                    <a:bodyPr wrap="square"/>
                    <a:lstStyle/>
                    <a:p>
                      <a:pPr algn="r"/>
                      <a:r>
                        <a:rPr sz="850" b="1" i="0">
                          <a:solidFill>
                            <a:srgbClr val="1A1A2E"/>
                          </a:solidFill>
                        </a:rPr>
                        <a:t>22.4x</a:t>
                      </a:r>
                    </a:p>
                  </a:txBody>
                  <a:tcPr>
                    <a:solidFill>
                      <a:srgbClr val="EAF0FB"/>
                    </a:solidFill>
                  </a:tcPr>
                </a:tc>
                <a:tc>
                  <a:txBody>
                    <a:bodyPr wrap="square"/>
                    <a:lstStyle/>
                    <a:p>
                      <a:pPr algn="r"/>
                      <a:r>
                        <a:rPr sz="850" b="1" i="0">
                          <a:solidFill>
                            <a:srgbClr val="1A1A2E"/>
                          </a:solidFill>
                        </a:rPr>
                        <a:t> +5%</a:t>
                      </a:r>
                    </a:p>
                  </a:txBody>
                  <a:tcPr>
                    <a:solidFill>
                      <a:srgbClr val="EAF0FB"/>
                    </a:solidFill>
                  </a:tcPr>
                </a:tc>
                <a:tc>
                  <a:txBody>
                    <a:bodyPr wrap="square"/>
                    <a:lstStyle/>
                    <a:p>
                      <a:pPr algn="l"/>
                      <a:r>
                        <a:rPr sz="850" b="1" i="0">
                          <a:solidFill>
                            <a:srgbClr val="1A1A2E"/>
                          </a:solidFill>
                        </a:rPr>
                        <a:t>Streaming + parks; content diversification</a:t>
                      </a:r>
                    </a:p>
                  </a:txBody>
                  <a:tcPr>
                    <a:solidFill>
                      <a:srgbClr val="EAF0FB"/>
                    </a:solidFill>
                  </a:tcPr>
                </a:tc>
              </a:tr>
              <a:tr h="304800">
                <a:tc>
                  <a:txBody>
                    <a:bodyPr wrap="square"/>
                    <a:lstStyle/>
                    <a:p>
                      <a:pPr algn="l"/>
                      <a:r>
                        <a:rPr sz="850" b="0" i="0">
                          <a:solidFill>
                            <a:srgbClr val="1A1A2E"/>
                          </a:solidFill>
                        </a:rPr>
                        <a:t>Amazon Prime</a:t>
                      </a:r>
                    </a:p>
                  </a:txBody>
                  <a:tcPr/>
                </a:tc>
                <a:tc>
                  <a:txBody>
                    <a:bodyPr wrap="square"/>
                    <a:lstStyle/>
                    <a:p>
                      <a:pPr algn="l"/>
                      <a:r>
                        <a:rPr sz="850" b="0" i="0">
                          <a:solidFill>
                            <a:srgbClr val="1A1A2E"/>
                          </a:solidFill>
                        </a:rPr>
                        <a:t>AMZN</a:t>
                      </a:r>
                    </a:p>
                  </a:txBody>
                  <a:tcPr/>
                </a:tc>
                <a:tc>
                  <a:txBody>
                    <a:bodyPr wrap="square"/>
                    <a:lstStyle/>
                    <a:p>
                      <a:pPr algn="r"/>
                      <a:r>
                        <a:rPr sz="850" b="0" i="0">
                          <a:solidFill>
                            <a:srgbClr val="1A1A2E"/>
                          </a:solidFill>
                        </a:rPr>
                        <a:t>$2.2T</a:t>
                      </a:r>
                    </a:p>
                  </a:txBody>
                  <a:tcPr/>
                </a:tc>
                <a:tc>
                  <a:txBody>
                    <a:bodyPr wrap="square"/>
                    <a:lstStyle/>
                    <a:p>
                      <a:pPr algn="r"/>
                      <a:r>
                        <a:rPr sz="850" b="0" i="0">
                          <a:solidFill>
                            <a:srgbClr val="1A1A2E"/>
                          </a:solidFill>
                        </a:rPr>
                        <a:t>$2.3T</a:t>
                      </a:r>
                    </a:p>
                  </a:txBody>
                  <a:tcPr/>
                </a:tc>
                <a:tc>
                  <a:txBody>
                    <a:bodyPr wrap="square"/>
                    <a:lstStyle/>
                    <a:p>
                      <a:pPr algn="r"/>
                      <a:r>
                        <a:rPr sz="850" b="0" i="0">
                          <a:solidFill>
                            <a:srgbClr val="1A1A2E"/>
                          </a:solidFill>
                        </a:rPr>
                        <a:t>3.5x</a:t>
                      </a:r>
                    </a:p>
                  </a:txBody>
                  <a:tcPr/>
                </a:tc>
                <a:tc>
                  <a:txBody>
                    <a:bodyPr wrap="square"/>
                    <a:lstStyle/>
                    <a:p>
                      <a:pPr algn="r"/>
                      <a:r>
                        <a:rPr sz="850" b="0" i="0">
                          <a:solidFill>
                            <a:srgbClr val="1A1A2E"/>
                          </a:solidFill>
                        </a:rPr>
                        <a:t>21.5x</a:t>
                      </a:r>
                    </a:p>
                  </a:txBody>
                  <a:tcPr/>
                </a:tc>
                <a:tc>
                  <a:txBody>
                    <a:bodyPr wrap="square"/>
                    <a:lstStyle/>
                    <a:p>
                      <a:pPr algn="r"/>
                      <a:r>
                        <a:rPr sz="850" b="0" i="0">
                          <a:solidFill>
                            <a:srgbClr val="1A1A2E"/>
                          </a:solidFill>
                        </a:rPr>
                        <a:t>44.2x</a:t>
                      </a:r>
                    </a:p>
                  </a:txBody>
                  <a:tcPr/>
                </a:tc>
                <a:tc>
                  <a:txBody>
                    <a:bodyPr wrap="square"/>
                    <a:lstStyle/>
                    <a:p>
                      <a:pPr algn="r"/>
                      <a:r>
                        <a:rPr sz="850" b="0" i="0">
                          <a:solidFill>
                            <a:srgbClr val="1A1A2E"/>
                          </a:solidFill>
                        </a:rPr>
                        <a:t>+11%</a:t>
                      </a:r>
                    </a:p>
                  </a:txBody>
                  <a:tcPr/>
                </a:tc>
                <a:tc>
                  <a:txBody>
                    <a:bodyPr wrap="square"/>
                    <a:lstStyle/>
                    <a:p>
                      <a:pPr algn="l"/>
                      <a:r>
                        <a:rPr sz="850" b="0" i="0">
                          <a:solidFill>
                            <a:srgbClr val="1A1A2E"/>
                          </a:solidFill>
                        </a:rPr>
                        <a:t>Streaming as retention, not primary revenue</a:t>
                      </a:r>
                    </a:p>
                  </a:txBody>
                  <a:tcPr/>
                </a:tc>
              </a:tr>
              <a:tr h="304800">
                <a:tc>
                  <a:txBody>
                    <a:bodyPr wrap="square"/>
                    <a:lstStyle/>
                    <a:p>
                      <a:pPr algn="l"/>
                      <a:r>
                        <a:rPr sz="850" b="0" i="0">
                          <a:solidFill>
                            <a:srgbClr val="1A1A2E"/>
                          </a:solidFill>
                        </a:rPr>
                        <a:t>Apple TV+</a:t>
                      </a:r>
                    </a:p>
                  </a:txBody>
                  <a:tcPr>
                    <a:solidFill>
                      <a:srgbClr val="EAF0FB"/>
                    </a:solidFill>
                  </a:tcPr>
                </a:tc>
                <a:tc>
                  <a:txBody>
                    <a:bodyPr wrap="square"/>
                    <a:lstStyle/>
                    <a:p>
                      <a:pPr algn="l"/>
                      <a:r>
                        <a:rPr sz="850" b="0" i="0">
                          <a:solidFill>
                            <a:srgbClr val="1A1A2E"/>
                          </a:solidFill>
                        </a:rPr>
                        <a:t>AAPL</a:t>
                      </a:r>
                    </a:p>
                  </a:txBody>
                  <a:tcPr>
                    <a:solidFill>
                      <a:srgbClr val="EAF0FB"/>
                    </a:solidFill>
                  </a:tcPr>
                </a:tc>
                <a:tc>
                  <a:txBody>
                    <a:bodyPr wrap="square"/>
                    <a:lstStyle/>
                    <a:p>
                      <a:pPr algn="r"/>
                      <a:r>
                        <a:rPr sz="850" b="0" i="0">
                          <a:solidFill>
                            <a:srgbClr val="1A1A2E"/>
                          </a:solidFill>
                        </a:rPr>
                        <a:t>$3.3T</a:t>
                      </a:r>
                    </a:p>
                  </a:txBody>
                  <a:tcPr>
                    <a:solidFill>
                      <a:srgbClr val="EAF0FB"/>
                    </a:solidFill>
                  </a:tcPr>
                </a:tc>
                <a:tc>
                  <a:txBody>
                    <a:bodyPr wrap="square"/>
                    <a:lstStyle/>
                    <a:p>
                      <a:pPr algn="r"/>
                      <a:r>
                        <a:rPr sz="850" b="0" i="0">
                          <a:solidFill>
                            <a:srgbClr val="1A1A2E"/>
                          </a:solidFill>
                        </a:rPr>
                        <a:t>$3.2T</a:t>
                      </a:r>
                    </a:p>
                  </a:txBody>
                  <a:tcPr>
                    <a:solidFill>
                      <a:srgbClr val="EAF0FB"/>
                    </a:solidFill>
                  </a:tcPr>
                </a:tc>
                <a:tc>
                  <a:txBody>
                    <a:bodyPr wrap="square"/>
                    <a:lstStyle/>
                    <a:p>
                      <a:pPr algn="r"/>
                      <a:r>
                        <a:rPr sz="850" b="0" i="0">
                          <a:solidFill>
                            <a:srgbClr val="1A1A2E"/>
                          </a:solidFill>
                        </a:rPr>
                        <a:t>8.4x</a:t>
                      </a:r>
                    </a:p>
                  </a:txBody>
                  <a:tcPr>
                    <a:solidFill>
                      <a:srgbClr val="EAF0FB"/>
                    </a:solidFill>
                  </a:tcPr>
                </a:tc>
                <a:tc>
                  <a:txBody>
                    <a:bodyPr wrap="square"/>
                    <a:lstStyle/>
                    <a:p>
                      <a:pPr algn="r"/>
                      <a:r>
                        <a:rPr sz="850" b="0" i="0">
                          <a:solidFill>
                            <a:srgbClr val="1A1A2E"/>
                          </a:solidFill>
                        </a:rPr>
                        <a:t>26.5x</a:t>
                      </a:r>
                    </a:p>
                  </a:txBody>
                  <a:tcPr>
                    <a:solidFill>
                      <a:srgbClr val="EAF0FB"/>
                    </a:solidFill>
                  </a:tcPr>
                </a:tc>
                <a:tc>
                  <a:txBody>
                    <a:bodyPr wrap="square"/>
                    <a:lstStyle/>
                    <a:p>
                      <a:pPr algn="r"/>
                      <a:r>
                        <a:rPr sz="850" b="0" i="0">
                          <a:solidFill>
                            <a:srgbClr val="1A1A2E"/>
                          </a:solidFill>
                        </a:rPr>
                        <a:t>32.1x</a:t>
                      </a:r>
                    </a:p>
                  </a:txBody>
                  <a:tcPr>
                    <a:solidFill>
                      <a:srgbClr val="EAF0FB"/>
                    </a:solidFill>
                  </a:tcPr>
                </a:tc>
                <a:tc>
                  <a:txBody>
                    <a:bodyPr wrap="square"/>
                    <a:lstStyle/>
                    <a:p>
                      <a:pPr algn="r"/>
                      <a:r>
                        <a:rPr sz="850" b="0" i="0">
                          <a:solidFill>
                            <a:srgbClr val="1A1A2E"/>
                          </a:solidFill>
                        </a:rPr>
                        <a:t> +6%</a:t>
                      </a:r>
                    </a:p>
                  </a:txBody>
                  <a:tcPr>
                    <a:solidFill>
                      <a:srgbClr val="EAF0FB"/>
                    </a:solidFill>
                  </a:tcPr>
                </a:tc>
                <a:tc>
                  <a:txBody>
                    <a:bodyPr wrap="square"/>
                    <a:lstStyle/>
                    <a:p>
                      <a:pPr algn="l"/>
                      <a:r>
                        <a:rPr sz="850" b="0" i="0">
                          <a:solidFill>
                            <a:srgbClr val="1A1A2E"/>
                          </a:solidFill>
                        </a:rPr>
                        <a:t>Content as ecosystem driver; small subs base</a:t>
                      </a:r>
                    </a:p>
                  </a:txBody>
                  <a:tcPr>
                    <a:solidFill>
                      <a:srgbClr val="EAF0FB"/>
                    </a:solidFill>
                  </a:tcPr>
                </a:tc>
              </a:tr>
              <a:tr h="304800">
                <a:tc>
                  <a:txBody>
                    <a:bodyPr wrap="square"/>
                    <a:lstStyle/>
                    <a:p>
                      <a:pPr algn="l"/>
                      <a:r>
                        <a:rPr sz="900" b="1" i="0">
                          <a:solidFill>
                            <a:srgbClr val="FFFFFF"/>
                          </a:solidFill>
                        </a:rPr>
                        <a:t>— TRADITIONAL MEDIA —</a:t>
                      </a:r>
                    </a:p>
                  </a:txBody>
                  <a:tcPr>
                    <a:solidFill>
                      <a:srgbClr val="18408C"/>
                    </a:solidFill>
                  </a:tcPr>
                </a:tc>
                <a:tc>
                  <a:txBody>
                    <a:bodyPr wrap="square"/>
                    <a:lstStyle/>
                    <a:p>
                      <a:pPr algn="l"/>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l"/>
                      <a:r>
                        <a:rPr sz="900" b="1" i="0">
                          <a:solidFill>
                            <a:srgbClr val="FFFFFF"/>
                          </a:solidFill>
                        </a:rPr>
                        <a:t/>
                      </a:r>
                    </a:p>
                  </a:txBody>
                  <a:tcPr>
                    <a:solidFill>
                      <a:srgbClr val="18408C"/>
                    </a:solidFill>
                  </a:tcPr>
                </a:tc>
              </a:tr>
              <a:tr h="304800">
                <a:tc>
                  <a:txBody>
                    <a:bodyPr wrap="square"/>
                    <a:lstStyle/>
                    <a:p>
                      <a:pPr algn="l"/>
                      <a:r>
                        <a:rPr sz="850" b="0" i="0">
                          <a:solidFill>
                            <a:srgbClr val="1A1A2E"/>
                          </a:solidFill>
                        </a:rPr>
                        <a:t>Comcast/NBCU</a:t>
                      </a:r>
                    </a:p>
                  </a:txBody>
                  <a:tcPr>
                    <a:solidFill>
                      <a:srgbClr val="EAF0FB"/>
                    </a:solidFill>
                  </a:tcPr>
                </a:tc>
                <a:tc>
                  <a:txBody>
                    <a:bodyPr wrap="square"/>
                    <a:lstStyle/>
                    <a:p>
                      <a:pPr algn="l"/>
                      <a:r>
                        <a:rPr sz="850" b="0" i="0">
                          <a:solidFill>
                            <a:srgbClr val="1A1A2E"/>
                          </a:solidFill>
                        </a:rPr>
                        <a:t>CMCSA</a:t>
                      </a:r>
                    </a:p>
                  </a:txBody>
                  <a:tcPr>
                    <a:solidFill>
                      <a:srgbClr val="EAF0FB"/>
                    </a:solidFill>
                  </a:tcPr>
                </a:tc>
                <a:tc>
                  <a:txBody>
                    <a:bodyPr wrap="square"/>
                    <a:lstStyle/>
                    <a:p>
                      <a:pPr algn="r"/>
                      <a:r>
                        <a:rPr sz="850" b="0" i="0">
                          <a:solidFill>
                            <a:srgbClr val="1A1A2E"/>
                          </a:solidFill>
                        </a:rPr>
                        <a:t>$155B</a:t>
                      </a:r>
                    </a:p>
                  </a:txBody>
                  <a:tcPr>
                    <a:solidFill>
                      <a:srgbClr val="EAF0FB"/>
                    </a:solidFill>
                  </a:tcPr>
                </a:tc>
                <a:tc>
                  <a:txBody>
                    <a:bodyPr wrap="square"/>
                    <a:lstStyle/>
                    <a:p>
                      <a:pPr algn="r"/>
                      <a:r>
                        <a:rPr sz="850" b="0" i="0">
                          <a:solidFill>
                            <a:srgbClr val="1A1A2E"/>
                          </a:solidFill>
                        </a:rPr>
                        <a:t>$220B</a:t>
                      </a:r>
                    </a:p>
                  </a:txBody>
                  <a:tcPr>
                    <a:solidFill>
                      <a:srgbClr val="EAF0FB"/>
                    </a:solidFill>
                  </a:tcPr>
                </a:tc>
                <a:tc>
                  <a:txBody>
                    <a:bodyPr wrap="square"/>
                    <a:lstStyle/>
                    <a:p>
                      <a:pPr algn="r"/>
                      <a:r>
                        <a:rPr sz="850" b="0" i="0">
                          <a:solidFill>
                            <a:srgbClr val="1A1A2E"/>
                          </a:solidFill>
                        </a:rPr>
                        <a:t>2.0x</a:t>
                      </a:r>
                    </a:p>
                  </a:txBody>
                  <a:tcPr>
                    <a:solidFill>
                      <a:srgbClr val="EAF0FB"/>
                    </a:solidFill>
                  </a:tcPr>
                </a:tc>
                <a:tc>
                  <a:txBody>
                    <a:bodyPr wrap="square"/>
                    <a:lstStyle/>
                    <a:p>
                      <a:pPr algn="r"/>
                      <a:r>
                        <a:rPr sz="850" b="0" i="0">
                          <a:solidFill>
                            <a:srgbClr val="1A1A2E"/>
                          </a:solidFill>
                        </a:rPr>
                        <a:t>7.9x</a:t>
                      </a:r>
                    </a:p>
                  </a:txBody>
                  <a:tcPr>
                    <a:solidFill>
                      <a:srgbClr val="EAF0FB"/>
                    </a:solidFill>
                  </a:tcPr>
                </a:tc>
                <a:tc>
                  <a:txBody>
                    <a:bodyPr wrap="square"/>
                    <a:lstStyle/>
                    <a:p>
                      <a:pPr algn="r"/>
                      <a:r>
                        <a:rPr sz="850" b="0" i="0">
                          <a:solidFill>
                            <a:srgbClr val="1A1A2E"/>
                          </a:solidFill>
                        </a:rPr>
                        <a:t>12.5x</a:t>
                      </a:r>
                    </a:p>
                  </a:txBody>
                  <a:tcPr>
                    <a:solidFill>
                      <a:srgbClr val="EAF0FB"/>
                    </a:solidFill>
                  </a:tcPr>
                </a:tc>
                <a:tc>
                  <a:txBody>
                    <a:bodyPr wrap="square"/>
                    <a:lstStyle/>
                    <a:p>
                      <a:pPr algn="r"/>
                      <a:r>
                        <a:rPr sz="850" b="0" i="0">
                          <a:solidFill>
                            <a:srgbClr val="1A1A2E"/>
                          </a:solidFill>
                        </a:rPr>
                        <a:t> +3%</a:t>
                      </a:r>
                    </a:p>
                  </a:txBody>
                  <a:tcPr>
                    <a:solidFill>
                      <a:srgbClr val="EAF0FB"/>
                    </a:solidFill>
                  </a:tcPr>
                </a:tc>
                <a:tc>
                  <a:txBody>
                    <a:bodyPr wrap="square"/>
                    <a:lstStyle/>
                    <a:p>
                      <a:pPr algn="l"/>
                      <a:r>
                        <a:rPr sz="850" b="0" i="0">
                          <a:solidFill>
                            <a:srgbClr val="1A1A2E"/>
                          </a:solidFill>
                        </a:rPr>
                        <a:t>Cable + Peacock; NBU spin-off announced</a:t>
                      </a:r>
                    </a:p>
                  </a:txBody>
                  <a:tcPr>
                    <a:solidFill>
                      <a:srgbClr val="EAF0FB"/>
                    </a:solidFill>
                  </a:tcPr>
                </a:tc>
              </a:tr>
              <a:tr h="304800">
                <a:tc>
                  <a:txBody>
                    <a:bodyPr wrap="square"/>
                    <a:lstStyle/>
                    <a:p>
                      <a:pPr algn="l"/>
                      <a:r>
                        <a:rPr sz="850" b="0" i="0">
                          <a:solidFill>
                            <a:srgbClr val="1A1A2E"/>
                          </a:solidFill>
                        </a:rPr>
                        <a:t>Paramount+</a:t>
                      </a:r>
                    </a:p>
                  </a:txBody>
                  <a:tcPr/>
                </a:tc>
                <a:tc>
                  <a:txBody>
                    <a:bodyPr wrap="square"/>
                    <a:lstStyle/>
                    <a:p>
                      <a:pPr algn="l"/>
                      <a:r>
                        <a:rPr sz="850" b="0" i="0">
                          <a:solidFill>
                            <a:srgbClr val="1A1A2E"/>
                          </a:solidFill>
                        </a:rPr>
                        <a:t>PARA</a:t>
                      </a:r>
                    </a:p>
                  </a:txBody>
                  <a:tcPr/>
                </a:tc>
                <a:tc>
                  <a:txBody>
                    <a:bodyPr wrap="square"/>
                    <a:lstStyle/>
                    <a:p>
                      <a:pPr algn="r"/>
                      <a:r>
                        <a:rPr sz="850" b="0" i="0">
                          <a:solidFill>
                            <a:srgbClr val="1A1A2E"/>
                          </a:solidFill>
                        </a:rPr>
                        <a:t>$8.5B</a:t>
                      </a:r>
                    </a:p>
                  </a:txBody>
                  <a:tcPr/>
                </a:tc>
                <a:tc>
                  <a:txBody>
                    <a:bodyPr wrap="square"/>
                    <a:lstStyle/>
                    <a:p>
                      <a:pPr algn="r"/>
                      <a:r>
                        <a:rPr sz="850" b="0" i="0">
                          <a:solidFill>
                            <a:srgbClr val="1A1A2E"/>
                          </a:solidFill>
                        </a:rPr>
                        <a:t>$22B</a:t>
                      </a:r>
                    </a:p>
                  </a:txBody>
                  <a:tcPr/>
                </a:tc>
                <a:tc>
                  <a:txBody>
                    <a:bodyPr wrap="square"/>
                    <a:lstStyle/>
                    <a:p>
                      <a:pPr algn="r"/>
                      <a:r>
                        <a:rPr sz="850" b="0" i="0">
                          <a:solidFill>
                            <a:srgbClr val="1A1A2E"/>
                          </a:solidFill>
                        </a:rPr>
                        <a:t>0.8x</a:t>
                      </a:r>
                    </a:p>
                  </a:txBody>
                  <a:tcPr/>
                </a:tc>
                <a:tc>
                  <a:txBody>
                    <a:bodyPr wrap="square"/>
                    <a:lstStyle/>
                    <a:p>
                      <a:pPr algn="r"/>
                      <a:r>
                        <a:rPr sz="850" b="0" i="0">
                          <a:solidFill>
                            <a:srgbClr val="1A1A2E"/>
                          </a:solidFill>
                        </a:rPr>
                        <a:t>5.4x</a:t>
                      </a:r>
                    </a:p>
                  </a:txBody>
                  <a:tcPr/>
                </a:tc>
                <a:tc>
                  <a:txBody>
                    <a:bodyPr wrap="square"/>
                    <a:lstStyle/>
                    <a:p>
                      <a:pPr algn="r"/>
                      <a:r>
                        <a:rPr sz="850" b="0" i="0">
                          <a:solidFill>
                            <a:srgbClr val="1A1A2E"/>
                          </a:solidFill>
                        </a:rPr>
                        <a:t>10.2x</a:t>
                      </a:r>
                    </a:p>
                  </a:txBody>
                  <a:tcPr/>
                </a:tc>
                <a:tc>
                  <a:txBody>
                    <a:bodyPr wrap="square"/>
                    <a:lstStyle/>
                    <a:p>
                      <a:pPr algn="r"/>
                      <a:r>
                        <a:rPr sz="850" b="0" i="0">
                          <a:solidFill>
                            <a:srgbClr val="1A1A2E"/>
                          </a:solidFill>
                        </a:rPr>
                        <a:t> +2%</a:t>
                      </a:r>
                    </a:p>
                  </a:txBody>
                  <a:tcPr/>
                </a:tc>
                <a:tc>
                  <a:txBody>
                    <a:bodyPr wrap="square"/>
                    <a:lstStyle/>
                    <a:p>
                      <a:pPr algn="l"/>
                      <a:r>
                        <a:rPr sz="850" b="0" i="0">
                          <a:solidFill>
                            <a:srgbClr val="1A1A2E"/>
                          </a:solidFill>
                        </a:rPr>
                        <a:t>Skydance merger completed July 2024</a:t>
                      </a:r>
                    </a:p>
                  </a:txBody>
                  <a:tcPr/>
                </a:tc>
              </a:tr>
              <a:tr h="304800">
                <a:tc>
                  <a:txBody>
                    <a:bodyPr wrap="square"/>
                    <a:lstStyle/>
                    <a:p>
                      <a:pPr algn="l"/>
                      <a:r>
                        <a:rPr sz="850" b="0" i="0">
                          <a:solidFill>
                            <a:srgbClr val="1A1A2E"/>
                          </a:solidFill>
                        </a:rPr>
                        <a:t>AMC Networks</a:t>
                      </a:r>
                    </a:p>
                  </a:txBody>
                  <a:tcPr>
                    <a:solidFill>
                      <a:srgbClr val="EAF0FB"/>
                    </a:solidFill>
                  </a:tcPr>
                </a:tc>
                <a:tc>
                  <a:txBody>
                    <a:bodyPr wrap="square"/>
                    <a:lstStyle/>
                    <a:p>
                      <a:pPr algn="l"/>
                      <a:r>
                        <a:rPr sz="850" b="0" i="0">
                          <a:solidFill>
                            <a:srgbClr val="1A1A2E"/>
                          </a:solidFill>
                        </a:rPr>
                        <a:t>AMCX</a:t>
                      </a:r>
                    </a:p>
                  </a:txBody>
                  <a:tcPr>
                    <a:solidFill>
                      <a:srgbClr val="EAF0FB"/>
                    </a:solidFill>
                  </a:tcPr>
                </a:tc>
                <a:tc>
                  <a:txBody>
                    <a:bodyPr wrap="square"/>
                    <a:lstStyle/>
                    <a:p>
                      <a:pPr algn="r"/>
                      <a:r>
                        <a:rPr sz="850" b="0" i="0">
                          <a:solidFill>
                            <a:srgbClr val="1A1A2E"/>
                          </a:solidFill>
                        </a:rPr>
                        <a:t> $1.0B</a:t>
                      </a:r>
                    </a:p>
                  </a:txBody>
                  <a:tcPr>
                    <a:solidFill>
                      <a:srgbClr val="EAF0FB"/>
                    </a:solidFill>
                  </a:tcPr>
                </a:tc>
                <a:tc>
                  <a:txBody>
                    <a:bodyPr wrap="square"/>
                    <a:lstStyle/>
                    <a:p>
                      <a:pPr algn="r"/>
                      <a:r>
                        <a:rPr sz="850" b="0" i="0">
                          <a:solidFill>
                            <a:srgbClr val="1A1A2E"/>
                          </a:solidFill>
                        </a:rPr>
                        <a:t>$3.5B</a:t>
                      </a:r>
                    </a:p>
                  </a:txBody>
                  <a:tcPr>
                    <a:solidFill>
                      <a:srgbClr val="EAF0FB"/>
                    </a:solidFill>
                  </a:tcPr>
                </a:tc>
                <a:tc>
                  <a:txBody>
                    <a:bodyPr wrap="square"/>
                    <a:lstStyle/>
                    <a:p>
                      <a:pPr algn="r"/>
                      <a:r>
                        <a:rPr sz="850" b="0" i="0">
                          <a:solidFill>
                            <a:srgbClr val="1A1A2E"/>
                          </a:solidFill>
                        </a:rPr>
                        <a:t>1.1x</a:t>
                      </a:r>
                    </a:p>
                  </a:txBody>
                  <a:tcPr>
                    <a:solidFill>
                      <a:srgbClr val="EAF0FB"/>
                    </a:solidFill>
                  </a:tcPr>
                </a:tc>
                <a:tc>
                  <a:txBody>
                    <a:bodyPr wrap="square"/>
                    <a:lstStyle/>
                    <a:p>
                      <a:pPr algn="r"/>
                      <a:r>
                        <a:rPr sz="850" b="0" i="0">
                          <a:solidFill>
                            <a:srgbClr val="1A1A2E"/>
                          </a:solidFill>
                        </a:rPr>
                        <a:t>5.1x</a:t>
                      </a:r>
                    </a:p>
                  </a:txBody>
                  <a:tcPr>
                    <a:solidFill>
                      <a:srgbClr val="EAF0FB"/>
                    </a:solidFill>
                  </a:tcPr>
                </a:tc>
                <a:tc>
                  <a:txBody>
                    <a:bodyPr wrap="square"/>
                    <a:lstStyle/>
                    <a:p>
                      <a:pPr algn="r"/>
                      <a:r>
                        <a:rPr sz="850" b="0" i="0">
                          <a:solidFill>
                            <a:srgbClr val="1A1A2E"/>
                          </a:solidFill>
                        </a:rPr>
                        <a:t>7.4x</a:t>
                      </a:r>
                    </a:p>
                  </a:txBody>
                  <a:tcPr>
                    <a:solidFill>
                      <a:srgbClr val="EAF0FB"/>
                    </a:solidFill>
                  </a:tcPr>
                </a:tc>
                <a:tc>
                  <a:txBody>
                    <a:bodyPr wrap="square"/>
                    <a:lstStyle/>
                    <a:p>
                      <a:pPr algn="r"/>
                      <a:r>
                        <a:rPr sz="850" b="0" i="0">
                          <a:solidFill>
                            <a:srgbClr val="1A1A2E"/>
                          </a:solidFill>
                        </a:rPr>
                        <a:t> -5%</a:t>
                      </a:r>
                    </a:p>
                  </a:txBody>
                  <a:tcPr>
                    <a:solidFill>
                      <a:srgbClr val="EAF0FB"/>
                    </a:solidFill>
                  </a:tcPr>
                </a:tc>
                <a:tc>
                  <a:txBody>
                    <a:bodyPr wrap="square"/>
                    <a:lstStyle/>
                    <a:p>
                      <a:pPr algn="l"/>
                      <a:r>
                        <a:rPr sz="850" b="0" i="0">
                          <a:solidFill>
                            <a:srgbClr val="1A1A2E"/>
                          </a:solidFill>
                        </a:rPr>
                        <a:t>Small-cap; highly distressed</a:t>
                      </a:r>
                    </a:p>
                  </a:txBody>
                  <a:tcPr>
                    <a:solidFill>
                      <a:srgbClr val="EAF0FB"/>
                    </a:solidFill>
                  </a:tcPr>
                </a:tc>
              </a:tr>
              <a:tr h="304800">
                <a:tc>
                  <a:txBody>
                    <a:bodyPr wrap="square"/>
                    <a:lstStyle/>
                    <a:p>
                      <a:pPr algn="l"/>
                      <a:r>
                        <a:rPr sz="900" b="1" i="0">
                          <a:solidFill>
                            <a:srgbClr val="FFFFFF"/>
                          </a:solidFill>
                        </a:rPr>
                        <a:t>— ACQUISITION —</a:t>
                      </a:r>
                    </a:p>
                  </a:txBody>
                  <a:tcPr>
                    <a:solidFill>
                      <a:srgbClr val="18408C"/>
                    </a:solidFill>
                  </a:tcPr>
                </a:tc>
                <a:tc>
                  <a:txBody>
                    <a:bodyPr wrap="square"/>
                    <a:lstStyle/>
                    <a:p>
                      <a:pPr algn="l"/>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r"/>
                      <a:r>
                        <a:rPr sz="900" b="1" i="0">
                          <a:solidFill>
                            <a:srgbClr val="FFFFFF"/>
                          </a:solidFill>
                        </a:rPr>
                        <a:t/>
                      </a:r>
                    </a:p>
                  </a:txBody>
                  <a:tcPr>
                    <a:solidFill>
                      <a:srgbClr val="18408C"/>
                    </a:solidFill>
                  </a:tcPr>
                </a:tc>
                <a:tc>
                  <a:txBody>
                    <a:bodyPr wrap="square"/>
                    <a:lstStyle/>
                    <a:p>
                      <a:pPr algn="l"/>
                      <a:r>
                        <a:rPr sz="900" b="1" i="0">
                          <a:solidFill>
                            <a:srgbClr val="FFFFFF"/>
                          </a:solidFill>
                        </a:rPr>
                        <a:t/>
                      </a:r>
                    </a:p>
                  </a:txBody>
                  <a:tcPr>
                    <a:solidFill>
                      <a:srgbClr val="18408C"/>
                    </a:solidFill>
                  </a:tcPr>
                </a:tc>
              </a:tr>
              <a:tr h="304800">
                <a:tc>
                  <a:txBody>
                    <a:bodyPr wrap="square"/>
                    <a:lstStyle/>
                    <a:p>
                      <a:pPr algn="l"/>
                      <a:r>
                        <a:rPr sz="850" b="0" i="0">
                          <a:solidFill>
                            <a:srgbClr val="1A1A2E"/>
                          </a:solidFill>
                        </a:rPr>
                        <a:t>WBD — Current</a:t>
                      </a:r>
                    </a:p>
                  </a:txBody>
                  <a:tcPr>
                    <a:solidFill>
                      <a:srgbClr val="EAF0FB"/>
                    </a:solidFill>
                  </a:tcPr>
                </a:tc>
                <a:tc>
                  <a:txBody>
                    <a:bodyPr wrap="square"/>
                    <a:lstStyle/>
                    <a:p>
                      <a:pPr algn="l"/>
                      <a:r>
                        <a:rPr sz="850" b="0" i="0">
                          <a:solidFill>
                            <a:srgbClr val="1A1A2E"/>
                          </a:solidFill>
                        </a:rPr>
                        <a:t>WBD</a:t>
                      </a:r>
                    </a:p>
                  </a:txBody>
                  <a:tcPr>
                    <a:solidFill>
                      <a:srgbClr val="EAF0FB"/>
                    </a:solidFill>
                  </a:tcPr>
                </a:tc>
                <a:tc>
                  <a:txBody>
                    <a:bodyPr wrap="square"/>
                    <a:lstStyle/>
                    <a:p>
                      <a:pPr algn="r"/>
                      <a:r>
                        <a:rPr sz="850" b="0" i="0">
                          <a:solidFill>
                            <a:srgbClr val="1A1A2E"/>
                          </a:solidFill>
                        </a:rPr>
                        <a:t> $8.5B</a:t>
                      </a:r>
                    </a:p>
                  </a:txBody>
                  <a:tcPr>
                    <a:solidFill>
                      <a:srgbClr val="EAF0FB"/>
                    </a:solidFill>
                  </a:tcPr>
                </a:tc>
                <a:tc>
                  <a:txBody>
                    <a:bodyPr wrap="square"/>
                    <a:lstStyle/>
                    <a:p>
                      <a:pPr algn="r"/>
                      <a:r>
                        <a:rPr sz="850" b="0" i="0">
                          <a:solidFill>
                            <a:srgbClr val="1A1A2E"/>
                          </a:solidFill>
                        </a:rPr>
                        <a:t>$44.5B</a:t>
                      </a:r>
                    </a:p>
                  </a:txBody>
                  <a:tcPr>
                    <a:solidFill>
                      <a:srgbClr val="EAF0FB"/>
                    </a:solidFill>
                  </a:tcPr>
                </a:tc>
                <a:tc>
                  <a:txBody>
                    <a:bodyPr wrap="square"/>
                    <a:lstStyle/>
                    <a:p>
                      <a:pPr algn="r"/>
                      <a:r>
                        <a:rPr sz="850" b="0" i="0">
                          <a:solidFill>
                            <a:srgbClr val="1A1A2E"/>
                          </a:solidFill>
                        </a:rPr>
                        <a:t>1.1x</a:t>
                      </a:r>
                    </a:p>
                  </a:txBody>
                  <a:tcPr>
                    <a:solidFill>
                      <a:srgbClr val="EAF0FB"/>
                    </a:solidFill>
                  </a:tcPr>
                </a:tc>
                <a:tc>
                  <a:txBody>
                    <a:bodyPr wrap="square"/>
                    <a:lstStyle/>
                    <a:p>
                      <a:pPr algn="r"/>
                      <a:r>
                        <a:rPr sz="850" b="0" i="0">
                          <a:solidFill>
                            <a:srgbClr val="1A1A2E"/>
                          </a:solidFill>
                        </a:rPr>
                        <a:t>4.6x</a:t>
                      </a:r>
                    </a:p>
                  </a:txBody>
                  <a:tcPr>
                    <a:solidFill>
                      <a:srgbClr val="EAF0FB"/>
                    </a:solidFill>
                  </a:tcPr>
                </a:tc>
                <a:tc>
                  <a:txBody>
                    <a:bodyPr wrap="square"/>
                    <a:lstStyle/>
                    <a:p>
                      <a:pPr algn="r"/>
                      <a:r>
                        <a:rPr sz="850" b="0" i="0">
                          <a:solidFill>
                            <a:srgbClr val="1A1A2E"/>
                          </a:solidFill>
                        </a:rPr>
                        <a:t>NM</a:t>
                      </a:r>
                    </a:p>
                  </a:txBody>
                  <a:tcPr>
                    <a:solidFill>
                      <a:srgbClr val="EAF0FB"/>
                    </a:solidFill>
                  </a:tcPr>
                </a:tc>
                <a:tc>
                  <a:txBody>
                    <a:bodyPr wrap="square"/>
                    <a:lstStyle/>
                    <a:p>
                      <a:pPr algn="r"/>
                      <a:r>
                        <a:rPr sz="850" b="0" i="0">
                          <a:solidFill>
                            <a:srgbClr val="1A1A2E"/>
                          </a:solidFill>
                        </a:rPr>
                        <a:t> -1%</a:t>
                      </a:r>
                    </a:p>
                  </a:txBody>
                  <a:tcPr>
                    <a:solidFill>
                      <a:srgbClr val="EAF0FB"/>
                    </a:solidFill>
                  </a:tcPr>
                </a:tc>
                <a:tc>
                  <a:txBody>
                    <a:bodyPr wrap="square"/>
                    <a:lstStyle/>
                    <a:p>
                      <a:pPr algn="l"/>
                      <a:r>
                        <a:rPr sz="850" b="0" i="0">
                          <a:solidFill>
                            <a:srgbClr val="1A1A2E"/>
                          </a:solidFill>
                        </a:rPr>
                        <a:t>Distressed; ~50% discount to cable comps</a:t>
                      </a:r>
                    </a:p>
                  </a:txBody>
                  <a:tcPr>
                    <a:solidFill>
                      <a:srgbClr val="EAF0FB"/>
                    </a:solidFill>
                  </a:tcPr>
                </a:tc>
              </a:tr>
              <a:tr h="304800">
                <a:tc>
                  <a:txBody>
                    <a:bodyPr wrap="square"/>
                    <a:lstStyle/>
                    <a:p>
                      <a:pPr algn="l"/>
                      <a:r>
                        <a:rPr sz="900" b="1" i="0">
                          <a:solidFill>
                            <a:srgbClr val="FFFFFF"/>
                          </a:solidFill>
                        </a:rPr>
                        <a:t>WBD — Offer Price</a:t>
                      </a:r>
                    </a:p>
                  </a:txBody>
                  <a:tcPr>
                    <a:solidFill>
                      <a:srgbClr val="18408C"/>
                    </a:solidFill>
                  </a:tcPr>
                </a:tc>
                <a:tc>
                  <a:txBody>
                    <a:bodyPr wrap="square"/>
                    <a:lstStyle/>
                    <a:p>
                      <a:pPr algn="l"/>
                      <a:r>
                        <a:rPr sz="900" b="1" i="0">
                          <a:solidFill>
                            <a:srgbClr val="FFFFFF"/>
                          </a:solidFill>
                        </a:rPr>
                        <a:t/>
                      </a:r>
                    </a:p>
                  </a:txBody>
                  <a:tcPr>
                    <a:solidFill>
                      <a:srgbClr val="18408C"/>
                    </a:solidFill>
                  </a:tcPr>
                </a:tc>
                <a:tc>
                  <a:txBody>
                    <a:bodyPr wrap="square"/>
                    <a:lstStyle/>
                    <a:p>
                      <a:pPr algn="r"/>
                      <a:r>
                        <a:rPr sz="900" b="1" i="0">
                          <a:solidFill>
                            <a:srgbClr val="FFFFFF"/>
                          </a:solidFill>
                        </a:rPr>
                        <a:t>$23.8B</a:t>
                      </a:r>
                    </a:p>
                  </a:txBody>
                  <a:tcPr>
                    <a:solidFill>
                      <a:srgbClr val="18408C"/>
                    </a:solidFill>
                  </a:tcPr>
                </a:tc>
                <a:tc>
                  <a:txBody>
                    <a:bodyPr wrap="square"/>
                    <a:lstStyle/>
                    <a:p>
                      <a:pPr algn="r"/>
                      <a:r>
                        <a:rPr sz="900" b="1" i="0">
                          <a:solidFill>
                            <a:srgbClr val="FFFFFF"/>
                          </a:solidFill>
                        </a:rPr>
                        <a:t>$59.8B</a:t>
                      </a:r>
                    </a:p>
                  </a:txBody>
                  <a:tcPr>
                    <a:solidFill>
                      <a:srgbClr val="18408C"/>
                    </a:solidFill>
                  </a:tcPr>
                </a:tc>
                <a:tc>
                  <a:txBody>
                    <a:bodyPr wrap="square"/>
                    <a:lstStyle/>
                    <a:p>
                      <a:pPr algn="r"/>
                      <a:r>
                        <a:rPr sz="900" b="1" i="0">
                          <a:solidFill>
                            <a:srgbClr val="FFFFFF"/>
                          </a:solidFill>
                        </a:rPr>
                        <a:t>1.5x</a:t>
                      </a:r>
                    </a:p>
                  </a:txBody>
                  <a:tcPr>
                    <a:solidFill>
                      <a:srgbClr val="18408C"/>
                    </a:solidFill>
                  </a:tcPr>
                </a:tc>
                <a:tc>
                  <a:txBody>
                    <a:bodyPr wrap="square"/>
                    <a:lstStyle/>
                    <a:p>
                      <a:pPr algn="r"/>
                      <a:r>
                        <a:rPr sz="900" b="1" i="0">
                          <a:solidFill>
                            <a:srgbClr val="FFFFFF"/>
                          </a:solidFill>
                        </a:rPr>
                        <a:t>6.2x</a:t>
                      </a:r>
                    </a:p>
                  </a:txBody>
                  <a:tcPr>
                    <a:solidFill>
                      <a:srgbClr val="18408C"/>
                    </a:solidFill>
                  </a:tcPr>
                </a:tc>
                <a:tc>
                  <a:txBody>
                    <a:bodyPr wrap="square"/>
                    <a:lstStyle/>
                    <a:p>
                      <a:pPr algn="r"/>
                      <a:r>
                        <a:rPr sz="900" b="1" i="0">
                          <a:solidFill>
                            <a:srgbClr val="FFFFFF"/>
                          </a:solidFill>
                        </a:rPr>
                        <a:t>NM</a:t>
                      </a:r>
                    </a:p>
                  </a:txBody>
                  <a:tcPr>
                    <a:solidFill>
                      <a:srgbClr val="18408C"/>
                    </a:solidFill>
                  </a:tcPr>
                </a:tc>
                <a:tc>
                  <a:txBody>
                    <a:bodyPr wrap="square"/>
                    <a:lstStyle/>
                    <a:p>
                      <a:pPr algn="r"/>
                      <a:r>
                        <a:rPr sz="900" b="1" i="0">
                          <a:solidFill>
                            <a:srgbClr val="FFFFFF"/>
                          </a:solidFill>
                        </a:rPr>
                        <a:t> -1%</a:t>
                      </a:r>
                    </a:p>
                  </a:txBody>
                  <a:tcPr>
                    <a:solidFill>
                      <a:srgbClr val="18408C"/>
                    </a:solidFill>
                  </a:tcPr>
                </a:tc>
                <a:tc>
                  <a:txBody>
                    <a:bodyPr wrap="square"/>
                    <a:lstStyle/>
                    <a:p>
                      <a:pPr algn="l"/>
                      <a:r>
                        <a:rPr sz="900" b="1" i="0">
                          <a:solidFill>
                            <a:srgbClr val="FFFFFF"/>
                          </a:solidFill>
                        </a:rPr>
                        <a:t>Transaction value — attractive vs. comps</a:t>
                      </a:r>
                    </a:p>
                  </a:txBody>
                  <a:tcPr>
                    <a:solidFill>
                      <a:srgbClr val="18408C"/>
                    </a:solidFill>
                  </a:tcPr>
                </a:tc>
              </a:tr>
              <a:tr h="304800">
                <a:tc>
                  <a:txBody>
                    <a:bodyPr wrap="square"/>
                    <a:lstStyle/>
                    <a:p>
                      <a:pPr algn="l"/>
                      <a:r>
                        <a:rPr sz="850" b="1" i="0">
                          <a:solidFill>
                            <a:srgbClr val="1A1A2E"/>
                          </a:solidFill>
                        </a:rPr>
                        <a:t>Streaming Peer Mean</a:t>
                      </a:r>
                    </a:p>
                  </a:txBody>
                  <a:tcPr>
                    <a:solidFill>
                      <a:srgbClr val="EAF0FB"/>
                    </a:solidFill>
                  </a:tcPr>
                </a:tc>
                <a:tc>
                  <a:txBody>
                    <a:bodyPr wrap="square"/>
                    <a:lstStyle/>
                    <a:p>
                      <a:pPr algn="l"/>
                      <a:r>
                        <a:rPr sz="850" b="1" i="0">
                          <a:solidFill>
                            <a:srgbClr val="1A1A2E"/>
                          </a:solidFill>
                        </a:rPr>
                        <a:t/>
                      </a:r>
                    </a:p>
                  </a:txBody>
                  <a:tcPr>
                    <a:solidFill>
                      <a:srgbClr val="EAF0FB"/>
                    </a:solidFill>
                  </a:tcPr>
                </a:tc>
                <a:tc>
                  <a:txBody>
                    <a:bodyPr wrap="square"/>
                    <a:lstStyle/>
                    <a:p>
                      <a:pPr algn="r"/>
                      <a:r>
                        <a:rPr sz="850" b="1" i="0">
                          <a:solidFill>
                            <a:srgbClr val="1A1A2E"/>
                          </a:solidFill>
                        </a:rPr>
                        <a:t/>
                      </a:r>
                    </a:p>
                  </a:txBody>
                  <a:tcPr>
                    <a:solidFill>
                      <a:srgbClr val="EAF0FB"/>
                    </a:solidFill>
                  </a:tcPr>
                </a:tc>
                <a:tc>
                  <a:txBody>
                    <a:bodyPr wrap="square"/>
                    <a:lstStyle/>
                    <a:p>
                      <a:pPr algn="r"/>
                      <a:r>
                        <a:rPr sz="850" b="1" i="0">
                          <a:solidFill>
                            <a:srgbClr val="1A1A2E"/>
                          </a:solidFill>
                        </a:rPr>
                        <a:t/>
                      </a:r>
                    </a:p>
                  </a:txBody>
                  <a:tcPr>
                    <a:solidFill>
                      <a:srgbClr val="EAF0FB"/>
                    </a:solidFill>
                  </a:tcPr>
                </a:tc>
                <a:tc>
                  <a:txBody>
                    <a:bodyPr wrap="square"/>
                    <a:lstStyle/>
                    <a:p>
                      <a:pPr algn="r"/>
                      <a:r>
                        <a:rPr sz="850" b="1" i="0">
                          <a:solidFill>
                            <a:srgbClr val="1A1A2E"/>
                          </a:solidFill>
                        </a:rPr>
                        <a:t>5.8x</a:t>
                      </a:r>
                    </a:p>
                  </a:txBody>
                  <a:tcPr>
                    <a:solidFill>
                      <a:srgbClr val="EAF0FB"/>
                    </a:solidFill>
                  </a:tcPr>
                </a:tc>
                <a:tc>
                  <a:txBody>
                    <a:bodyPr wrap="square"/>
                    <a:lstStyle/>
                    <a:p>
                      <a:pPr algn="r"/>
                      <a:r>
                        <a:rPr sz="850" b="1" i="0">
                          <a:solidFill>
                            <a:srgbClr val="1A1A2E"/>
                          </a:solidFill>
                        </a:rPr>
                        <a:t>24.5x</a:t>
                      </a:r>
                    </a:p>
                  </a:txBody>
                  <a:tcPr>
                    <a:solidFill>
                      <a:srgbClr val="EAF0FB"/>
                    </a:solidFill>
                  </a:tcPr>
                </a:tc>
                <a:tc>
                  <a:txBody>
                    <a:bodyPr wrap="square"/>
                    <a:lstStyle/>
                    <a:p>
                      <a:pPr algn="r"/>
                      <a:r>
                        <a:rPr sz="850" b="1" i="0">
                          <a:solidFill>
                            <a:srgbClr val="1A1A2E"/>
                          </a:solidFill>
                        </a:rPr>
                        <a:t>35.6x</a:t>
                      </a:r>
                    </a:p>
                  </a:txBody>
                  <a:tcPr>
                    <a:solidFill>
                      <a:srgbClr val="EAF0FB"/>
                    </a:solidFill>
                  </a:tcPr>
                </a:tc>
                <a:tc>
                  <a:txBody>
                    <a:bodyPr wrap="square"/>
                    <a:lstStyle/>
                    <a:p>
                      <a:pPr algn="r"/>
                      <a:r>
                        <a:rPr sz="850" b="1" i="0">
                          <a:solidFill>
                            <a:srgbClr val="1A1A2E"/>
                          </a:solidFill>
                        </a:rPr>
                        <a:t>8%</a:t>
                      </a:r>
                    </a:p>
                  </a:txBody>
                  <a:tcPr>
                    <a:solidFill>
                      <a:srgbClr val="EAF0FB"/>
                    </a:solidFill>
                  </a:tcPr>
                </a:tc>
                <a:tc>
                  <a:txBody>
                    <a:bodyPr wrap="square"/>
                    <a:lstStyle/>
                    <a:p>
                      <a:pPr algn="l"/>
                      <a:r>
                        <a:rPr sz="850" b="1" i="0">
                          <a:solidFill>
                            <a:srgbClr val="1A1A2E"/>
                          </a:solidFill>
                        </a:rPr>
                        <a:t/>
                      </a:r>
                    </a:p>
                  </a:txBody>
                  <a:tcPr>
                    <a:solidFill>
                      <a:srgbClr val="EAF0FB"/>
                    </a:solidFill>
                  </a:tcPr>
                </a:tc>
              </a:tr>
              <a:tr h="304800">
                <a:tc>
                  <a:txBody>
                    <a:bodyPr wrap="square"/>
                    <a:lstStyle/>
                    <a:p>
                      <a:pPr algn="l"/>
                      <a:r>
                        <a:rPr sz="850" b="1" i="0">
                          <a:solidFill>
                            <a:srgbClr val="1A1A2E"/>
                          </a:solidFill>
                        </a:rPr>
                        <a:t>Cable/Media Peer Mean</a:t>
                      </a:r>
                    </a:p>
                  </a:txBody>
                  <a:tcPr>
                    <a:solidFill>
                      <a:srgbClr val="EAF0FB"/>
                    </a:solidFill>
                  </a:tcPr>
                </a:tc>
                <a:tc>
                  <a:txBody>
                    <a:bodyPr wrap="square"/>
                    <a:lstStyle/>
                    <a:p>
                      <a:pPr algn="l"/>
                      <a:r>
                        <a:rPr sz="850" b="1" i="0">
                          <a:solidFill>
                            <a:srgbClr val="1A1A2E"/>
                          </a:solidFill>
                        </a:rPr>
                        <a:t/>
                      </a:r>
                    </a:p>
                  </a:txBody>
                  <a:tcPr>
                    <a:solidFill>
                      <a:srgbClr val="EAF0FB"/>
                    </a:solidFill>
                  </a:tcPr>
                </a:tc>
                <a:tc>
                  <a:txBody>
                    <a:bodyPr wrap="square"/>
                    <a:lstStyle/>
                    <a:p>
                      <a:pPr algn="r"/>
                      <a:r>
                        <a:rPr sz="850" b="1" i="0">
                          <a:solidFill>
                            <a:srgbClr val="1A1A2E"/>
                          </a:solidFill>
                        </a:rPr>
                        <a:t/>
                      </a:r>
                    </a:p>
                  </a:txBody>
                  <a:tcPr>
                    <a:solidFill>
                      <a:srgbClr val="EAF0FB"/>
                    </a:solidFill>
                  </a:tcPr>
                </a:tc>
                <a:tc>
                  <a:txBody>
                    <a:bodyPr wrap="square"/>
                    <a:lstStyle/>
                    <a:p>
                      <a:pPr algn="r"/>
                      <a:r>
                        <a:rPr sz="850" b="1" i="0">
                          <a:solidFill>
                            <a:srgbClr val="1A1A2E"/>
                          </a:solidFill>
                        </a:rPr>
                        <a:t/>
                      </a:r>
                    </a:p>
                  </a:txBody>
                  <a:tcPr>
                    <a:solidFill>
                      <a:srgbClr val="EAF0FB"/>
                    </a:solidFill>
                  </a:tcPr>
                </a:tc>
                <a:tc>
                  <a:txBody>
                    <a:bodyPr wrap="square"/>
                    <a:lstStyle/>
                    <a:p>
                      <a:pPr algn="r"/>
                      <a:r>
                        <a:rPr sz="850" b="1" i="0">
                          <a:solidFill>
                            <a:srgbClr val="1A1A2E"/>
                          </a:solidFill>
                        </a:rPr>
                        <a:t>1.3x</a:t>
                      </a:r>
                    </a:p>
                  </a:txBody>
                  <a:tcPr>
                    <a:solidFill>
                      <a:srgbClr val="EAF0FB"/>
                    </a:solidFill>
                  </a:tcPr>
                </a:tc>
                <a:tc>
                  <a:txBody>
                    <a:bodyPr wrap="square"/>
                    <a:lstStyle/>
                    <a:p>
                      <a:pPr algn="r"/>
                      <a:r>
                        <a:rPr sz="850" b="1" i="0">
                          <a:solidFill>
                            <a:srgbClr val="1A1A2E"/>
                          </a:solidFill>
                        </a:rPr>
                        <a:t>6.1x</a:t>
                      </a:r>
                    </a:p>
                  </a:txBody>
                  <a:tcPr>
                    <a:solidFill>
                      <a:srgbClr val="EAF0FB"/>
                    </a:solidFill>
                  </a:tcPr>
                </a:tc>
                <a:tc>
                  <a:txBody>
                    <a:bodyPr wrap="square"/>
                    <a:lstStyle/>
                    <a:p>
                      <a:pPr algn="r"/>
                      <a:r>
                        <a:rPr sz="850" b="1" i="0">
                          <a:solidFill>
                            <a:srgbClr val="1A1A2E"/>
                          </a:solidFill>
                        </a:rPr>
                        <a:t>10.1x</a:t>
                      </a:r>
                    </a:p>
                  </a:txBody>
                  <a:tcPr>
                    <a:solidFill>
                      <a:srgbClr val="EAF0FB"/>
                    </a:solidFill>
                  </a:tcPr>
                </a:tc>
                <a:tc>
                  <a:txBody>
                    <a:bodyPr wrap="square"/>
                    <a:lstStyle/>
                    <a:p>
                      <a:pPr algn="r"/>
                      <a:r>
                        <a:rPr sz="850" b="1" i="0">
                          <a:solidFill>
                            <a:srgbClr val="1A1A2E"/>
                          </a:solidFill>
                        </a:rPr>
                        <a:t>0%</a:t>
                      </a:r>
                    </a:p>
                  </a:txBody>
                  <a:tcPr>
                    <a:solidFill>
                      <a:srgbClr val="EAF0FB"/>
                    </a:solidFill>
                  </a:tcPr>
                </a:tc>
                <a:tc>
                  <a:txBody>
                    <a:bodyPr wrap="square"/>
                    <a:lstStyle/>
                    <a:p>
                      <a:pPr algn="l"/>
                      <a:r>
                        <a:rPr sz="850" b="1" i="0">
                          <a:solidFill>
                            <a:srgbClr val="1A1A2E"/>
                          </a:solidFill>
                        </a:rPr>
                        <a:t/>
                      </a:r>
                    </a:p>
                  </a:txBody>
                  <a:tcPr>
                    <a:solidFill>
                      <a:srgbClr val="EAF0FB"/>
                    </a:solidFill>
                  </a:tcPr>
                </a:tc>
              </a:tr>
            </a:tbl>
          </a:graphicData>
        </a:graphic>
      </p:graphicFrame>
      <p:sp>
        <p:nvSpPr>
          <p:cNvPr id="8" name="Rectangle 7"/>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Market data as of May 2025. Multiples based on NTM consensus EBITDA (FactSet). WBD NM P/E reflects net losses. Streaming peers include Disney+/Hulu segment only for DIS.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Valuation Analysis — Precedent M&amp;A Transactions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Selected Media &amp; Entertainment Acquisitions (2017–2024)</a:t>
            </a:r>
          </a:p>
        </p:txBody>
      </p:sp>
      <p:sp>
        <p:nvSpPr>
          <p:cNvPr id="6" name="TextBox 5"/>
          <p:cNvSpPr txBox="1"/>
          <p:nvPr/>
        </p:nvSpPr>
        <p:spPr>
          <a:xfrm>
            <a:off x="320040" y="1170432"/>
            <a:ext cx="11548872" cy="347472"/>
          </a:xfrm>
          <a:prstGeom prst="rect">
            <a:avLst/>
          </a:prstGeom>
          <a:noFill/>
        </p:spPr>
        <p:txBody>
          <a:bodyPr wrap="square">
            <a:spAutoFit/>
          </a:bodyPr>
          <a:lstStyle/>
          <a:p>
            <a:pPr algn="l"/>
            <a:r>
              <a:rPr sz="1200" b="1" i="0">
                <a:solidFill>
                  <a:srgbClr val="1A1A2E"/>
                </a:solidFill>
              </a:rPr>
              <a:t>Selected Precedent Transactions ($B unless noted)</a:t>
            </a:r>
          </a:p>
        </p:txBody>
      </p:sp>
      <p:graphicFrame>
        <p:nvGraphicFramePr>
          <p:cNvPr id="7" name="Table 6"/>
          <p:cNvGraphicFramePr>
            <a:graphicFrameLocks noGrp="1"/>
          </p:cNvGraphicFramePr>
          <p:nvPr/>
        </p:nvGraphicFramePr>
        <p:xfrm>
          <a:off x="320040" y="1554480"/>
          <a:ext cx="11548872" cy="4572000"/>
        </p:xfrm>
        <a:graphic>
          <a:graphicData uri="http://schemas.openxmlformats.org/drawingml/2006/table">
            <a:tbl>
              <a:tblPr firstRow="1" bandRow="1">
                <a:tableStyleId>{5C22544A-7EE6-4342-B048-85BDC9FD1C3A}</a:tableStyleId>
              </a:tblPr>
              <a:tblGrid>
                <a:gridCol w="1649838"/>
                <a:gridCol w="1649838"/>
                <a:gridCol w="1649838"/>
                <a:gridCol w="1649838"/>
                <a:gridCol w="1649838"/>
                <a:gridCol w="1649838"/>
                <a:gridCol w="1649844"/>
              </a:tblGrid>
              <a:tr h="351692">
                <a:tc>
                  <a:txBody>
                    <a:bodyPr wrap="square"/>
                    <a:lstStyle/>
                    <a:p>
                      <a:pPr algn="l"/>
                      <a:r>
                        <a:rPr sz="950" b="1" i="0">
                          <a:solidFill>
                            <a:srgbClr val="FFFFFF"/>
                          </a:solidFill>
                        </a:rPr>
                        <a:t>Date</a:t>
                      </a:r>
                    </a:p>
                  </a:txBody>
                  <a:tcPr>
                    <a:solidFill>
                      <a:srgbClr val="0F2044"/>
                    </a:solidFill>
                  </a:tcPr>
                </a:tc>
                <a:tc>
                  <a:txBody>
                    <a:bodyPr wrap="square"/>
                    <a:lstStyle/>
                    <a:p>
                      <a:pPr algn="l"/>
                      <a:r>
                        <a:rPr sz="950" b="1" i="0">
                          <a:solidFill>
                            <a:srgbClr val="FFFFFF"/>
                          </a:solidFill>
                        </a:rPr>
                        <a:t>Acquirer</a:t>
                      </a:r>
                    </a:p>
                  </a:txBody>
                  <a:tcPr>
                    <a:solidFill>
                      <a:srgbClr val="0F2044"/>
                    </a:solidFill>
                  </a:tcPr>
                </a:tc>
                <a:tc>
                  <a:txBody>
                    <a:bodyPr wrap="square"/>
                    <a:lstStyle/>
                    <a:p>
                      <a:pPr algn="l"/>
                      <a:r>
                        <a:rPr sz="950" b="1" i="0">
                          <a:solidFill>
                            <a:srgbClr val="FFFFFF"/>
                          </a:solidFill>
                        </a:rPr>
                        <a:t>Target</a:t>
                      </a:r>
                    </a:p>
                  </a:txBody>
                  <a:tcPr>
                    <a:solidFill>
                      <a:srgbClr val="0F2044"/>
                    </a:solidFill>
                  </a:tcPr>
                </a:tc>
                <a:tc>
                  <a:txBody>
                    <a:bodyPr wrap="square"/>
                    <a:lstStyle/>
                    <a:p>
                      <a:pPr algn="l"/>
                      <a:r>
                        <a:rPr sz="950" b="1" i="0">
                          <a:solidFill>
                            <a:srgbClr val="FFFFFF"/>
                          </a:solidFill>
                        </a:rPr>
                        <a:t>Transaction Value</a:t>
                      </a:r>
                    </a:p>
                  </a:txBody>
                  <a:tcPr>
                    <a:solidFill>
                      <a:srgbClr val="0F2044"/>
                    </a:solidFill>
                  </a:tcPr>
                </a:tc>
                <a:tc>
                  <a:txBody>
                    <a:bodyPr wrap="square"/>
                    <a:lstStyle/>
                    <a:p>
                      <a:pPr algn="ctr"/>
                      <a:r>
                        <a:rPr sz="950" b="1" i="0">
                          <a:solidFill>
                            <a:srgbClr val="FFFFFF"/>
                          </a:solidFill>
                        </a:rPr>
                        <a:t>EV/Revenue</a:t>
                      </a:r>
                    </a:p>
                  </a:txBody>
                  <a:tcPr>
                    <a:solidFill>
                      <a:srgbClr val="0F2044"/>
                    </a:solidFill>
                  </a:tcPr>
                </a:tc>
                <a:tc>
                  <a:txBody>
                    <a:bodyPr wrap="square"/>
                    <a:lstStyle/>
                    <a:p>
                      <a:pPr algn="ctr"/>
                      <a:r>
                        <a:rPr sz="950" b="1" i="0">
                          <a:solidFill>
                            <a:srgbClr val="FFFFFF"/>
                          </a:solidFill>
                        </a:rPr>
                        <a:t>EV/EBITDA</a:t>
                      </a:r>
                    </a:p>
                  </a:txBody>
                  <a:tcPr>
                    <a:solidFill>
                      <a:srgbClr val="0F2044"/>
                    </a:solidFill>
                  </a:tcPr>
                </a:tc>
                <a:tc>
                  <a:txBody>
                    <a:bodyPr wrap="square"/>
                    <a:lstStyle/>
                    <a:p>
                      <a:pPr algn="ctr"/>
                      <a:r>
                        <a:rPr sz="950" b="1" i="0">
                          <a:solidFill>
                            <a:srgbClr val="FFFFFF"/>
                          </a:solidFill>
                        </a:rPr>
                        <a:t>Notes</a:t>
                      </a:r>
                    </a:p>
                  </a:txBody>
                  <a:tcPr>
                    <a:solidFill>
                      <a:srgbClr val="0F2044"/>
                    </a:solidFill>
                  </a:tcPr>
                </a:tc>
              </a:tr>
              <a:tr h="351692">
                <a:tc>
                  <a:txBody>
                    <a:bodyPr wrap="square"/>
                    <a:lstStyle/>
                    <a:p>
                      <a:pPr algn="l"/>
                      <a:r>
                        <a:rPr sz="950" b="0" i="0">
                          <a:solidFill>
                            <a:srgbClr val="1A1A2E"/>
                          </a:solidFill>
                        </a:rPr>
                        <a:t>Mar 2019</a:t>
                      </a:r>
                    </a:p>
                  </a:txBody>
                  <a:tcPr>
                    <a:solidFill>
                      <a:srgbClr val="EAF0FB"/>
                    </a:solidFill>
                  </a:tcPr>
                </a:tc>
                <a:tc>
                  <a:txBody>
                    <a:bodyPr wrap="square"/>
                    <a:lstStyle/>
                    <a:p>
                      <a:pPr algn="l"/>
                      <a:r>
                        <a:rPr sz="950" b="0" i="0">
                          <a:solidFill>
                            <a:srgbClr val="1A1A2E"/>
                          </a:solidFill>
                        </a:rPr>
                        <a:t>Disney</a:t>
                      </a:r>
                    </a:p>
                  </a:txBody>
                  <a:tcPr>
                    <a:solidFill>
                      <a:srgbClr val="EAF0FB"/>
                    </a:solidFill>
                  </a:tcPr>
                </a:tc>
                <a:tc>
                  <a:txBody>
                    <a:bodyPr wrap="square"/>
                    <a:lstStyle/>
                    <a:p>
                      <a:pPr algn="l"/>
                      <a:r>
                        <a:rPr sz="950" b="0" i="0">
                          <a:solidFill>
                            <a:srgbClr val="1A1A2E"/>
                          </a:solidFill>
                        </a:rPr>
                        <a:t>21st Century Fox</a:t>
                      </a:r>
                    </a:p>
                  </a:txBody>
                  <a:tcPr>
                    <a:solidFill>
                      <a:srgbClr val="EAF0FB"/>
                    </a:solidFill>
                  </a:tcPr>
                </a:tc>
                <a:tc>
                  <a:txBody>
                    <a:bodyPr wrap="square"/>
                    <a:lstStyle/>
                    <a:p>
                      <a:pPr algn="ctr"/>
                      <a:r>
                        <a:rPr sz="950" b="0" i="0">
                          <a:solidFill>
                            <a:srgbClr val="1A1A2E"/>
                          </a:solidFill>
                        </a:rPr>
                        <a:t>$71.3B</a:t>
                      </a:r>
                    </a:p>
                  </a:txBody>
                  <a:tcPr>
                    <a:solidFill>
                      <a:srgbClr val="EAF0FB"/>
                    </a:solidFill>
                  </a:tcPr>
                </a:tc>
                <a:tc>
                  <a:txBody>
                    <a:bodyPr wrap="square"/>
                    <a:lstStyle/>
                    <a:p>
                      <a:pPr algn="ctr"/>
                      <a:r>
                        <a:rPr sz="950" b="0" i="0">
                          <a:solidFill>
                            <a:srgbClr val="1A1A2E"/>
                          </a:solidFill>
                        </a:rPr>
                        <a:t>3.5x</a:t>
                      </a:r>
                    </a:p>
                  </a:txBody>
                  <a:tcPr>
                    <a:solidFill>
                      <a:srgbClr val="EAF0FB"/>
                    </a:solidFill>
                  </a:tcPr>
                </a:tc>
                <a:tc>
                  <a:txBody>
                    <a:bodyPr wrap="square"/>
                    <a:lstStyle/>
                    <a:p>
                      <a:pPr algn="ctr"/>
                      <a:r>
                        <a:rPr sz="950" b="0" i="0">
                          <a:solidFill>
                            <a:srgbClr val="1A1A2E"/>
                          </a:solidFill>
                        </a:rPr>
                        <a:t>15.8x</a:t>
                      </a:r>
                    </a:p>
                  </a:txBody>
                  <a:tcPr>
                    <a:solidFill>
                      <a:srgbClr val="EAF0FB"/>
                    </a:solidFill>
                  </a:tcPr>
                </a:tc>
                <a:tc>
                  <a:txBody>
                    <a:bodyPr wrap="square"/>
                    <a:lstStyle/>
                    <a:p>
                      <a:pPr algn="l"/>
                      <a:r>
                        <a:rPr sz="950" b="0" i="0">
                          <a:solidFill>
                            <a:srgbClr val="1A1A2E"/>
                          </a:solidFill>
                        </a:rPr>
                        <a:t>Largest media M&amp;A; content + FX + Nat Geo</a:t>
                      </a:r>
                    </a:p>
                  </a:txBody>
                  <a:tcPr>
                    <a:solidFill>
                      <a:srgbClr val="EAF0FB"/>
                    </a:solidFill>
                  </a:tcPr>
                </a:tc>
              </a:tr>
              <a:tr h="351692">
                <a:tc>
                  <a:txBody>
                    <a:bodyPr wrap="square"/>
                    <a:lstStyle/>
                    <a:p>
                      <a:pPr algn="l"/>
                      <a:r>
                        <a:rPr sz="950" b="0" i="0">
                          <a:solidFill>
                            <a:srgbClr val="1A1A2E"/>
                          </a:solidFill>
                        </a:rPr>
                        <a:t>May 2021</a:t>
                      </a:r>
                    </a:p>
                  </a:txBody>
                  <a:tcPr/>
                </a:tc>
                <a:tc>
                  <a:txBody>
                    <a:bodyPr wrap="square"/>
                    <a:lstStyle/>
                    <a:p>
                      <a:pPr algn="l"/>
                      <a:r>
                        <a:rPr sz="950" b="0" i="0">
                          <a:solidFill>
                            <a:srgbClr val="1A1A2E"/>
                          </a:solidFill>
                        </a:rPr>
                        <a:t>Amazon</a:t>
                      </a:r>
                    </a:p>
                  </a:txBody>
                  <a:tcPr/>
                </a:tc>
                <a:tc>
                  <a:txBody>
                    <a:bodyPr wrap="square"/>
                    <a:lstStyle/>
                    <a:p>
                      <a:pPr algn="l"/>
                      <a:r>
                        <a:rPr sz="950" b="0" i="0">
                          <a:solidFill>
                            <a:srgbClr val="1A1A2E"/>
                          </a:solidFill>
                        </a:rPr>
                        <a:t>MGM Holdings</a:t>
                      </a:r>
                    </a:p>
                  </a:txBody>
                  <a:tcPr/>
                </a:tc>
                <a:tc>
                  <a:txBody>
                    <a:bodyPr wrap="square"/>
                    <a:lstStyle/>
                    <a:p>
                      <a:pPr algn="ctr"/>
                      <a:r>
                        <a:rPr sz="950" b="0" i="0">
                          <a:solidFill>
                            <a:srgbClr val="1A1A2E"/>
                          </a:solidFill>
                        </a:rPr>
                        <a:t> $8.5B</a:t>
                      </a:r>
                    </a:p>
                  </a:txBody>
                  <a:tcPr/>
                </a:tc>
                <a:tc>
                  <a:txBody>
                    <a:bodyPr wrap="square"/>
                    <a:lstStyle/>
                    <a:p>
                      <a:pPr algn="ctr"/>
                      <a:r>
                        <a:rPr sz="950" b="0" i="0">
                          <a:solidFill>
                            <a:srgbClr val="1A1A2E"/>
                          </a:solidFill>
                        </a:rPr>
                        <a:t>4.9x</a:t>
                      </a:r>
                    </a:p>
                  </a:txBody>
                  <a:tcPr/>
                </a:tc>
                <a:tc>
                  <a:txBody>
                    <a:bodyPr wrap="square"/>
                    <a:lstStyle/>
                    <a:p>
                      <a:pPr algn="ctr"/>
                      <a:r>
                        <a:rPr sz="950" b="0" i="0">
                          <a:solidFill>
                            <a:srgbClr val="1A1A2E"/>
                          </a:solidFill>
                        </a:rPr>
                        <a:t>21.0x</a:t>
                      </a:r>
                    </a:p>
                  </a:txBody>
                  <a:tcPr/>
                </a:tc>
                <a:tc>
                  <a:txBody>
                    <a:bodyPr wrap="square"/>
                    <a:lstStyle/>
                    <a:p>
                      <a:pPr algn="l"/>
                      <a:r>
                        <a:rPr sz="950" b="0" i="0">
                          <a:solidFill>
                            <a:srgbClr val="1A1A2E"/>
                          </a:solidFill>
                        </a:rPr>
                        <a:t>Library-focused; Prime Video scale</a:t>
                      </a:r>
                    </a:p>
                  </a:txBody>
                  <a:tcPr/>
                </a:tc>
              </a:tr>
              <a:tr h="351692">
                <a:tc>
                  <a:txBody>
                    <a:bodyPr wrap="square"/>
                    <a:lstStyle/>
                    <a:p>
                      <a:pPr algn="l"/>
                      <a:r>
                        <a:rPr sz="950" b="0" i="0">
                          <a:solidFill>
                            <a:srgbClr val="1A1A2E"/>
                          </a:solidFill>
                        </a:rPr>
                        <a:t>Apr 2022</a:t>
                      </a:r>
                    </a:p>
                  </a:txBody>
                  <a:tcPr>
                    <a:solidFill>
                      <a:srgbClr val="EAF0FB"/>
                    </a:solidFill>
                  </a:tcPr>
                </a:tc>
                <a:tc>
                  <a:txBody>
                    <a:bodyPr wrap="square"/>
                    <a:lstStyle/>
                    <a:p>
                      <a:pPr algn="l"/>
                      <a:r>
                        <a:rPr sz="950" b="0" i="0">
                          <a:solidFill>
                            <a:srgbClr val="1A1A2E"/>
                          </a:solidFill>
                        </a:rPr>
                        <a:t>WBD (AT&amp;T)</a:t>
                      </a:r>
                    </a:p>
                  </a:txBody>
                  <a:tcPr>
                    <a:solidFill>
                      <a:srgbClr val="EAF0FB"/>
                    </a:solidFill>
                  </a:tcPr>
                </a:tc>
                <a:tc>
                  <a:txBody>
                    <a:bodyPr wrap="square"/>
                    <a:lstStyle/>
                    <a:p>
                      <a:pPr algn="l"/>
                      <a:r>
                        <a:rPr sz="950" b="0" i="0">
                          <a:solidFill>
                            <a:srgbClr val="1A1A2E"/>
                          </a:solidFill>
                        </a:rPr>
                        <a:t>WarnerMedia/Discovery</a:t>
                      </a:r>
                    </a:p>
                  </a:txBody>
                  <a:tcPr>
                    <a:solidFill>
                      <a:srgbClr val="EAF0FB"/>
                    </a:solidFill>
                  </a:tcPr>
                </a:tc>
                <a:tc>
                  <a:txBody>
                    <a:bodyPr wrap="square"/>
                    <a:lstStyle/>
                    <a:p>
                      <a:pPr algn="ctr"/>
                      <a:r>
                        <a:rPr sz="950" b="0" i="0">
                          <a:solidFill>
                            <a:srgbClr val="1A1A2E"/>
                          </a:solidFill>
                        </a:rPr>
                        <a:t>$43.0B</a:t>
                      </a:r>
                    </a:p>
                  </a:txBody>
                  <a:tcPr>
                    <a:solidFill>
                      <a:srgbClr val="EAF0FB"/>
                    </a:solidFill>
                  </a:tcPr>
                </a:tc>
                <a:tc>
                  <a:txBody>
                    <a:bodyPr wrap="square"/>
                    <a:lstStyle/>
                    <a:p>
                      <a:pPr algn="ctr"/>
                      <a:r>
                        <a:rPr sz="950" b="0" i="0">
                          <a:solidFill>
                            <a:srgbClr val="1A1A2E"/>
                          </a:solidFill>
                        </a:rPr>
                        <a:t>1.8x</a:t>
                      </a:r>
                    </a:p>
                  </a:txBody>
                  <a:tcPr>
                    <a:solidFill>
                      <a:srgbClr val="EAF0FB"/>
                    </a:solidFill>
                  </a:tcPr>
                </a:tc>
                <a:tc>
                  <a:txBody>
                    <a:bodyPr wrap="square"/>
                    <a:lstStyle/>
                    <a:p>
                      <a:pPr algn="ctr"/>
                      <a:r>
                        <a:rPr sz="950" b="0" i="0">
                          <a:solidFill>
                            <a:srgbClr val="1A1A2E"/>
                          </a:solidFill>
                        </a:rPr>
                        <a:t>8.2x</a:t>
                      </a:r>
                    </a:p>
                  </a:txBody>
                  <a:tcPr>
                    <a:solidFill>
                      <a:srgbClr val="EAF0FB"/>
                    </a:solidFill>
                  </a:tcPr>
                </a:tc>
                <a:tc>
                  <a:txBody>
                    <a:bodyPr wrap="square"/>
                    <a:lstStyle/>
                    <a:p>
                      <a:pPr algn="l"/>
                      <a:r>
                        <a:rPr sz="950" b="0" i="0">
                          <a:solidFill>
                            <a:srgbClr val="1A1A2E"/>
                          </a:solidFill>
                        </a:rPr>
                        <a:t>Spin-merge; current acquiree</a:t>
                      </a:r>
                    </a:p>
                  </a:txBody>
                  <a:tcPr>
                    <a:solidFill>
                      <a:srgbClr val="EAF0FB"/>
                    </a:solidFill>
                  </a:tcPr>
                </a:tc>
              </a:tr>
              <a:tr h="351692">
                <a:tc>
                  <a:txBody>
                    <a:bodyPr wrap="square"/>
                    <a:lstStyle/>
                    <a:p>
                      <a:pPr algn="l"/>
                      <a:r>
                        <a:rPr sz="950" b="0" i="0">
                          <a:solidFill>
                            <a:srgbClr val="1A1A2E"/>
                          </a:solidFill>
                        </a:rPr>
                        <a:t>Sep 2022</a:t>
                      </a:r>
                    </a:p>
                  </a:txBody>
                  <a:tcPr/>
                </a:tc>
                <a:tc>
                  <a:txBody>
                    <a:bodyPr wrap="square"/>
                    <a:lstStyle/>
                    <a:p>
                      <a:pPr algn="l"/>
                      <a:r>
                        <a:rPr sz="950" b="0" i="0">
                          <a:solidFill>
                            <a:srgbClr val="1A1A2E"/>
                          </a:solidFill>
                        </a:rPr>
                        <a:t>Microsoft</a:t>
                      </a:r>
                    </a:p>
                  </a:txBody>
                  <a:tcPr/>
                </a:tc>
                <a:tc>
                  <a:txBody>
                    <a:bodyPr wrap="square"/>
                    <a:lstStyle/>
                    <a:p>
                      <a:pPr algn="l"/>
                      <a:r>
                        <a:rPr sz="950" b="0" i="0">
                          <a:solidFill>
                            <a:srgbClr val="1A1A2E"/>
                          </a:solidFill>
                        </a:rPr>
                        <a:t>Activision Blizzard</a:t>
                      </a:r>
                    </a:p>
                  </a:txBody>
                  <a:tcPr/>
                </a:tc>
                <a:tc>
                  <a:txBody>
                    <a:bodyPr wrap="square"/>
                    <a:lstStyle/>
                    <a:p>
                      <a:pPr algn="ctr"/>
                      <a:r>
                        <a:rPr sz="950" b="0" i="0">
                          <a:solidFill>
                            <a:srgbClr val="1A1A2E"/>
                          </a:solidFill>
                        </a:rPr>
                        <a:t>$68.7B</a:t>
                      </a:r>
                    </a:p>
                  </a:txBody>
                  <a:tcPr/>
                </a:tc>
                <a:tc>
                  <a:txBody>
                    <a:bodyPr wrap="square"/>
                    <a:lstStyle/>
                    <a:p>
                      <a:pPr algn="ctr"/>
                      <a:r>
                        <a:rPr sz="950" b="0" i="0">
                          <a:solidFill>
                            <a:srgbClr val="1A1A2E"/>
                          </a:solidFill>
                        </a:rPr>
                        <a:t>7.0x</a:t>
                      </a:r>
                    </a:p>
                  </a:txBody>
                  <a:tcPr/>
                </a:tc>
                <a:tc>
                  <a:txBody>
                    <a:bodyPr wrap="square"/>
                    <a:lstStyle/>
                    <a:p>
                      <a:pPr algn="ctr"/>
                      <a:r>
                        <a:rPr sz="950" b="0" i="0">
                          <a:solidFill>
                            <a:srgbClr val="1A1A2E"/>
                          </a:solidFill>
                        </a:rPr>
                        <a:t>23.5x</a:t>
                      </a:r>
                    </a:p>
                  </a:txBody>
                  <a:tcPr/>
                </a:tc>
                <a:tc>
                  <a:txBody>
                    <a:bodyPr wrap="square"/>
                    <a:lstStyle/>
                    <a:p>
                      <a:pPr algn="l"/>
                      <a:r>
                        <a:rPr sz="950" b="0" i="0">
                          <a:solidFill>
                            <a:srgbClr val="1A1A2E"/>
                          </a:solidFill>
                        </a:rPr>
                        <a:t>Gaming/IP; precedent for platform acquisition</a:t>
                      </a:r>
                    </a:p>
                  </a:txBody>
                  <a:tcPr/>
                </a:tc>
              </a:tr>
              <a:tr h="351692">
                <a:tc>
                  <a:txBody>
                    <a:bodyPr wrap="square"/>
                    <a:lstStyle/>
                    <a:p>
                      <a:pPr algn="l"/>
                      <a:r>
                        <a:rPr sz="950" b="0" i="0">
                          <a:solidFill>
                            <a:srgbClr val="1A1A2E"/>
                          </a:solidFill>
                        </a:rPr>
                        <a:t>Dec 2023</a:t>
                      </a:r>
                    </a:p>
                  </a:txBody>
                  <a:tcPr>
                    <a:solidFill>
                      <a:srgbClr val="EAF0FB"/>
                    </a:solidFill>
                  </a:tcPr>
                </a:tc>
                <a:tc>
                  <a:txBody>
                    <a:bodyPr wrap="square"/>
                    <a:lstStyle/>
                    <a:p>
                      <a:pPr algn="l"/>
                      <a:r>
                        <a:rPr sz="950" b="0" i="0">
                          <a:solidFill>
                            <a:srgbClr val="1A1A2E"/>
                          </a:solidFill>
                        </a:rPr>
                        <a:t>Skydance</a:t>
                      </a:r>
                    </a:p>
                  </a:txBody>
                  <a:tcPr>
                    <a:solidFill>
                      <a:srgbClr val="EAF0FB"/>
                    </a:solidFill>
                  </a:tcPr>
                </a:tc>
                <a:tc>
                  <a:txBody>
                    <a:bodyPr wrap="square"/>
                    <a:lstStyle/>
                    <a:p>
                      <a:pPr algn="l"/>
                      <a:r>
                        <a:rPr sz="950" b="0" i="0">
                          <a:solidFill>
                            <a:srgbClr val="1A1A2E"/>
                          </a:solidFill>
                        </a:rPr>
                        <a:t>Paramount Global</a:t>
                      </a:r>
                    </a:p>
                  </a:txBody>
                  <a:tcPr>
                    <a:solidFill>
                      <a:srgbClr val="EAF0FB"/>
                    </a:solidFill>
                  </a:tcPr>
                </a:tc>
                <a:tc>
                  <a:txBody>
                    <a:bodyPr wrap="square"/>
                    <a:lstStyle/>
                    <a:p>
                      <a:pPr algn="ctr"/>
                      <a:r>
                        <a:rPr sz="950" b="0" i="0">
                          <a:solidFill>
                            <a:srgbClr val="1A1A2E"/>
                          </a:solidFill>
                        </a:rPr>
                        <a:t>$8.0B¹</a:t>
                      </a:r>
                    </a:p>
                  </a:txBody>
                  <a:tcPr>
                    <a:solidFill>
                      <a:srgbClr val="EAF0FB"/>
                    </a:solidFill>
                  </a:tcPr>
                </a:tc>
                <a:tc>
                  <a:txBody>
                    <a:bodyPr wrap="square"/>
                    <a:lstStyle/>
                    <a:p>
                      <a:pPr algn="ctr"/>
                      <a:r>
                        <a:rPr sz="950" b="0" i="0">
                          <a:solidFill>
                            <a:srgbClr val="1A1A2E"/>
                          </a:solidFill>
                        </a:rPr>
                        <a:t>0.7x</a:t>
                      </a:r>
                    </a:p>
                  </a:txBody>
                  <a:tcPr>
                    <a:solidFill>
                      <a:srgbClr val="EAF0FB"/>
                    </a:solidFill>
                  </a:tcPr>
                </a:tc>
                <a:tc>
                  <a:txBody>
                    <a:bodyPr wrap="square"/>
                    <a:lstStyle/>
                    <a:p>
                      <a:pPr algn="ctr"/>
                      <a:r>
                        <a:rPr sz="950" b="0" i="0">
                          <a:solidFill>
                            <a:srgbClr val="1A1A2E"/>
                          </a:solidFill>
                        </a:rPr>
                        <a:t>5.1x</a:t>
                      </a:r>
                    </a:p>
                  </a:txBody>
                  <a:tcPr>
                    <a:solidFill>
                      <a:srgbClr val="EAF0FB"/>
                    </a:solidFill>
                  </a:tcPr>
                </a:tc>
                <a:tc>
                  <a:txBody>
                    <a:bodyPr wrap="square"/>
                    <a:lstStyle/>
                    <a:p>
                      <a:pPr algn="l"/>
                      <a:r>
                        <a:rPr sz="950" b="0" i="0">
                          <a:solidFill>
                            <a:srgbClr val="1A1A2E"/>
                          </a:solidFill>
                        </a:rPr>
                        <a:t>Distressed deal; NAI controlling structure</a:t>
                      </a:r>
                    </a:p>
                  </a:txBody>
                  <a:tcPr>
                    <a:solidFill>
                      <a:srgbClr val="EAF0FB"/>
                    </a:solidFill>
                  </a:tcPr>
                </a:tc>
              </a:tr>
              <a:tr h="351692">
                <a:tc>
                  <a:txBody>
                    <a:bodyPr wrap="square"/>
                    <a:lstStyle/>
                    <a:p>
                      <a:pPr algn="l"/>
                      <a:r>
                        <a:rPr sz="950" b="0" i="0">
                          <a:solidFill>
                            <a:srgbClr val="1A1A2E"/>
                          </a:solidFill>
                        </a:rPr>
                        <a:t>Mar 2024</a:t>
                      </a:r>
                    </a:p>
                  </a:txBody>
                  <a:tcPr/>
                </a:tc>
                <a:tc>
                  <a:txBody>
                    <a:bodyPr wrap="square"/>
                    <a:lstStyle/>
                    <a:p>
                      <a:pPr algn="l"/>
                      <a:r>
                        <a:rPr sz="950" b="0" i="0">
                          <a:solidFill>
                            <a:srgbClr val="1A1A2E"/>
                          </a:solidFill>
                        </a:rPr>
                        <a:t>Synapse/Sony</a:t>
                      </a:r>
                    </a:p>
                  </a:txBody>
                  <a:tcPr/>
                </a:tc>
                <a:tc>
                  <a:txBody>
                    <a:bodyPr wrap="square"/>
                    <a:lstStyle/>
                    <a:p>
                      <a:pPr algn="l"/>
                      <a:r>
                        <a:rPr sz="950" b="0" i="0">
                          <a:solidFill>
                            <a:srgbClr val="1A1A2E"/>
                          </a:solidFill>
                        </a:rPr>
                        <a:t>Paramount Studio Assets</a:t>
                      </a:r>
                    </a:p>
                  </a:txBody>
                  <a:tcPr/>
                </a:tc>
                <a:tc>
                  <a:txBody>
                    <a:bodyPr wrap="square"/>
                    <a:lstStyle/>
                    <a:p>
                      <a:pPr algn="ctr"/>
                      <a:r>
                        <a:rPr sz="950" b="0" i="0">
                          <a:solidFill>
                            <a:srgbClr val="1A1A2E"/>
                          </a:solidFill>
                        </a:rPr>
                        <a:t>$3.2B</a:t>
                      </a:r>
                    </a:p>
                  </a:txBody>
                  <a:tcPr/>
                </a:tc>
                <a:tc>
                  <a:txBody>
                    <a:bodyPr wrap="square"/>
                    <a:lstStyle/>
                    <a:p>
                      <a:pPr algn="ctr"/>
                      <a:r>
                        <a:rPr sz="950" b="0" i="0">
                          <a:solidFill>
                            <a:srgbClr val="1A1A2E"/>
                          </a:solidFill>
                        </a:rPr>
                        <a:t>1.2x</a:t>
                      </a:r>
                    </a:p>
                  </a:txBody>
                  <a:tcPr/>
                </a:tc>
                <a:tc>
                  <a:txBody>
                    <a:bodyPr wrap="square"/>
                    <a:lstStyle/>
                    <a:p>
                      <a:pPr algn="ctr"/>
                      <a:r>
                        <a:rPr sz="950" b="0" i="0">
                          <a:solidFill>
                            <a:srgbClr val="1A1A2E"/>
                          </a:solidFill>
                        </a:rPr>
                        <a:t>9.5x</a:t>
                      </a:r>
                    </a:p>
                  </a:txBody>
                  <a:tcPr/>
                </a:tc>
                <a:tc>
                  <a:txBody>
                    <a:bodyPr wrap="square"/>
                    <a:lstStyle/>
                    <a:p>
                      <a:pPr algn="l"/>
                      <a:r>
                        <a:rPr sz="950" b="0" i="0">
                          <a:solidFill>
                            <a:srgbClr val="1A1A2E"/>
                          </a:solidFill>
                        </a:rPr>
                        <a:t>Studio library partial; comparable basis</a:t>
                      </a:r>
                    </a:p>
                  </a:txBody>
                  <a:tcPr/>
                </a:tc>
              </a:tr>
              <a:tr h="351692">
                <a:tc>
                  <a:txBody>
                    <a:bodyPr wrap="square"/>
                    <a:lstStyle/>
                    <a:p>
                      <a:pPr algn="l"/>
                      <a:r>
                        <a:rPr sz="950" b="0" i="0">
                          <a:solidFill>
                            <a:srgbClr val="1A1A2E"/>
                          </a:solidFill>
                        </a:rPr>
                        <a:t>Jul 2024</a:t>
                      </a:r>
                    </a:p>
                  </a:txBody>
                  <a:tcPr>
                    <a:solidFill>
                      <a:srgbClr val="EAF0FB"/>
                    </a:solidFill>
                  </a:tcPr>
                </a:tc>
                <a:tc>
                  <a:txBody>
                    <a:bodyPr wrap="square"/>
                    <a:lstStyle/>
                    <a:p>
                      <a:pPr algn="l"/>
                      <a:r>
                        <a:rPr sz="950" b="0" i="0">
                          <a:solidFill>
                            <a:srgbClr val="1A1A2E"/>
                          </a:solidFill>
                        </a:rPr>
                        <a:t>Comcast</a:t>
                      </a:r>
                    </a:p>
                  </a:txBody>
                  <a:tcPr>
                    <a:solidFill>
                      <a:srgbClr val="EAF0FB"/>
                    </a:solidFill>
                  </a:tcPr>
                </a:tc>
                <a:tc>
                  <a:txBody>
                    <a:bodyPr wrap="square"/>
                    <a:lstStyle/>
                    <a:p>
                      <a:pPr algn="l"/>
                      <a:r>
                        <a:rPr sz="950" b="0" i="0">
                          <a:solidFill>
                            <a:srgbClr val="1A1A2E"/>
                          </a:solidFill>
                        </a:rPr>
                        <a:t>NBCU Streaming spinoff</a:t>
                      </a:r>
                    </a:p>
                  </a:txBody>
                  <a:tcPr>
                    <a:solidFill>
                      <a:srgbClr val="EAF0FB"/>
                    </a:solidFill>
                  </a:tcPr>
                </a:tc>
                <a:tc>
                  <a:txBody>
                    <a:bodyPr wrap="square"/>
                    <a:lstStyle/>
                    <a:p>
                      <a:pPr algn="ctr"/>
                      <a:r>
                        <a:rPr sz="950" b="0" i="0">
                          <a:solidFill>
                            <a:srgbClr val="1A1A2E"/>
                          </a:solidFill>
                        </a:rPr>
                        <a:t>$9.0B²</a:t>
                      </a:r>
                    </a:p>
                  </a:txBody>
                  <a:tcPr>
                    <a:solidFill>
                      <a:srgbClr val="EAF0FB"/>
                    </a:solidFill>
                  </a:tcPr>
                </a:tc>
                <a:tc>
                  <a:txBody>
                    <a:bodyPr wrap="square"/>
                    <a:lstStyle/>
                    <a:p>
                      <a:pPr algn="ctr"/>
                      <a:r>
                        <a:rPr sz="950" b="0" i="0">
                          <a:solidFill>
                            <a:srgbClr val="1A1A2E"/>
                          </a:solidFill>
                        </a:rPr>
                        <a:t>1.5x</a:t>
                      </a:r>
                    </a:p>
                  </a:txBody>
                  <a:tcPr>
                    <a:solidFill>
                      <a:srgbClr val="EAF0FB"/>
                    </a:solidFill>
                  </a:tcPr>
                </a:tc>
                <a:tc>
                  <a:txBody>
                    <a:bodyPr wrap="square"/>
                    <a:lstStyle/>
                    <a:p>
                      <a:pPr algn="ctr"/>
                      <a:r>
                        <a:rPr sz="950" b="0" i="0">
                          <a:solidFill>
                            <a:srgbClr val="1A1A2E"/>
                          </a:solidFill>
                        </a:rPr>
                        <a:t>8.5x</a:t>
                      </a:r>
                    </a:p>
                  </a:txBody>
                  <a:tcPr>
                    <a:solidFill>
                      <a:srgbClr val="EAF0FB"/>
                    </a:solidFill>
                  </a:tcPr>
                </a:tc>
                <a:tc>
                  <a:txBody>
                    <a:bodyPr wrap="square"/>
                    <a:lstStyle/>
                    <a:p>
                      <a:pPr algn="l"/>
                      <a:r>
                        <a:rPr sz="950" b="0" i="0">
                          <a:solidFill>
                            <a:srgbClr val="1A1A2E"/>
                          </a:solidFill>
                        </a:rPr>
                        <a:t>Cable network + Peacock separation</a:t>
                      </a:r>
                    </a:p>
                  </a:txBody>
                  <a:tcPr>
                    <a:solidFill>
                      <a:srgbClr val="EAF0FB"/>
                    </a:solidFill>
                  </a:tcPr>
                </a:tc>
              </a:tr>
              <a:tr h="351692">
                <a:tc>
                  <a:txBody>
                    <a:bodyPr wrap="square"/>
                    <a:lstStyle/>
                    <a:p>
                      <a:pPr algn="l"/>
                      <a:r>
                        <a:rPr sz="950" b="0" i="0">
                          <a:solidFill>
                            <a:srgbClr val="1A1A2E"/>
                          </a:solidFill>
                        </a:rPr>
                        <a:t>2024</a:t>
                      </a:r>
                    </a:p>
                  </a:txBody>
                  <a:tcPr/>
                </a:tc>
                <a:tc>
                  <a:txBody>
                    <a:bodyPr wrap="square"/>
                    <a:lstStyle/>
                    <a:p>
                      <a:pPr algn="l"/>
                      <a:r>
                        <a:rPr sz="950" b="0" i="0">
                          <a:solidFill>
                            <a:srgbClr val="1A1A2E"/>
                          </a:solidFill>
                        </a:rPr>
                        <a:t>Various</a:t>
                      </a:r>
                    </a:p>
                  </a:txBody>
                  <a:tcPr/>
                </a:tc>
                <a:tc>
                  <a:txBody>
                    <a:bodyPr wrap="square"/>
                    <a:lstStyle/>
                    <a:p>
                      <a:pPr algn="l"/>
                      <a:r>
                        <a:rPr sz="950" b="0" i="0">
                          <a:solidFill>
                            <a:srgbClr val="1A1A2E"/>
                          </a:solidFill>
                        </a:rPr>
                        <a:t>Regional sports networks</a:t>
                      </a:r>
                    </a:p>
                  </a:txBody>
                  <a:tcPr/>
                </a:tc>
                <a:tc>
                  <a:txBody>
                    <a:bodyPr wrap="square"/>
                    <a:lstStyle/>
                    <a:p>
                      <a:pPr algn="ctr"/>
                      <a:r>
                        <a:rPr sz="950" b="0" i="0">
                          <a:solidFill>
                            <a:srgbClr val="1A1A2E"/>
                          </a:solidFill>
                        </a:rPr>
                        <a:t>$2–4B</a:t>
                      </a:r>
                    </a:p>
                  </a:txBody>
                  <a:tcPr/>
                </a:tc>
                <a:tc>
                  <a:txBody>
                    <a:bodyPr wrap="square"/>
                    <a:lstStyle/>
                    <a:p>
                      <a:pPr algn="ctr"/>
                      <a:r>
                        <a:rPr sz="950" b="0" i="0">
                          <a:solidFill>
                            <a:srgbClr val="1A1A2E"/>
                          </a:solidFill>
                        </a:rPr>
                        <a:t>1.0x</a:t>
                      </a:r>
                    </a:p>
                  </a:txBody>
                  <a:tcPr/>
                </a:tc>
                <a:tc>
                  <a:txBody>
                    <a:bodyPr wrap="square"/>
                    <a:lstStyle/>
                    <a:p>
                      <a:pPr algn="ctr"/>
                      <a:r>
                        <a:rPr sz="950" b="0" i="0">
                          <a:solidFill>
                            <a:srgbClr val="1A1A2E"/>
                          </a:solidFill>
                        </a:rPr>
                        <a:t>6–8x</a:t>
                      </a:r>
                    </a:p>
                  </a:txBody>
                  <a:tcPr/>
                </a:tc>
                <a:tc>
                  <a:txBody>
                    <a:bodyPr wrap="square"/>
                    <a:lstStyle/>
                    <a:p>
                      <a:pPr algn="l"/>
                      <a:r>
                        <a:rPr sz="950" b="0" i="0">
                          <a:solidFill>
                            <a:srgbClr val="1A1A2E"/>
                          </a:solidFill>
                        </a:rPr>
                        <a:t>RSN distressed deals benchmark</a:t>
                      </a:r>
                    </a:p>
                  </a:txBody>
                  <a:tcPr/>
                </a:tc>
              </a:tr>
              <a:tr h="351692">
                <a:tc>
                  <a:txBody>
                    <a:bodyPr wrap="square"/>
                    <a:lstStyle/>
                    <a:p>
                      <a:pPr algn="l"/>
                      <a:r>
                        <a:rPr sz="950" b="1" i="0">
                          <a:solidFill>
                            <a:srgbClr val="FFFFFF"/>
                          </a:solidFill>
                        </a:rPr>
                        <a:t/>
                      </a:r>
                    </a:p>
                  </a:txBody>
                  <a:tcPr>
                    <a:solidFill>
                      <a:srgbClr val="18408C"/>
                    </a:solidFill>
                  </a:tcPr>
                </a:tc>
                <a:tc>
                  <a:txBody>
                    <a:bodyPr wrap="square"/>
                    <a:lstStyle/>
                    <a:p>
                      <a:pPr algn="l"/>
                      <a:r>
                        <a:rPr sz="950" b="1" i="0">
                          <a:solidFill>
                            <a:srgbClr val="FFFFFF"/>
                          </a:solidFill>
                        </a:rPr>
                        <a:t>MEAN</a:t>
                      </a:r>
                    </a:p>
                  </a:txBody>
                  <a:tcPr>
                    <a:solidFill>
                      <a:srgbClr val="18408C"/>
                    </a:solidFill>
                  </a:tcPr>
                </a:tc>
                <a:tc>
                  <a:txBody>
                    <a:bodyPr wrap="square"/>
                    <a:lstStyle/>
                    <a:p>
                      <a:pPr algn="l"/>
                      <a:r>
                        <a:rPr sz="950" b="1" i="0">
                          <a:solidFill>
                            <a:srgbClr val="FFFFFF"/>
                          </a:solidFill>
                        </a:rPr>
                        <a:t/>
                      </a:r>
                    </a:p>
                  </a:txBody>
                  <a:tcPr>
                    <a:solidFill>
                      <a:srgbClr val="18408C"/>
                    </a:solidFill>
                  </a:tcPr>
                </a:tc>
                <a:tc>
                  <a:txBody>
                    <a:bodyPr wrap="square"/>
                    <a:lstStyle/>
                    <a:p>
                      <a:pPr algn="ctr"/>
                      <a:r>
                        <a:rPr sz="950" b="1" i="0">
                          <a:solidFill>
                            <a:srgbClr val="FFFFFF"/>
                          </a:solidFill>
                        </a:rPr>
                        <a:t/>
                      </a:r>
                    </a:p>
                  </a:txBody>
                  <a:tcPr>
                    <a:solidFill>
                      <a:srgbClr val="18408C"/>
                    </a:solidFill>
                  </a:tcPr>
                </a:tc>
                <a:tc>
                  <a:txBody>
                    <a:bodyPr wrap="square"/>
                    <a:lstStyle/>
                    <a:p>
                      <a:pPr algn="ctr"/>
                      <a:r>
                        <a:rPr sz="950" b="1" i="0">
                          <a:solidFill>
                            <a:srgbClr val="FFFFFF"/>
                          </a:solidFill>
                        </a:rPr>
                        <a:t>2.8x</a:t>
                      </a:r>
                    </a:p>
                  </a:txBody>
                  <a:tcPr>
                    <a:solidFill>
                      <a:srgbClr val="18408C"/>
                    </a:solidFill>
                  </a:tcPr>
                </a:tc>
                <a:tc>
                  <a:txBody>
                    <a:bodyPr wrap="square"/>
                    <a:lstStyle/>
                    <a:p>
                      <a:pPr algn="ctr"/>
                      <a:r>
                        <a:rPr sz="950" b="1" i="0">
                          <a:solidFill>
                            <a:srgbClr val="FFFFFF"/>
                          </a:solidFill>
                        </a:rPr>
                        <a:t>12.2x</a:t>
                      </a:r>
                    </a:p>
                  </a:txBody>
                  <a:tcPr>
                    <a:solidFill>
                      <a:srgbClr val="18408C"/>
                    </a:solidFill>
                  </a:tcPr>
                </a:tc>
                <a:tc>
                  <a:txBody>
                    <a:bodyPr wrap="square"/>
                    <a:lstStyle/>
                    <a:p>
                      <a:pPr algn="l"/>
                      <a:r>
                        <a:rPr sz="950" b="1" i="0">
                          <a:solidFill>
                            <a:srgbClr val="FFFFFF"/>
                          </a:solidFill>
                        </a:rPr>
                        <a:t/>
                      </a:r>
                    </a:p>
                  </a:txBody>
                  <a:tcPr>
                    <a:solidFill>
                      <a:srgbClr val="18408C"/>
                    </a:solidFill>
                  </a:tcPr>
                </a:tc>
              </a:tr>
              <a:tr h="351692">
                <a:tc>
                  <a:txBody>
                    <a:bodyPr wrap="square"/>
                    <a:lstStyle/>
                    <a:p>
                      <a:pPr algn="l"/>
                      <a:r>
                        <a:rPr sz="950" b="1" i="0">
                          <a:solidFill>
                            <a:srgbClr val="FFFFFF"/>
                          </a:solidFill>
                        </a:rPr>
                        <a:t/>
                      </a:r>
                    </a:p>
                  </a:txBody>
                  <a:tcPr>
                    <a:solidFill>
                      <a:srgbClr val="18408C"/>
                    </a:solidFill>
                  </a:tcPr>
                </a:tc>
                <a:tc>
                  <a:txBody>
                    <a:bodyPr wrap="square"/>
                    <a:lstStyle/>
                    <a:p>
                      <a:pPr algn="l"/>
                      <a:r>
                        <a:rPr sz="950" b="1" i="0">
                          <a:solidFill>
                            <a:srgbClr val="FFFFFF"/>
                          </a:solidFill>
                        </a:rPr>
                        <a:t>MEDIAN</a:t>
                      </a:r>
                    </a:p>
                  </a:txBody>
                  <a:tcPr>
                    <a:solidFill>
                      <a:srgbClr val="18408C"/>
                    </a:solidFill>
                  </a:tcPr>
                </a:tc>
                <a:tc>
                  <a:txBody>
                    <a:bodyPr wrap="square"/>
                    <a:lstStyle/>
                    <a:p>
                      <a:pPr algn="l"/>
                      <a:r>
                        <a:rPr sz="950" b="1" i="0">
                          <a:solidFill>
                            <a:srgbClr val="FFFFFF"/>
                          </a:solidFill>
                        </a:rPr>
                        <a:t/>
                      </a:r>
                    </a:p>
                  </a:txBody>
                  <a:tcPr>
                    <a:solidFill>
                      <a:srgbClr val="18408C"/>
                    </a:solidFill>
                  </a:tcPr>
                </a:tc>
                <a:tc>
                  <a:txBody>
                    <a:bodyPr wrap="square"/>
                    <a:lstStyle/>
                    <a:p>
                      <a:pPr algn="ctr"/>
                      <a:r>
                        <a:rPr sz="950" b="1" i="0">
                          <a:solidFill>
                            <a:srgbClr val="FFFFFF"/>
                          </a:solidFill>
                        </a:rPr>
                        <a:t/>
                      </a:r>
                    </a:p>
                  </a:txBody>
                  <a:tcPr>
                    <a:solidFill>
                      <a:srgbClr val="18408C"/>
                    </a:solidFill>
                  </a:tcPr>
                </a:tc>
                <a:tc>
                  <a:txBody>
                    <a:bodyPr wrap="square"/>
                    <a:lstStyle/>
                    <a:p>
                      <a:pPr algn="ctr"/>
                      <a:r>
                        <a:rPr sz="950" b="1" i="0">
                          <a:solidFill>
                            <a:srgbClr val="FFFFFF"/>
                          </a:solidFill>
                        </a:rPr>
                        <a:t>2.4x</a:t>
                      </a:r>
                    </a:p>
                  </a:txBody>
                  <a:tcPr>
                    <a:solidFill>
                      <a:srgbClr val="18408C"/>
                    </a:solidFill>
                  </a:tcPr>
                </a:tc>
                <a:tc>
                  <a:txBody>
                    <a:bodyPr wrap="square"/>
                    <a:lstStyle/>
                    <a:p>
                      <a:pPr algn="ctr"/>
                      <a:r>
                        <a:rPr sz="950" b="1" i="0">
                          <a:solidFill>
                            <a:srgbClr val="FFFFFF"/>
                          </a:solidFill>
                        </a:rPr>
                        <a:t>8.8x</a:t>
                      </a:r>
                    </a:p>
                  </a:txBody>
                  <a:tcPr>
                    <a:solidFill>
                      <a:srgbClr val="18408C"/>
                    </a:solidFill>
                  </a:tcPr>
                </a:tc>
                <a:tc>
                  <a:txBody>
                    <a:bodyPr wrap="square"/>
                    <a:lstStyle/>
                    <a:p>
                      <a:pPr algn="l"/>
                      <a:r>
                        <a:rPr sz="950" b="1" i="0">
                          <a:solidFill>
                            <a:srgbClr val="FFFFFF"/>
                          </a:solidFill>
                        </a:rPr>
                        <a:t/>
                      </a:r>
                    </a:p>
                  </a:txBody>
                  <a:tcPr>
                    <a:solidFill>
                      <a:srgbClr val="18408C"/>
                    </a:solidFill>
                  </a:tcPr>
                </a:tc>
              </a:tr>
              <a:tr h="351692">
                <a:tc>
                  <a:txBody>
                    <a:bodyPr wrap="square"/>
                    <a:lstStyle/>
                    <a:p>
                      <a:pPr algn="l"/>
                      <a:r>
                        <a:rPr sz="950" b="1" i="0">
                          <a:solidFill>
                            <a:srgbClr val="FFFFFF"/>
                          </a:solidFill>
                        </a:rPr>
                        <a:t/>
                      </a:r>
                    </a:p>
                  </a:txBody>
                  <a:tcPr>
                    <a:solidFill>
                      <a:srgbClr val="18408C"/>
                    </a:solidFill>
                  </a:tcPr>
                </a:tc>
                <a:tc>
                  <a:txBody>
                    <a:bodyPr wrap="square"/>
                    <a:lstStyle/>
                    <a:p>
                      <a:pPr algn="l"/>
                      <a:r>
                        <a:rPr sz="950" b="1" i="0">
                          <a:solidFill>
                            <a:srgbClr val="FFFFFF"/>
                          </a:solidFill>
                        </a:rPr>
                        <a:t>25th / 75th</a:t>
                      </a:r>
                    </a:p>
                  </a:txBody>
                  <a:tcPr>
                    <a:solidFill>
                      <a:srgbClr val="18408C"/>
                    </a:solidFill>
                  </a:tcPr>
                </a:tc>
                <a:tc>
                  <a:txBody>
                    <a:bodyPr wrap="square"/>
                    <a:lstStyle/>
                    <a:p>
                      <a:pPr algn="l"/>
                      <a:r>
                        <a:rPr sz="950" b="1" i="0">
                          <a:solidFill>
                            <a:srgbClr val="FFFFFF"/>
                          </a:solidFill>
                        </a:rPr>
                        <a:t/>
                      </a:r>
                    </a:p>
                  </a:txBody>
                  <a:tcPr>
                    <a:solidFill>
                      <a:srgbClr val="18408C"/>
                    </a:solidFill>
                  </a:tcPr>
                </a:tc>
                <a:tc>
                  <a:txBody>
                    <a:bodyPr wrap="square"/>
                    <a:lstStyle/>
                    <a:p>
                      <a:pPr algn="ctr"/>
                      <a:r>
                        <a:rPr sz="950" b="1" i="0">
                          <a:solidFill>
                            <a:srgbClr val="FFFFFF"/>
                          </a:solidFill>
                        </a:rPr>
                        <a:t/>
                      </a:r>
                    </a:p>
                  </a:txBody>
                  <a:tcPr>
                    <a:solidFill>
                      <a:srgbClr val="18408C"/>
                    </a:solidFill>
                  </a:tcPr>
                </a:tc>
                <a:tc>
                  <a:txBody>
                    <a:bodyPr wrap="square"/>
                    <a:lstStyle/>
                    <a:p>
                      <a:pPr algn="ctr"/>
                      <a:r>
                        <a:rPr sz="950" b="1" i="0">
                          <a:solidFill>
                            <a:srgbClr val="FFFFFF"/>
                          </a:solidFill>
                        </a:rPr>
                        <a:t>1.4/3.9x</a:t>
                      </a:r>
                    </a:p>
                  </a:txBody>
                  <a:tcPr>
                    <a:solidFill>
                      <a:srgbClr val="18408C"/>
                    </a:solidFill>
                  </a:tcPr>
                </a:tc>
                <a:tc>
                  <a:txBody>
                    <a:bodyPr wrap="square"/>
                    <a:lstStyle/>
                    <a:p>
                      <a:pPr algn="ctr"/>
                      <a:r>
                        <a:rPr sz="950" b="1" i="0">
                          <a:solidFill>
                            <a:srgbClr val="FFFFFF"/>
                          </a:solidFill>
                        </a:rPr>
                        <a:t>7.0/17x</a:t>
                      </a:r>
                    </a:p>
                  </a:txBody>
                  <a:tcPr>
                    <a:solidFill>
                      <a:srgbClr val="18408C"/>
                    </a:solidFill>
                  </a:tcPr>
                </a:tc>
                <a:tc>
                  <a:txBody>
                    <a:bodyPr wrap="square"/>
                    <a:lstStyle/>
                    <a:p>
                      <a:pPr algn="l"/>
                      <a:r>
                        <a:rPr sz="950" b="1" i="0">
                          <a:solidFill>
                            <a:srgbClr val="FFFFFF"/>
                          </a:solidFill>
                        </a:rPr>
                        <a:t/>
                      </a:r>
                    </a:p>
                  </a:txBody>
                  <a:tcPr>
                    <a:solidFill>
                      <a:srgbClr val="18408C"/>
                    </a:solidFill>
                  </a:tcPr>
                </a:tc>
              </a:tr>
              <a:tr h="351696">
                <a:tc>
                  <a:txBody>
                    <a:bodyPr wrap="square"/>
                    <a:lstStyle/>
                    <a:p>
                      <a:pPr algn="l"/>
                      <a:r>
                        <a:rPr sz="950" b="1" i="0">
                          <a:solidFill>
                            <a:srgbClr val="FFFFFF"/>
                          </a:solidFill>
                        </a:rPr>
                        <a:t>Implied</a:t>
                      </a:r>
                    </a:p>
                  </a:txBody>
                  <a:tcPr>
                    <a:solidFill>
                      <a:srgbClr val="0F2044"/>
                    </a:solidFill>
                  </a:tcPr>
                </a:tc>
                <a:tc>
                  <a:txBody>
                    <a:bodyPr wrap="square"/>
                    <a:lstStyle/>
                    <a:p>
                      <a:pPr algn="l"/>
                      <a:r>
                        <a:rPr sz="950" b="1" i="0">
                          <a:solidFill>
                            <a:srgbClr val="FFFFFF"/>
                          </a:solidFill>
                        </a:rPr>
                        <a:t>NFLX / WBD Deal</a:t>
                      </a:r>
                    </a:p>
                  </a:txBody>
                  <a:tcPr>
                    <a:solidFill>
                      <a:srgbClr val="0F2044"/>
                    </a:solidFill>
                  </a:tcPr>
                </a:tc>
                <a:tc>
                  <a:txBody>
                    <a:bodyPr wrap="square"/>
                    <a:lstStyle/>
                    <a:p>
                      <a:pPr algn="l"/>
                      <a:r>
                        <a:rPr sz="950" b="1" i="0">
                          <a:solidFill>
                            <a:srgbClr val="FFFFFF"/>
                          </a:solidFill>
                        </a:rPr>
                        <a:t>$10.00/sh offer</a:t>
                      </a:r>
                    </a:p>
                  </a:txBody>
                  <a:tcPr>
                    <a:solidFill>
                      <a:srgbClr val="0F2044"/>
                    </a:solidFill>
                  </a:tcPr>
                </a:tc>
                <a:tc>
                  <a:txBody>
                    <a:bodyPr wrap="square"/>
                    <a:lstStyle/>
                    <a:p>
                      <a:pPr algn="ctr"/>
                      <a:r>
                        <a:rPr sz="950" b="1" i="0">
                          <a:solidFill>
                            <a:srgbClr val="FFFFFF"/>
                          </a:solidFill>
                        </a:rPr>
                        <a:t>$59.8B</a:t>
                      </a:r>
                    </a:p>
                  </a:txBody>
                  <a:tcPr>
                    <a:solidFill>
                      <a:srgbClr val="0F2044"/>
                    </a:solidFill>
                  </a:tcPr>
                </a:tc>
                <a:tc>
                  <a:txBody>
                    <a:bodyPr wrap="square"/>
                    <a:lstStyle/>
                    <a:p>
                      <a:pPr algn="ctr"/>
                      <a:r>
                        <a:rPr sz="950" b="1" i="0">
                          <a:solidFill>
                            <a:srgbClr val="FFFFFF"/>
                          </a:solidFill>
                        </a:rPr>
                        <a:t>1.5x</a:t>
                      </a:r>
                    </a:p>
                  </a:txBody>
                  <a:tcPr>
                    <a:solidFill>
                      <a:srgbClr val="0F2044"/>
                    </a:solidFill>
                  </a:tcPr>
                </a:tc>
                <a:tc>
                  <a:txBody>
                    <a:bodyPr wrap="square"/>
                    <a:lstStyle/>
                    <a:p>
                      <a:pPr algn="ctr"/>
                      <a:r>
                        <a:rPr sz="950" b="1" i="0">
                          <a:solidFill>
                            <a:srgbClr val="FFFFFF"/>
                          </a:solidFill>
                        </a:rPr>
                        <a:t>6.2x</a:t>
                      </a:r>
                    </a:p>
                  </a:txBody>
                  <a:tcPr>
                    <a:solidFill>
                      <a:srgbClr val="0F2044"/>
                    </a:solidFill>
                  </a:tcPr>
                </a:tc>
                <a:tc>
                  <a:txBody>
                    <a:bodyPr wrap="square"/>
                    <a:lstStyle/>
                    <a:p>
                      <a:pPr algn="l"/>
                      <a:r>
                        <a:rPr sz="950" b="1" i="0">
                          <a:solidFill>
                            <a:srgbClr val="FFFFFF"/>
                          </a:solidFill>
                        </a:rPr>
                        <a:t>At or below median — disciplined pricing</a:t>
                      </a:r>
                    </a:p>
                  </a:txBody>
                  <a:tcPr>
                    <a:solidFill>
                      <a:srgbClr val="0F2044"/>
                    </a:solidFill>
                  </a:tcPr>
                </a:tc>
              </a:tr>
            </a:tbl>
          </a:graphicData>
        </a:graphic>
      </p:graphicFrame>
      <p:sp>
        <p:nvSpPr>
          <p:cNvPr id="8" name="Rectangle 7"/>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¹ Skydance deal includes assumption of ~$14B debt. ² Estimated value. Multiples based on LTM EBITDA at transaction announcement. Source: Public filings, Bloomberg, FactSet M&amp;A database.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Valuation Summary — Football Field Analysis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Implied WBD Equity Value per Share Across Methodologies</a:t>
            </a:r>
          </a:p>
        </p:txBody>
      </p:sp>
      <p:sp>
        <p:nvSpPr>
          <p:cNvPr id="6" name="TextBox 5"/>
          <p:cNvSpPr txBox="1"/>
          <p:nvPr/>
        </p:nvSpPr>
        <p:spPr>
          <a:xfrm>
            <a:off x="320040" y="1170432"/>
            <a:ext cx="7315200" cy="347472"/>
          </a:xfrm>
          <a:prstGeom prst="rect">
            <a:avLst/>
          </a:prstGeom>
          <a:noFill/>
        </p:spPr>
        <p:txBody>
          <a:bodyPr wrap="square">
            <a:spAutoFit/>
          </a:bodyPr>
          <a:lstStyle/>
          <a:p>
            <a:pPr algn="l"/>
            <a:r>
              <a:rPr sz="1300" b="1" i="0">
                <a:solidFill>
                  <a:srgbClr val="1A1A2E"/>
                </a:solidFill>
              </a:rPr>
              <a:t>Implied Value per WBD Share</a:t>
            </a:r>
          </a:p>
        </p:txBody>
      </p:sp>
      <p:sp>
        <p:nvSpPr>
          <p:cNvPr id="7" name="TextBox 6"/>
          <p:cNvSpPr txBox="1"/>
          <p:nvPr/>
        </p:nvSpPr>
        <p:spPr>
          <a:xfrm>
            <a:off x="3474720" y="5989320"/>
            <a:ext cx="365760" cy="292608"/>
          </a:xfrm>
          <a:prstGeom prst="rect">
            <a:avLst/>
          </a:prstGeom>
          <a:noFill/>
        </p:spPr>
        <p:txBody>
          <a:bodyPr wrap="square">
            <a:spAutoFit/>
          </a:bodyPr>
          <a:lstStyle/>
          <a:p>
            <a:pPr algn="ctr"/>
            <a:r>
              <a:rPr sz="900" b="0" i="0">
                <a:solidFill>
                  <a:srgbClr val="8A8A9A"/>
                </a:solidFill>
              </a:rPr>
              <a:t>$0</a:t>
            </a:r>
          </a:p>
        </p:txBody>
      </p:sp>
      <p:sp>
        <p:nvSpPr>
          <p:cNvPr id="8" name="Rectangle 7"/>
          <p:cNvSpPr/>
          <p:nvPr/>
        </p:nvSpPr>
        <p:spPr>
          <a:xfrm>
            <a:off x="365760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840" y="5989320"/>
            <a:ext cx="365760" cy="292608"/>
          </a:xfrm>
          <a:prstGeom prst="rect">
            <a:avLst/>
          </a:prstGeom>
          <a:noFill/>
        </p:spPr>
        <p:txBody>
          <a:bodyPr wrap="square">
            <a:spAutoFit/>
          </a:bodyPr>
          <a:lstStyle/>
          <a:p>
            <a:pPr algn="ctr"/>
            <a:r>
              <a:rPr sz="900" b="0" i="0">
                <a:solidFill>
                  <a:srgbClr val="8A8A9A"/>
                </a:solidFill>
              </a:rPr>
              <a:t>$3</a:t>
            </a:r>
          </a:p>
        </p:txBody>
      </p:sp>
      <p:sp>
        <p:nvSpPr>
          <p:cNvPr id="10" name="Rectangle 9"/>
          <p:cNvSpPr/>
          <p:nvPr/>
        </p:nvSpPr>
        <p:spPr>
          <a:xfrm>
            <a:off x="499872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56960" y="5989320"/>
            <a:ext cx="365760" cy="292608"/>
          </a:xfrm>
          <a:prstGeom prst="rect">
            <a:avLst/>
          </a:prstGeom>
          <a:noFill/>
        </p:spPr>
        <p:txBody>
          <a:bodyPr wrap="square">
            <a:spAutoFit/>
          </a:bodyPr>
          <a:lstStyle/>
          <a:p>
            <a:pPr algn="ctr"/>
            <a:r>
              <a:rPr sz="900" b="0" i="0">
                <a:solidFill>
                  <a:srgbClr val="8A8A9A"/>
                </a:solidFill>
              </a:rPr>
              <a:t>$6</a:t>
            </a:r>
          </a:p>
        </p:txBody>
      </p:sp>
      <p:sp>
        <p:nvSpPr>
          <p:cNvPr id="12" name="Rectangle 11"/>
          <p:cNvSpPr/>
          <p:nvPr/>
        </p:nvSpPr>
        <p:spPr>
          <a:xfrm>
            <a:off x="633984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0" y="5989320"/>
            <a:ext cx="365760" cy="292608"/>
          </a:xfrm>
          <a:prstGeom prst="rect">
            <a:avLst/>
          </a:prstGeom>
          <a:noFill/>
        </p:spPr>
        <p:txBody>
          <a:bodyPr wrap="square">
            <a:spAutoFit/>
          </a:bodyPr>
          <a:lstStyle/>
          <a:p>
            <a:pPr algn="ctr"/>
            <a:r>
              <a:rPr sz="900" b="0" i="0">
                <a:solidFill>
                  <a:srgbClr val="8A8A9A"/>
                </a:solidFill>
              </a:rPr>
              <a:t>$9</a:t>
            </a:r>
          </a:p>
        </p:txBody>
      </p:sp>
      <p:sp>
        <p:nvSpPr>
          <p:cNvPr id="14" name="Rectangle 13"/>
          <p:cNvSpPr/>
          <p:nvPr/>
        </p:nvSpPr>
        <p:spPr>
          <a:xfrm>
            <a:off x="768096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9200" y="5989320"/>
            <a:ext cx="365760" cy="292608"/>
          </a:xfrm>
          <a:prstGeom prst="rect">
            <a:avLst/>
          </a:prstGeom>
          <a:noFill/>
        </p:spPr>
        <p:txBody>
          <a:bodyPr wrap="square">
            <a:spAutoFit/>
          </a:bodyPr>
          <a:lstStyle/>
          <a:p>
            <a:pPr algn="ctr"/>
            <a:r>
              <a:rPr sz="900" b="0" i="0">
                <a:solidFill>
                  <a:srgbClr val="8A8A9A"/>
                </a:solidFill>
              </a:rPr>
              <a:t>$12</a:t>
            </a:r>
          </a:p>
        </p:txBody>
      </p:sp>
      <p:sp>
        <p:nvSpPr>
          <p:cNvPr id="16" name="Rectangle 15"/>
          <p:cNvSpPr/>
          <p:nvPr/>
        </p:nvSpPr>
        <p:spPr>
          <a:xfrm>
            <a:off x="902208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80320" y="5989320"/>
            <a:ext cx="365760" cy="292608"/>
          </a:xfrm>
          <a:prstGeom prst="rect">
            <a:avLst/>
          </a:prstGeom>
          <a:noFill/>
        </p:spPr>
        <p:txBody>
          <a:bodyPr wrap="square">
            <a:spAutoFit/>
          </a:bodyPr>
          <a:lstStyle/>
          <a:p>
            <a:pPr algn="ctr"/>
            <a:r>
              <a:rPr sz="900" b="0" i="0">
                <a:solidFill>
                  <a:srgbClr val="8A8A9A"/>
                </a:solidFill>
              </a:rPr>
              <a:t>$15</a:t>
            </a:r>
          </a:p>
        </p:txBody>
      </p:sp>
      <p:sp>
        <p:nvSpPr>
          <p:cNvPr id="18" name="Rectangle 17"/>
          <p:cNvSpPr/>
          <p:nvPr/>
        </p:nvSpPr>
        <p:spPr>
          <a:xfrm>
            <a:off x="1036320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1440" y="5989320"/>
            <a:ext cx="365760" cy="292608"/>
          </a:xfrm>
          <a:prstGeom prst="rect">
            <a:avLst/>
          </a:prstGeom>
          <a:noFill/>
        </p:spPr>
        <p:txBody>
          <a:bodyPr wrap="square">
            <a:spAutoFit/>
          </a:bodyPr>
          <a:lstStyle/>
          <a:p>
            <a:pPr algn="ctr"/>
            <a:r>
              <a:rPr sz="900" b="0" i="0">
                <a:solidFill>
                  <a:srgbClr val="8A8A9A"/>
                </a:solidFill>
              </a:rPr>
              <a:t>$18</a:t>
            </a:r>
          </a:p>
        </p:txBody>
      </p:sp>
      <p:sp>
        <p:nvSpPr>
          <p:cNvPr id="20" name="Rectangle 19"/>
          <p:cNvSpPr/>
          <p:nvPr/>
        </p:nvSpPr>
        <p:spPr>
          <a:xfrm>
            <a:off x="11704320" y="1536192"/>
            <a:ext cx="7315" cy="4572000"/>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09312" y="1627632"/>
            <a:ext cx="1028191" cy="420624"/>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69232" y="1682496"/>
            <a:ext cx="594360" cy="310896"/>
          </a:xfrm>
          <a:prstGeom prst="rect">
            <a:avLst/>
          </a:prstGeom>
          <a:noFill/>
        </p:spPr>
        <p:txBody>
          <a:bodyPr wrap="square">
            <a:spAutoFit/>
          </a:bodyPr>
          <a:lstStyle/>
          <a:p>
            <a:pPr algn="r"/>
            <a:r>
              <a:rPr sz="950" b="1" i="0">
                <a:solidFill>
                  <a:srgbClr val="8A8A9A"/>
                </a:solidFill>
              </a:rPr>
              <a:t>$2.80</a:t>
            </a:r>
          </a:p>
        </p:txBody>
      </p:sp>
      <p:sp>
        <p:nvSpPr>
          <p:cNvPr id="23" name="TextBox 22"/>
          <p:cNvSpPr txBox="1"/>
          <p:nvPr/>
        </p:nvSpPr>
        <p:spPr>
          <a:xfrm>
            <a:off x="5983224" y="1682496"/>
            <a:ext cx="640080" cy="310896"/>
          </a:xfrm>
          <a:prstGeom prst="rect">
            <a:avLst/>
          </a:prstGeom>
          <a:noFill/>
        </p:spPr>
        <p:txBody>
          <a:bodyPr wrap="square">
            <a:spAutoFit/>
          </a:bodyPr>
          <a:lstStyle/>
          <a:p>
            <a:pPr algn="l"/>
            <a:r>
              <a:rPr sz="950" b="1" i="0">
                <a:solidFill>
                  <a:srgbClr val="8A8A9A"/>
                </a:solidFill>
              </a:rPr>
              <a:t>$5.10</a:t>
            </a:r>
          </a:p>
        </p:txBody>
      </p:sp>
      <p:sp>
        <p:nvSpPr>
          <p:cNvPr id="24" name="TextBox 23"/>
          <p:cNvSpPr txBox="1"/>
          <p:nvPr/>
        </p:nvSpPr>
        <p:spPr>
          <a:xfrm>
            <a:off x="320040" y="1682496"/>
            <a:ext cx="3291840" cy="347472"/>
          </a:xfrm>
          <a:prstGeom prst="rect">
            <a:avLst/>
          </a:prstGeom>
          <a:noFill/>
        </p:spPr>
        <p:txBody>
          <a:bodyPr wrap="square">
            <a:spAutoFit/>
          </a:bodyPr>
          <a:lstStyle/>
          <a:p>
            <a:pPr algn="l"/>
            <a:r>
              <a:rPr sz="1000" b="1" i="0">
                <a:solidFill>
                  <a:srgbClr val="1A1A2E"/>
                </a:solidFill>
              </a:rPr>
              <a:t>52-Week Trading Range</a:t>
            </a:r>
          </a:p>
        </p:txBody>
      </p:sp>
      <p:sp>
        <p:nvSpPr>
          <p:cNvPr id="25" name="TextBox 24"/>
          <p:cNvSpPr txBox="1"/>
          <p:nvPr/>
        </p:nvSpPr>
        <p:spPr>
          <a:xfrm>
            <a:off x="320040" y="2048256"/>
            <a:ext cx="3291840" cy="292608"/>
          </a:xfrm>
          <a:prstGeom prst="rect">
            <a:avLst/>
          </a:prstGeom>
          <a:noFill/>
        </p:spPr>
        <p:txBody>
          <a:bodyPr wrap="square">
            <a:spAutoFit/>
          </a:bodyPr>
          <a:lstStyle/>
          <a:p>
            <a:pPr algn="l"/>
            <a:r>
              <a:rPr sz="900" b="0" i="1">
                <a:solidFill>
                  <a:srgbClr val="8A8A9A"/>
                </a:solidFill>
              </a:rPr>
              <a:t>Undisturbed: $3.55</a:t>
            </a:r>
          </a:p>
        </p:txBody>
      </p:sp>
      <p:sp>
        <p:nvSpPr>
          <p:cNvPr id="26" name="Rectangle 25"/>
          <p:cNvSpPr/>
          <p:nvPr/>
        </p:nvSpPr>
        <p:spPr>
          <a:xfrm>
            <a:off x="6563360" y="2322576"/>
            <a:ext cx="2682240" cy="42062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23280" y="2377440"/>
            <a:ext cx="594360" cy="310896"/>
          </a:xfrm>
          <a:prstGeom prst="rect">
            <a:avLst/>
          </a:prstGeom>
          <a:noFill/>
        </p:spPr>
        <p:txBody>
          <a:bodyPr wrap="square">
            <a:spAutoFit/>
          </a:bodyPr>
          <a:lstStyle/>
          <a:p>
            <a:pPr algn="r"/>
            <a:r>
              <a:rPr sz="950" b="1" i="0">
                <a:solidFill>
                  <a:srgbClr val="007B83"/>
                </a:solidFill>
              </a:rPr>
              <a:t>$6.50</a:t>
            </a:r>
          </a:p>
        </p:txBody>
      </p:sp>
      <p:sp>
        <p:nvSpPr>
          <p:cNvPr id="28" name="TextBox 27"/>
          <p:cNvSpPr txBox="1"/>
          <p:nvPr/>
        </p:nvSpPr>
        <p:spPr>
          <a:xfrm>
            <a:off x="9291320" y="2377440"/>
            <a:ext cx="640080" cy="310896"/>
          </a:xfrm>
          <a:prstGeom prst="rect">
            <a:avLst/>
          </a:prstGeom>
          <a:noFill/>
        </p:spPr>
        <p:txBody>
          <a:bodyPr wrap="square">
            <a:spAutoFit/>
          </a:bodyPr>
          <a:lstStyle/>
          <a:p>
            <a:pPr algn="l"/>
            <a:r>
              <a:rPr sz="950" b="1" i="0">
                <a:solidFill>
                  <a:srgbClr val="007B83"/>
                </a:solidFill>
              </a:rPr>
              <a:t>$12.50</a:t>
            </a:r>
          </a:p>
        </p:txBody>
      </p:sp>
      <p:sp>
        <p:nvSpPr>
          <p:cNvPr id="29" name="TextBox 28"/>
          <p:cNvSpPr txBox="1"/>
          <p:nvPr/>
        </p:nvSpPr>
        <p:spPr>
          <a:xfrm>
            <a:off x="320040" y="2377440"/>
            <a:ext cx="3291840" cy="347472"/>
          </a:xfrm>
          <a:prstGeom prst="rect">
            <a:avLst/>
          </a:prstGeom>
          <a:noFill/>
        </p:spPr>
        <p:txBody>
          <a:bodyPr wrap="square">
            <a:spAutoFit/>
          </a:bodyPr>
          <a:lstStyle/>
          <a:p>
            <a:pPr algn="l"/>
            <a:r>
              <a:rPr sz="1000" b="1" i="0">
                <a:solidFill>
                  <a:srgbClr val="1A1A2E"/>
                </a:solidFill>
              </a:rPr>
              <a:t>Trading Comps — EV/EBITDA</a:t>
            </a:r>
          </a:p>
        </p:txBody>
      </p:sp>
      <p:sp>
        <p:nvSpPr>
          <p:cNvPr id="30" name="TextBox 29"/>
          <p:cNvSpPr txBox="1"/>
          <p:nvPr/>
        </p:nvSpPr>
        <p:spPr>
          <a:xfrm>
            <a:off x="320040" y="2743200"/>
            <a:ext cx="3291840" cy="292608"/>
          </a:xfrm>
          <a:prstGeom prst="rect">
            <a:avLst/>
          </a:prstGeom>
          <a:noFill/>
        </p:spPr>
        <p:txBody>
          <a:bodyPr wrap="square">
            <a:spAutoFit/>
          </a:bodyPr>
          <a:lstStyle/>
          <a:p>
            <a:pPr algn="l"/>
            <a:r>
              <a:rPr sz="900" b="0" i="1">
                <a:solidFill>
                  <a:srgbClr val="8A8A9A"/>
                </a:solidFill>
              </a:rPr>
              <a:t>4.6–7.5x NTM EBITDA comps</a:t>
            </a:r>
          </a:p>
        </p:txBody>
      </p:sp>
      <p:sp>
        <p:nvSpPr>
          <p:cNvPr id="31" name="Rectangle 30"/>
          <p:cNvSpPr/>
          <p:nvPr/>
        </p:nvSpPr>
        <p:spPr>
          <a:xfrm>
            <a:off x="5892800" y="3017520"/>
            <a:ext cx="2011680" cy="420624"/>
          </a:xfrm>
          <a:prstGeom prst="rect">
            <a:avLst/>
          </a:prstGeom>
          <a:solidFill>
            <a:srgbClr val="184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2720" y="3072384"/>
            <a:ext cx="594360" cy="310896"/>
          </a:xfrm>
          <a:prstGeom prst="rect">
            <a:avLst/>
          </a:prstGeom>
          <a:noFill/>
        </p:spPr>
        <p:txBody>
          <a:bodyPr wrap="square">
            <a:spAutoFit/>
          </a:bodyPr>
          <a:lstStyle/>
          <a:p>
            <a:pPr algn="r"/>
            <a:r>
              <a:rPr sz="950" b="1" i="0">
                <a:solidFill>
                  <a:srgbClr val="18408C"/>
                </a:solidFill>
              </a:rPr>
              <a:t>$5.00</a:t>
            </a:r>
          </a:p>
        </p:txBody>
      </p:sp>
      <p:sp>
        <p:nvSpPr>
          <p:cNvPr id="33" name="TextBox 32"/>
          <p:cNvSpPr txBox="1"/>
          <p:nvPr/>
        </p:nvSpPr>
        <p:spPr>
          <a:xfrm>
            <a:off x="7950200" y="3072384"/>
            <a:ext cx="640080" cy="310896"/>
          </a:xfrm>
          <a:prstGeom prst="rect">
            <a:avLst/>
          </a:prstGeom>
          <a:noFill/>
        </p:spPr>
        <p:txBody>
          <a:bodyPr wrap="square">
            <a:spAutoFit/>
          </a:bodyPr>
          <a:lstStyle/>
          <a:p>
            <a:pPr algn="l"/>
            <a:r>
              <a:rPr sz="950" b="1" i="0">
                <a:solidFill>
                  <a:srgbClr val="18408C"/>
                </a:solidFill>
              </a:rPr>
              <a:t>$9.50</a:t>
            </a:r>
          </a:p>
        </p:txBody>
      </p:sp>
      <p:sp>
        <p:nvSpPr>
          <p:cNvPr id="34" name="TextBox 33"/>
          <p:cNvSpPr txBox="1"/>
          <p:nvPr/>
        </p:nvSpPr>
        <p:spPr>
          <a:xfrm>
            <a:off x="320040" y="3072384"/>
            <a:ext cx="3291840" cy="347472"/>
          </a:xfrm>
          <a:prstGeom prst="rect">
            <a:avLst/>
          </a:prstGeom>
          <a:noFill/>
        </p:spPr>
        <p:txBody>
          <a:bodyPr wrap="square">
            <a:spAutoFit/>
          </a:bodyPr>
          <a:lstStyle/>
          <a:p>
            <a:pPr algn="l"/>
            <a:r>
              <a:rPr sz="1000" b="1" i="0">
                <a:solidFill>
                  <a:srgbClr val="1A1A2E"/>
                </a:solidFill>
              </a:rPr>
              <a:t>Trading Comps — EV/Revenue</a:t>
            </a:r>
          </a:p>
        </p:txBody>
      </p:sp>
      <p:sp>
        <p:nvSpPr>
          <p:cNvPr id="35" name="TextBox 34"/>
          <p:cNvSpPr txBox="1"/>
          <p:nvPr/>
        </p:nvSpPr>
        <p:spPr>
          <a:xfrm>
            <a:off x="320040" y="3438144"/>
            <a:ext cx="3291840" cy="292608"/>
          </a:xfrm>
          <a:prstGeom prst="rect">
            <a:avLst/>
          </a:prstGeom>
          <a:noFill/>
        </p:spPr>
        <p:txBody>
          <a:bodyPr wrap="square">
            <a:spAutoFit/>
          </a:bodyPr>
          <a:lstStyle/>
          <a:p>
            <a:pPr algn="l"/>
            <a:r>
              <a:rPr sz="900" b="0" i="1">
                <a:solidFill>
                  <a:srgbClr val="8A8A9A"/>
                </a:solidFill>
              </a:rPr>
              <a:t>0.8–1.5x comparable revenue</a:t>
            </a:r>
          </a:p>
        </p:txBody>
      </p:sp>
      <p:sp>
        <p:nvSpPr>
          <p:cNvPr id="36" name="Rectangle 35"/>
          <p:cNvSpPr/>
          <p:nvPr/>
        </p:nvSpPr>
        <p:spPr>
          <a:xfrm>
            <a:off x="7010400" y="3712464"/>
            <a:ext cx="2905760" cy="420624"/>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70320" y="3767328"/>
            <a:ext cx="594360" cy="310896"/>
          </a:xfrm>
          <a:prstGeom prst="rect">
            <a:avLst/>
          </a:prstGeom>
          <a:noFill/>
        </p:spPr>
        <p:txBody>
          <a:bodyPr wrap="square">
            <a:spAutoFit/>
          </a:bodyPr>
          <a:lstStyle/>
          <a:p>
            <a:pPr algn="r"/>
            <a:r>
              <a:rPr sz="950" b="1" i="0">
                <a:solidFill>
                  <a:srgbClr val="6A0DAD"/>
                </a:solidFill>
              </a:rPr>
              <a:t>$7.50</a:t>
            </a:r>
          </a:p>
        </p:txBody>
      </p:sp>
      <p:sp>
        <p:nvSpPr>
          <p:cNvPr id="38" name="TextBox 37"/>
          <p:cNvSpPr txBox="1"/>
          <p:nvPr/>
        </p:nvSpPr>
        <p:spPr>
          <a:xfrm>
            <a:off x="9961880" y="3767328"/>
            <a:ext cx="640080" cy="310896"/>
          </a:xfrm>
          <a:prstGeom prst="rect">
            <a:avLst/>
          </a:prstGeom>
          <a:noFill/>
        </p:spPr>
        <p:txBody>
          <a:bodyPr wrap="square">
            <a:spAutoFit/>
          </a:bodyPr>
          <a:lstStyle/>
          <a:p>
            <a:pPr algn="l"/>
            <a:r>
              <a:rPr sz="950" b="1" i="0">
                <a:solidFill>
                  <a:srgbClr val="6A0DAD"/>
                </a:solidFill>
              </a:rPr>
              <a:t>$14.00</a:t>
            </a:r>
          </a:p>
        </p:txBody>
      </p:sp>
      <p:sp>
        <p:nvSpPr>
          <p:cNvPr id="39" name="TextBox 38"/>
          <p:cNvSpPr txBox="1"/>
          <p:nvPr/>
        </p:nvSpPr>
        <p:spPr>
          <a:xfrm>
            <a:off x="320040" y="3767328"/>
            <a:ext cx="3291840" cy="347472"/>
          </a:xfrm>
          <a:prstGeom prst="rect">
            <a:avLst/>
          </a:prstGeom>
          <a:noFill/>
        </p:spPr>
        <p:txBody>
          <a:bodyPr wrap="square">
            <a:spAutoFit/>
          </a:bodyPr>
          <a:lstStyle/>
          <a:p>
            <a:pPr algn="l"/>
            <a:r>
              <a:rPr sz="1000" b="1" i="0">
                <a:solidFill>
                  <a:srgbClr val="1A1A2E"/>
                </a:solidFill>
              </a:rPr>
              <a:t>Precedent Txns — EV/EBITDA</a:t>
            </a:r>
          </a:p>
        </p:txBody>
      </p:sp>
      <p:sp>
        <p:nvSpPr>
          <p:cNvPr id="40" name="TextBox 39"/>
          <p:cNvSpPr txBox="1"/>
          <p:nvPr/>
        </p:nvSpPr>
        <p:spPr>
          <a:xfrm>
            <a:off x="320040" y="4133088"/>
            <a:ext cx="3291840" cy="292608"/>
          </a:xfrm>
          <a:prstGeom prst="rect">
            <a:avLst/>
          </a:prstGeom>
          <a:noFill/>
        </p:spPr>
        <p:txBody>
          <a:bodyPr wrap="square">
            <a:spAutoFit/>
          </a:bodyPr>
          <a:lstStyle/>
          <a:p>
            <a:pPr algn="l"/>
            <a:r>
              <a:rPr sz="900" b="0" i="1">
                <a:solidFill>
                  <a:srgbClr val="8A8A9A"/>
                </a:solidFill>
              </a:rPr>
              <a:t>6–12x median precedent range</a:t>
            </a:r>
          </a:p>
        </p:txBody>
      </p:sp>
      <p:sp>
        <p:nvSpPr>
          <p:cNvPr id="41" name="Rectangle 40"/>
          <p:cNvSpPr/>
          <p:nvPr/>
        </p:nvSpPr>
        <p:spPr>
          <a:xfrm>
            <a:off x="6786880" y="4407408"/>
            <a:ext cx="2905760" cy="420624"/>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6800" y="4462272"/>
            <a:ext cx="594360" cy="310896"/>
          </a:xfrm>
          <a:prstGeom prst="rect">
            <a:avLst/>
          </a:prstGeom>
          <a:noFill/>
        </p:spPr>
        <p:txBody>
          <a:bodyPr wrap="square">
            <a:spAutoFit/>
          </a:bodyPr>
          <a:lstStyle/>
          <a:p>
            <a:pPr algn="r"/>
            <a:r>
              <a:rPr sz="950" b="1" i="0">
                <a:solidFill>
                  <a:srgbClr val="008A48"/>
                </a:solidFill>
              </a:rPr>
              <a:t>$7.00</a:t>
            </a:r>
          </a:p>
        </p:txBody>
      </p:sp>
      <p:sp>
        <p:nvSpPr>
          <p:cNvPr id="43" name="TextBox 42"/>
          <p:cNvSpPr txBox="1"/>
          <p:nvPr/>
        </p:nvSpPr>
        <p:spPr>
          <a:xfrm>
            <a:off x="9738360" y="4462272"/>
            <a:ext cx="640080" cy="310896"/>
          </a:xfrm>
          <a:prstGeom prst="rect">
            <a:avLst/>
          </a:prstGeom>
          <a:noFill/>
        </p:spPr>
        <p:txBody>
          <a:bodyPr wrap="square">
            <a:spAutoFit/>
          </a:bodyPr>
          <a:lstStyle/>
          <a:p>
            <a:pPr algn="l"/>
            <a:r>
              <a:rPr sz="950" b="1" i="0">
                <a:solidFill>
                  <a:srgbClr val="008A48"/>
                </a:solidFill>
              </a:rPr>
              <a:t>$13.50</a:t>
            </a:r>
          </a:p>
        </p:txBody>
      </p:sp>
      <p:sp>
        <p:nvSpPr>
          <p:cNvPr id="44" name="TextBox 43"/>
          <p:cNvSpPr txBox="1"/>
          <p:nvPr/>
        </p:nvSpPr>
        <p:spPr>
          <a:xfrm>
            <a:off x="320040" y="4462272"/>
            <a:ext cx="3291840" cy="347472"/>
          </a:xfrm>
          <a:prstGeom prst="rect">
            <a:avLst/>
          </a:prstGeom>
          <a:noFill/>
        </p:spPr>
        <p:txBody>
          <a:bodyPr wrap="square">
            <a:spAutoFit/>
          </a:bodyPr>
          <a:lstStyle/>
          <a:p>
            <a:pPr algn="l"/>
            <a:r>
              <a:rPr sz="1000" b="1" i="0">
                <a:solidFill>
                  <a:srgbClr val="1A1A2E"/>
                </a:solidFill>
              </a:rPr>
              <a:t>DCF Analysis</a:t>
            </a:r>
          </a:p>
        </p:txBody>
      </p:sp>
      <p:sp>
        <p:nvSpPr>
          <p:cNvPr id="45" name="TextBox 44"/>
          <p:cNvSpPr txBox="1"/>
          <p:nvPr/>
        </p:nvSpPr>
        <p:spPr>
          <a:xfrm>
            <a:off x="320040" y="4828032"/>
            <a:ext cx="3291840" cy="292608"/>
          </a:xfrm>
          <a:prstGeom prst="rect">
            <a:avLst/>
          </a:prstGeom>
          <a:noFill/>
        </p:spPr>
        <p:txBody>
          <a:bodyPr wrap="square">
            <a:spAutoFit/>
          </a:bodyPr>
          <a:lstStyle/>
          <a:p>
            <a:pPr algn="l"/>
            <a:r>
              <a:rPr sz="900" b="0" i="1">
                <a:solidFill>
                  <a:srgbClr val="8A8A9A"/>
                </a:solidFill>
              </a:rPr>
              <a:t>WACC 7.5–9.5%, TGR 2–4%</a:t>
            </a:r>
          </a:p>
        </p:txBody>
      </p:sp>
      <p:sp>
        <p:nvSpPr>
          <p:cNvPr id="46" name="Rectangle 45"/>
          <p:cNvSpPr/>
          <p:nvPr/>
        </p:nvSpPr>
        <p:spPr>
          <a:xfrm>
            <a:off x="7233920" y="5102352"/>
            <a:ext cx="3129280" cy="420624"/>
          </a:xfrm>
          <a:prstGeom prst="rect">
            <a:avLst/>
          </a:prstGeom>
          <a:solidFill>
            <a:srgbClr val="FF9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93840" y="5157216"/>
            <a:ext cx="594360" cy="310896"/>
          </a:xfrm>
          <a:prstGeom prst="rect">
            <a:avLst/>
          </a:prstGeom>
          <a:noFill/>
        </p:spPr>
        <p:txBody>
          <a:bodyPr wrap="square">
            <a:spAutoFit/>
          </a:bodyPr>
          <a:lstStyle/>
          <a:p>
            <a:pPr algn="r"/>
            <a:r>
              <a:rPr sz="950" b="1" i="0">
                <a:solidFill>
                  <a:srgbClr val="FF9500"/>
                </a:solidFill>
              </a:rPr>
              <a:t>$8.00</a:t>
            </a:r>
          </a:p>
        </p:txBody>
      </p:sp>
      <p:sp>
        <p:nvSpPr>
          <p:cNvPr id="48" name="TextBox 47"/>
          <p:cNvSpPr txBox="1"/>
          <p:nvPr/>
        </p:nvSpPr>
        <p:spPr>
          <a:xfrm>
            <a:off x="10408920" y="5157216"/>
            <a:ext cx="640080" cy="310896"/>
          </a:xfrm>
          <a:prstGeom prst="rect">
            <a:avLst/>
          </a:prstGeom>
          <a:noFill/>
        </p:spPr>
        <p:txBody>
          <a:bodyPr wrap="square">
            <a:spAutoFit/>
          </a:bodyPr>
          <a:lstStyle/>
          <a:p>
            <a:pPr algn="l"/>
            <a:r>
              <a:rPr sz="950" b="1" i="0">
                <a:solidFill>
                  <a:srgbClr val="FF9500"/>
                </a:solidFill>
              </a:rPr>
              <a:t>$15.00</a:t>
            </a:r>
          </a:p>
        </p:txBody>
      </p:sp>
      <p:sp>
        <p:nvSpPr>
          <p:cNvPr id="49" name="TextBox 48"/>
          <p:cNvSpPr txBox="1"/>
          <p:nvPr/>
        </p:nvSpPr>
        <p:spPr>
          <a:xfrm>
            <a:off x="320040" y="5157216"/>
            <a:ext cx="3291840" cy="347472"/>
          </a:xfrm>
          <a:prstGeom prst="rect">
            <a:avLst/>
          </a:prstGeom>
          <a:noFill/>
        </p:spPr>
        <p:txBody>
          <a:bodyPr wrap="square">
            <a:spAutoFit/>
          </a:bodyPr>
          <a:lstStyle/>
          <a:p>
            <a:pPr algn="l"/>
            <a:r>
              <a:rPr sz="1000" b="1" i="0">
                <a:solidFill>
                  <a:srgbClr val="1A1A2E"/>
                </a:solidFill>
              </a:rPr>
              <a:t>Sum-of-Parts (ex-Optionality)</a:t>
            </a:r>
          </a:p>
        </p:txBody>
      </p:sp>
      <p:sp>
        <p:nvSpPr>
          <p:cNvPr id="50" name="TextBox 49"/>
          <p:cNvSpPr txBox="1"/>
          <p:nvPr/>
        </p:nvSpPr>
        <p:spPr>
          <a:xfrm>
            <a:off x="320040" y="5522976"/>
            <a:ext cx="3291840" cy="292608"/>
          </a:xfrm>
          <a:prstGeom prst="rect">
            <a:avLst/>
          </a:prstGeom>
          <a:noFill/>
        </p:spPr>
        <p:txBody>
          <a:bodyPr wrap="square">
            <a:spAutoFit/>
          </a:bodyPr>
          <a:lstStyle/>
          <a:p>
            <a:pPr algn="l"/>
            <a:r>
              <a:rPr sz="900" b="0" i="1">
                <a:solidFill>
                  <a:srgbClr val="8A8A9A"/>
                </a:solidFill>
              </a:rPr>
              <a:t>Asset value vs. EV gap</a:t>
            </a:r>
          </a:p>
        </p:txBody>
      </p:sp>
      <p:sp>
        <p:nvSpPr>
          <p:cNvPr id="51" name="Rectangle 50"/>
          <p:cNvSpPr/>
          <p:nvPr/>
        </p:nvSpPr>
        <p:spPr>
          <a:xfrm>
            <a:off x="8109712" y="1508760"/>
            <a:ext cx="36576" cy="4645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30720" y="6199632"/>
            <a:ext cx="2468880" cy="347472"/>
          </a:xfrm>
          <a:prstGeom prst="rect">
            <a:avLst/>
          </a:prstGeom>
          <a:noFill/>
        </p:spPr>
        <p:txBody>
          <a:bodyPr wrap="square">
            <a:spAutoFit/>
          </a:bodyPr>
          <a:lstStyle/>
          <a:p>
            <a:pPr algn="ctr"/>
            <a:r>
              <a:rPr sz="1050" b="1" i="0">
                <a:solidFill>
                  <a:srgbClr val="E50914"/>
                </a:solidFill>
              </a:rPr>
              <a:t>Proposed Offer: $10.00/sh</a:t>
            </a:r>
          </a:p>
        </p:txBody>
      </p:sp>
      <p:sp>
        <p:nvSpPr>
          <p:cNvPr id="53" name="Rectangle 52"/>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Football field shows range of implied equity values per WBD share. DCF uses 5-year UFCF projection with terminal value. Proposed offer of $10.00/sh falls within or above all analytical ranges.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Pro Forma Financial Summary</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Combined Entity: $78B Revenue, $24B EBITDA, and Rapid Deleverage Profile</a:t>
            </a:r>
          </a:p>
        </p:txBody>
      </p:sp>
      <p:sp>
        <p:nvSpPr>
          <p:cNvPr id="6" name="Rectangle 5"/>
          <p:cNvSpPr/>
          <p:nvPr/>
        </p:nvSpPr>
        <p:spPr>
          <a:xfrm>
            <a:off x="320040"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71600"/>
            <a:ext cx="1828800" cy="658368"/>
          </a:xfrm>
          <a:prstGeom prst="rect">
            <a:avLst/>
          </a:prstGeom>
          <a:noFill/>
        </p:spPr>
        <p:txBody>
          <a:bodyPr wrap="square">
            <a:spAutoFit/>
          </a:bodyPr>
          <a:lstStyle/>
          <a:p>
            <a:pPr algn="ctr"/>
            <a:r>
              <a:rPr sz="2400" b="1" i="0">
                <a:solidFill>
                  <a:srgbClr val="0F2044"/>
                </a:solidFill>
              </a:rPr>
              <a:t>$78.3B</a:t>
            </a:r>
          </a:p>
        </p:txBody>
      </p:sp>
      <p:sp>
        <p:nvSpPr>
          <p:cNvPr id="9" name="TextBox 8"/>
          <p:cNvSpPr txBox="1"/>
          <p:nvPr/>
        </p:nvSpPr>
        <p:spPr>
          <a:xfrm>
            <a:off x="320040" y="2029968"/>
            <a:ext cx="1828800" cy="384048"/>
          </a:xfrm>
          <a:prstGeom prst="rect">
            <a:avLst/>
          </a:prstGeom>
          <a:noFill/>
        </p:spPr>
        <p:txBody>
          <a:bodyPr wrap="square">
            <a:spAutoFit/>
          </a:bodyPr>
          <a:lstStyle/>
          <a:p>
            <a:pPr algn="ctr"/>
            <a:r>
              <a:rPr sz="1000" b="0" i="0">
                <a:solidFill>
                  <a:srgbClr val="8A8A9A"/>
                </a:solidFill>
              </a:rPr>
              <a:t>PF FY2024 Combined
Revenue</a:t>
            </a:r>
          </a:p>
        </p:txBody>
      </p:sp>
      <p:sp>
        <p:nvSpPr>
          <p:cNvPr id="10" name="Rectangle 9"/>
          <p:cNvSpPr/>
          <p:nvPr/>
        </p:nvSpPr>
        <p:spPr>
          <a:xfrm>
            <a:off x="2258568"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58568"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1371600"/>
            <a:ext cx="1828800" cy="658368"/>
          </a:xfrm>
          <a:prstGeom prst="rect">
            <a:avLst/>
          </a:prstGeom>
          <a:noFill/>
        </p:spPr>
        <p:txBody>
          <a:bodyPr wrap="square">
            <a:spAutoFit/>
          </a:bodyPr>
          <a:lstStyle/>
          <a:p>
            <a:pPr algn="ctr"/>
            <a:r>
              <a:rPr sz="2400" b="1" i="0">
                <a:solidFill>
                  <a:srgbClr val="0F2044"/>
                </a:solidFill>
              </a:rPr>
              <a:t>$20.1B</a:t>
            </a:r>
          </a:p>
        </p:txBody>
      </p:sp>
      <p:sp>
        <p:nvSpPr>
          <p:cNvPr id="13" name="TextBox 12"/>
          <p:cNvSpPr txBox="1"/>
          <p:nvPr/>
        </p:nvSpPr>
        <p:spPr>
          <a:xfrm>
            <a:off x="2258568" y="2029968"/>
            <a:ext cx="1828800" cy="384048"/>
          </a:xfrm>
          <a:prstGeom prst="rect">
            <a:avLst/>
          </a:prstGeom>
          <a:noFill/>
        </p:spPr>
        <p:txBody>
          <a:bodyPr wrap="square">
            <a:spAutoFit/>
          </a:bodyPr>
          <a:lstStyle/>
          <a:p>
            <a:pPr algn="ctr"/>
            <a:r>
              <a:rPr sz="1000" b="0" i="0">
                <a:solidFill>
                  <a:srgbClr val="8A8A9A"/>
                </a:solidFill>
              </a:rPr>
              <a:t>PF FY2024 Combined
Adj. EBITDA (pre-syn)</a:t>
            </a:r>
          </a:p>
        </p:txBody>
      </p:sp>
      <p:sp>
        <p:nvSpPr>
          <p:cNvPr id="14" name="Rectangle 13"/>
          <p:cNvSpPr/>
          <p:nvPr/>
        </p:nvSpPr>
        <p:spPr>
          <a:xfrm>
            <a:off x="4197096"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97096" y="1371600"/>
            <a:ext cx="1828800" cy="658368"/>
          </a:xfrm>
          <a:prstGeom prst="rect">
            <a:avLst/>
          </a:prstGeom>
          <a:noFill/>
        </p:spPr>
        <p:txBody>
          <a:bodyPr wrap="square">
            <a:spAutoFit/>
          </a:bodyPr>
          <a:lstStyle/>
          <a:p>
            <a:pPr algn="ctr"/>
            <a:r>
              <a:rPr sz="2400" b="1" i="0">
                <a:solidFill>
                  <a:srgbClr val="0F2044"/>
                </a:solidFill>
              </a:rPr>
              <a:t>$24.1B</a:t>
            </a:r>
          </a:p>
        </p:txBody>
      </p:sp>
      <p:sp>
        <p:nvSpPr>
          <p:cNvPr id="17" name="TextBox 16"/>
          <p:cNvSpPr txBox="1"/>
          <p:nvPr/>
        </p:nvSpPr>
        <p:spPr>
          <a:xfrm>
            <a:off x="4197096" y="2029968"/>
            <a:ext cx="1828800" cy="384048"/>
          </a:xfrm>
          <a:prstGeom prst="rect">
            <a:avLst/>
          </a:prstGeom>
          <a:noFill/>
        </p:spPr>
        <p:txBody>
          <a:bodyPr wrap="square">
            <a:spAutoFit/>
          </a:bodyPr>
          <a:lstStyle/>
          <a:p>
            <a:pPr algn="ctr"/>
            <a:r>
              <a:rPr sz="1000" b="0" i="0">
                <a:solidFill>
                  <a:srgbClr val="8A8A9A"/>
                </a:solidFill>
              </a:rPr>
              <a:t>PF FY2025E EBITDA
(incl. $4B synergies Yr1)</a:t>
            </a:r>
          </a:p>
        </p:txBody>
      </p:sp>
      <p:sp>
        <p:nvSpPr>
          <p:cNvPr id="18" name="Rectangle 17"/>
          <p:cNvSpPr/>
          <p:nvPr/>
        </p:nvSpPr>
        <p:spPr>
          <a:xfrm>
            <a:off x="6135624"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2359152"/>
            <a:ext cx="1828800" cy="54864"/>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371600"/>
            <a:ext cx="1828800" cy="658368"/>
          </a:xfrm>
          <a:prstGeom prst="rect">
            <a:avLst/>
          </a:prstGeom>
          <a:noFill/>
        </p:spPr>
        <p:txBody>
          <a:bodyPr wrap="square">
            <a:spAutoFit/>
          </a:bodyPr>
          <a:lstStyle/>
          <a:p>
            <a:pPr algn="ctr"/>
            <a:r>
              <a:rPr sz="2400" b="1" i="0">
                <a:solidFill>
                  <a:srgbClr val="0F2044"/>
                </a:solidFill>
              </a:rPr>
              <a:t>$9.0B</a:t>
            </a:r>
          </a:p>
        </p:txBody>
      </p:sp>
      <p:sp>
        <p:nvSpPr>
          <p:cNvPr id="21" name="TextBox 20"/>
          <p:cNvSpPr txBox="1"/>
          <p:nvPr/>
        </p:nvSpPr>
        <p:spPr>
          <a:xfrm>
            <a:off x="6135624" y="2029968"/>
            <a:ext cx="1828800" cy="384048"/>
          </a:xfrm>
          <a:prstGeom prst="rect">
            <a:avLst/>
          </a:prstGeom>
          <a:noFill/>
        </p:spPr>
        <p:txBody>
          <a:bodyPr wrap="square">
            <a:spAutoFit/>
          </a:bodyPr>
          <a:lstStyle/>
          <a:p>
            <a:pPr algn="ctr"/>
            <a:r>
              <a:rPr sz="1000" b="0" i="0">
                <a:solidFill>
                  <a:srgbClr val="8A8A9A"/>
                </a:solidFill>
              </a:rPr>
              <a:t>PF Year 1
FCF Estimate</a:t>
            </a:r>
          </a:p>
        </p:txBody>
      </p:sp>
      <p:sp>
        <p:nvSpPr>
          <p:cNvPr id="22" name="Rectangle 21"/>
          <p:cNvSpPr/>
          <p:nvPr/>
        </p:nvSpPr>
        <p:spPr>
          <a:xfrm>
            <a:off x="8074152"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359152"/>
            <a:ext cx="182880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1371600"/>
            <a:ext cx="1828800" cy="658368"/>
          </a:xfrm>
          <a:prstGeom prst="rect">
            <a:avLst/>
          </a:prstGeom>
          <a:noFill/>
        </p:spPr>
        <p:txBody>
          <a:bodyPr wrap="square">
            <a:spAutoFit/>
          </a:bodyPr>
          <a:lstStyle/>
          <a:p>
            <a:pPr algn="ctr"/>
            <a:r>
              <a:rPr sz="2400" b="1" i="0">
                <a:solidFill>
                  <a:srgbClr val="CC0000"/>
                </a:solidFill>
              </a:rPr>
              <a:t>2.9x</a:t>
            </a:r>
          </a:p>
        </p:txBody>
      </p:sp>
      <p:sp>
        <p:nvSpPr>
          <p:cNvPr id="25" name="TextBox 24"/>
          <p:cNvSpPr txBox="1"/>
          <p:nvPr/>
        </p:nvSpPr>
        <p:spPr>
          <a:xfrm>
            <a:off x="8074152" y="2029968"/>
            <a:ext cx="1828800" cy="384048"/>
          </a:xfrm>
          <a:prstGeom prst="rect">
            <a:avLst/>
          </a:prstGeom>
          <a:noFill/>
        </p:spPr>
        <p:txBody>
          <a:bodyPr wrap="square">
            <a:spAutoFit/>
          </a:bodyPr>
          <a:lstStyle/>
          <a:p>
            <a:pPr algn="ctr"/>
            <a:r>
              <a:rPr sz="1000" b="0" i="0">
                <a:solidFill>
                  <a:srgbClr val="8A8A9A"/>
                </a:solidFill>
              </a:rPr>
              <a:t>PF Net Leverage
(EBITDA excl. synergies)</a:t>
            </a:r>
          </a:p>
        </p:txBody>
      </p:sp>
      <p:sp>
        <p:nvSpPr>
          <p:cNvPr id="26" name="Rectangle 25"/>
          <p:cNvSpPr/>
          <p:nvPr/>
        </p:nvSpPr>
        <p:spPr>
          <a:xfrm>
            <a:off x="10012680" y="1207008"/>
            <a:ext cx="1828800" cy="1207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12680" y="2359152"/>
            <a:ext cx="1828800" cy="54864"/>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1371600"/>
            <a:ext cx="1828800" cy="658368"/>
          </a:xfrm>
          <a:prstGeom prst="rect">
            <a:avLst/>
          </a:prstGeom>
          <a:noFill/>
        </p:spPr>
        <p:txBody>
          <a:bodyPr wrap="square">
            <a:spAutoFit/>
          </a:bodyPr>
          <a:lstStyle/>
          <a:p>
            <a:pPr algn="ctr"/>
            <a:r>
              <a:rPr sz="2400" b="1" i="0">
                <a:solidFill>
                  <a:srgbClr val="008A48"/>
                </a:solidFill>
              </a:rPr>
              <a:t>2.1x</a:t>
            </a:r>
          </a:p>
        </p:txBody>
      </p:sp>
      <p:sp>
        <p:nvSpPr>
          <p:cNvPr id="29" name="TextBox 28"/>
          <p:cNvSpPr txBox="1"/>
          <p:nvPr/>
        </p:nvSpPr>
        <p:spPr>
          <a:xfrm>
            <a:off x="10012680" y="2029968"/>
            <a:ext cx="1828800" cy="384048"/>
          </a:xfrm>
          <a:prstGeom prst="rect">
            <a:avLst/>
          </a:prstGeom>
          <a:noFill/>
        </p:spPr>
        <p:txBody>
          <a:bodyPr wrap="square">
            <a:spAutoFit/>
          </a:bodyPr>
          <a:lstStyle/>
          <a:p>
            <a:pPr algn="ctr"/>
            <a:r>
              <a:rPr sz="1000" b="0" i="0">
                <a:solidFill>
                  <a:srgbClr val="8A8A9A"/>
                </a:solidFill>
              </a:rPr>
              <a:t>PF Net Leverage
(Yr 3, post-synergies)</a:t>
            </a:r>
          </a:p>
        </p:txBody>
      </p:sp>
      <p:sp>
        <p:nvSpPr>
          <p:cNvPr id="30" name="TextBox 29"/>
          <p:cNvSpPr txBox="1"/>
          <p:nvPr/>
        </p:nvSpPr>
        <p:spPr>
          <a:xfrm>
            <a:off x="320040" y="2578608"/>
            <a:ext cx="11548872" cy="347472"/>
          </a:xfrm>
          <a:prstGeom prst="rect">
            <a:avLst/>
          </a:prstGeom>
          <a:noFill/>
        </p:spPr>
        <p:txBody>
          <a:bodyPr wrap="square">
            <a:spAutoFit/>
          </a:bodyPr>
          <a:lstStyle/>
          <a:p>
            <a:pPr algn="l"/>
            <a:r>
              <a:rPr sz="1200" b="1" i="0">
                <a:solidFill>
                  <a:srgbClr val="1A1A2E"/>
                </a:solidFill>
              </a:rPr>
              <a:t>Pro Forma Income Statement — Selected Metrics ($B)</a:t>
            </a:r>
          </a:p>
        </p:txBody>
      </p:sp>
      <p:graphicFrame>
        <p:nvGraphicFramePr>
          <p:cNvPr id="31" name="Table 30"/>
          <p:cNvGraphicFramePr>
            <a:graphicFrameLocks noGrp="1"/>
          </p:cNvGraphicFramePr>
          <p:nvPr/>
        </p:nvGraphicFramePr>
        <p:xfrm>
          <a:off x="320040" y="2971800"/>
          <a:ext cx="11548872" cy="3246120"/>
        </p:xfrm>
        <a:graphic>
          <a:graphicData uri="http://schemas.openxmlformats.org/drawingml/2006/table">
            <a:tbl>
              <a:tblPr firstRow="1" bandRow="1">
                <a:tableStyleId>{5C22544A-7EE6-4342-B048-85BDC9FD1C3A}</a:tableStyleId>
              </a:tblPr>
              <a:tblGrid>
                <a:gridCol w="1649838"/>
                <a:gridCol w="1649838"/>
                <a:gridCol w="1649838"/>
                <a:gridCol w="1649838"/>
                <a:gridCol w="1649838"/>
                <a:gridCol w="1649838"/>
                <a:gridCol w="1649844"/>
              </a:tblGrid>
              <a:tr h="324612">
                <a:tc>
                  <a:txBody>
                    <a:bodyPr wrap="square"/>
                    <a:lstStyle/>
                    <a:p>
                      <a:pPr algn="ctr"/>
                      <a:r>
                        <a:rPr sz="950" b="1" i="0">
                          <a:solidFill>
                            <a:srgbClr val="FFFFFF"/>
                          </a:solidFill>
                        </a:rPr>
                        <a:t>Metric</a:t>
                      </a:r>
                    </a:p>
                  </a:txBody>
                  <a:tcPr>
                    <a:solidFill>
                      <a:srgbClr val="0F2044"/>
                    </a:solidFill>
                  </a:tcPr>
                </a:tc>
                <a:tc>
                  <a:txBody>
                    <a:bodyPr wrap="square"/>
                    <a:lstStyle/>
                    <a:p>
                      <a:pPr algn="ctr"/>
                      <a:r>
                        <a:rPr sz="950" b="1" i="0">
                          <a:solidFill>
                            <a:srgbClr val="FFFFFF"/>
                          </a:solidFill>
                        </a:rPr>
                        <a:t>NFLX SA
(FY24A)</a:t>
                      </a:r>
                    </a:p>
                  </a:txBody>
                  <a:tcPr>
                    <a:solidFill>
                      <a:srgbClr val="0F2044"/>
                    </a:solidFill>
                  </a:tcPr>
                </a:tc>
                <a:tc>
                  <a:txBody>
                    <a:bodyPr wrap="square"/>
                    <a:lstStyle/>
                    <a:p>
                      <a:pPr algn="ctr"/>
                      <a:r>
                        <a:rPr sz="950" b="1" i="0">
                          <a:solidFill>
                            <a:srgbClr val="FFFFFF"/>
                          </a:solidFill>
                        </a:rPr>
                        <a:t>WBD SA
(FY24A)</a:t>
                      </a:r>
                    </a:p>
                  </a:txBody>
                  <a:tcPr>
                    <a:solidFill>
                      <a:srgbClr val="0F2044"/>
                    </a:solidFill>
                  </a:tcPr>
                </a:tc>
                <a:tc>
                  <a:txBody>
                    <a:bodyPr wrap="square"/>
                    <a:lstStyle/>
                    <a:p>
                      <a:pPr algn="ctr"/>
                      <a:r>
                        <a:rPr sz="950" b="1" i="0">
                          <a:solidFill>
                            <a:srgbClr val="FFFFFF"/>
                          </a:solidFill>
                        </a:rPr>
                        <a:t>PF Combined
(FY24A)</a:t>
                      </a:r>
                    </a:p>
                  </a:txBody>
                  <a:tcPr>
                    <a:solidFill>
                      <a:srgbClr val="0F2044"/>
                    </a:solidFill>
                  </a:tcPr>
                </a:tc>
                <a:tc>
                  <a:txBody>
                    <a:bodyPr wrap="square"/>
                    <a:lstStyle/>
                    <a:p>
                      <a:pPr algn="ctr"/>
                      <a:r>
                        <a:rPr sz="950" b="1" i="0">
                          <a:solidFill>
                            <a:srgbClr val="FFFFFF"/>
                          </a:solidFill>
                        </a:rPr>
                        <a:t>PF Yr 1 Synergies</a:t>
                      </a:r>
                    </a:p>
                  </a:txBody>
                  <a:tcPr>
                    <a:solidFill>
                      <a:srgbClr val="0F2044"/>
                    </a:solidFill>
                  </a:tcPr>
                </a:tc>
                <a:tc>
                  <a:txBody>
                    <a:bodyPr wrap="square"/>
                    <a:lstStyle/>
                    <a:p>
                      <a:pPr algn="ctr"/>
                      <a:r>
                        <a:rPr sz="950" b="1" i="0">
                          <a:solidFill>
                            <a:srgbClr val="FFFFFF"/>
                          </a:solidFill>
                        </a:rPr>
                        <a:t>PF FY25E
(+synergies)</a:t>
                      </a:r>
                    </a:p>
                  </a:txBody>
                  <a:tcPr>
                    <a:solidFill>
                      <a:srgbClr val="0F2044"/>
                    </a:solidFill>
                  </a:tcPr>
                </a:tc>
                <a:tc>
                  <a:txBody>
                    <a:bodyPr wrap="square"/>
                    <a:lstStyle/>
                    <a:p>
                      <a:pPr algn="ctr"/>
                      <a:r>
                        <a:rPr sz="950" b="1" i="0">
                          <a:solidFill>
                            <a:srgbClr val="FFFFFF"/>
                          </a:solidFill>
                        </a:rPr>
                        <a:t>PF FY26E
(+synergies)</a:t>
                      </a:r>
                    </a:p>
                  </a:txBody>
                  <a:tcPr>
                    <a:solidFill>
                      <a:srgbClr val="0F2044"/>
                    </a:solidFill>
                  </a:tcPr>
                </a:tc>
              </a:tr>
              <a:tr h="324612">
                <a:tc>
                  <a:txBody>
                    <a:bodyPr wrap="square"/>
                    <a:lstStyle/>
                    <a:p>
                      <a:pPr algn="l"/>
                      <a:r>
                        <a:rPr sz="950" b="0" i="0">
                          <a:solidFill>
                            <a:srgbClr val="1A1A2E"/>
                          </a:solidFill>
                        </a:rPr>
                        <a:t>Revenue ($B)</a:t>
                      </a:r>
                    </a:p>
                  </a:txBody>
                  <a:tcPr>
                    <a:solidFill>
                      <a:srgbClr val="EAF0FB"/>
                    </a:solidFill>
                  </a:tcPr>
                </a:tc>
                <a:tc>
                  <a:txBody>
                    <a:bodyPr wrap="square"/>
                    <a:lstStyle/>
                    <a:p>
                      <a:pPr algn="r"/>
                      <a:r>
                        <a:rPr sz="950" b="0" i="0">
                          <a:solidFill>
                            <a:srgbClr val="1A1A2E"/>
                          </a:solidFill>
                        </a:rPr>
                        <a:t>$39.0B</a:t>
                      </a:r>
                    </a:p>
                  </a:txBody>
                  <a:tcPr>
                    <a:solidFill>
                      <a:srgbClr val="EAF0FB"/>
                    </a:solidFill>
                  </a:tcPr>
                </a:tc>
                <a:tc>
                  <a:txBody>
                    <a:bodyPr wrap="square"/>
                    <a:lstStyle/>
                    <a:p>
                      <a:pPr algn="r"/>
                      <a:r>
                        <a:rPr sz="950" b="0" i="0">
                          <a:solidFill>
                            <a:srgbClr val="1A1A2E"/>
                          </a:solidFill>
                        </a:rPr>
                        <a:t>$39.3B</a:t>
                      </a:r>
                    </a:p>
                  </a:txBody>
                  <a:tcPr>
                    <a:solidFill>
                      <a:srgbClr val="EAF0FB"/>
                    </a:solidFill>
                  </a:tcPr>
                </a:tc>
                <a:tc>
                  <a:txBody>
                    <a:bodyPr wrap="square"/>
                    <a:lstStyle/>
                    <a:p>
                      <a:pPr algn="r"/>
                      <a:r>
                        <a:rPr sz="950" b="0" i="0">
                          <a:solidFill>
                            <a:srgbClr val="1A1A2E"/>
                          </a:solidFill>
                        </a:rPr>
                        <a:t>$78.3B</a:t>
                      </a:r>
                    </a:p>
                  </a:txBody>
                  <a:tcPr>
                    <a:solidFill>
                      <a:srgbClr val="EAF0FB"/>
                    </a:solidFill>
                  </a:tcPr>
                </a:tc>
                <a:tc>
                  <a:txBody>
                    <a:bodyPr wrap="square"/>
                    <a:lstStyle/>
                    <a:p>
                      <a:pPr algn="r"/>
                      <a:r>
                        <a:rPr sz="950" b="0" i="0">
                          <a:solidFill>
                            <a:srgbClr val="1A1A2E"/>
                          </a:solidFill>
                        </a:rPr>
                        <a:t>  —</a:t>
                      </a:r>
                    </a:p>
                  </a:txBody>
                  <a:tcPr>
                    <a:solidFill>
                      <a:srgbClr val="EAF0FB"/>
                    </a:solidFill>
                  </a:tcPr>
                </a:tc>
                <a:tc>
                  <a:txBody>
                    <a:bodyPr wrap="square"/>
                    <a:lstStyle/>
                    <a:p>
                      <a:pPr algn="r"/>
                      <a:r>
                        <a:rPr sz="950" b="0" i="0">
                          <a:solidFill>
                            <a:srgbClr val="1A1A2E"/>
                          </a:solidFill>
                        </a:rPr>
                        <a:t>$86.0B</a:t>
                      </a:r>
                    </a:p>
                  </a:txBody>
                  <a:tcPr>
                    <a:solidFill>
                      <a:srgbClr val="EAF0FB"/>
                    </a:solidFill>
                  </a:tcPr>
                </a:tc>
                <a:tc>
                  <a:txBody>
                    <a:bodyPr wrap="square"/>
                    <a:lstStyle/>
                    <a:p>
                      <a:pPr algn="r"/>
                      <a:r>
                        <a:rPr sz="950" b="0" i="0">
                          <a:solidFill>
                            <a:srgbClr val="1A1A2E"/>
                          </a:solidFill>
                        </a:rPr>
                        <a:t>$97.0B</a:t>
                      </a:r>
                    </a:p>
                  </a:txBody>
                  <a:tcPr>
                    <a:solidFill>
                      <a:srgbClr val="EAF0FB"/>
                    </a:solidFill>
                  </a:tcPr>
                </a:tc>
              </a:tr>
              <a:tr h="324612">
                <a:tc>
                  <a:txBody>
                    <a:bodyPr wrap="square"/>
                    <a:lstStyle/>
                    <a:p>
                      <a:pPr algn="l"/>
                      <a:r>
                        <a:rPr sz="950" b="0" i="0">
                          <a:solidFill>
                            <a:srgbClr val="1A1A2E"/>
                          </a:solidFill>
                        </a:rPr>
                        <a:t>Revenue Growth</a:t>
                      </a:r>
                    </a:p>
                  </a:txBody>
                  <a:tcPr/>
                </a:tc>
                <a:tc>
                  <a:txBody>
                    <a:bodyPr wrap="square"/>
                    <a:lstStyle/>
                    <a:p>
                      <a:pPr algn="r"/>
                      <a:r>
                        <a:rPr sz="950" b="0" i="0">
                          <a:solidFill>
                            <a:srgbClr val="1A1A2E"/>
                          </a:solidFill>
                        </a:rPr>
                        <a:t>+15.6%</a:t>
                      </a:r>
                    </a:p>
                  </a:txBody>
                  <a:tcPr/>
                </a:tc>
                <a:tc>
                  <a:txBody>
                    <a:bodyPr wrap="square"/>
                    <a:lstStyle/>
                    <a:p>
                      <a:pPr algn="r"/>
                      <a:r>
                        <a:rPr sz="950" b="0" i="0">
                          <a:solidFill>
                            <a:srgbClr val="1A1A2E"/>
                          </a:solidFill>
                        </a:rPr>
                        <a:t>  -1.0%</a:t>
                      </a:r>
                    </a:p>
                  </a:txBody>
                  <a:tcPr/>
                </a:tc>
                <a:tc>
                  <a:txBody>
                    <a:bodyPr wrap="square"/>
                    <a:lstStyle/>
                    <a:p>
                      <a:pPr algn="r"/>
                      <a:r>
                        <a:rPr sz="950" b="0" i="0">
                          <a:solidFill>
                            <a:srgbClr val="1A1A2E"/>
                          </a:solidFill>
                        </a:rPr>
                        <a:t>  +7%</a:t>
                      </a:r>
                    </a:p>
                  </a:txBody>
                  <a:tcPr/>
                </a:tc>
                <a:tc>
                  <a:txBody>
                    <a:bodyPr wrap="square"/>
                    <a:lstStyle/>
                    <a:p>
                      <a:pPr algn="r"/>
                      <a:r>
                        <a:rPr sz="950" b="0" i="0">
                          <a:solidFill>
                            <a:srgbClr val="1A1A2E"/>
                          </a:solidFill>
                        </a:rPr>
                        <a:t>  —</a:t>
                      </a:r>
                    </a:p>
                  </a:txBody>
                  <a:tcPr/>
                </a:tc>
                <a:tc>
                  <a:txBody>
                    <a:bodyPr wrap="square"/>
                    <a:lstStyle/>
                    <a:p>
                      <a:pPr algn="r"/>
                      <a:r>
                        <a:rPr sz="950" b="0" i="0">
                          <a:solidFill>
                            <a:srgbClr val="1A1A2E"/>
                          </a:solidFill>
                        </a:rPr>
                        <a:t>+9.8%</a:t>
                      </a:r>
                    </a:p>
                  </a:txBody>
                  <a:tcPr/>
                </a:tc>
                <a:tc>
                  <a:txBody>
                    <a:bodyPr wrap="square"/>
                    <a:lstStyle/>
                    <a:p>
                      <a:pPr algn="r"/>
                      <a:r>
                        <a:rPr sz="950" b="0" i="0">
                          <a:solidFill>
                            <a:srgbClr val="1A1A2E"/>
                          </a:solidFill>
                        </a:rPr>
                        <a:t>+12.8%</a:t>
                      </a:r>
                    </a:p>
                  </a:txBody>
                  <a:tcPr/>
                </a:tc>
              </a:tr>
              <a:tr h="324612">
                <a:tc>
                  <a:txBody>
                    <a:bodyPr wrap="square"/>
                    <a:lstStyle/>
                    <a:p>
                      <a:pPr algn="l"/>
                      <a:r>
                        <a:rPr sz="950" b="1" i="0">
                          <a:solidFill>
                            <a:srgbClr val="FFFFFF"/>
                          </a:solidFill>
                        </a:rPr>
                        <a:t>Adj. EBITDA ($B)</a:t>
                      </a:r>
                    </a:p>
                  </a:txBody>
                  <a:tcPr>
                    <a:solidFill>
                      <a:srgbClr val="0F2044"/>
                    </a:solidFill>
                  </a:tcPr>
                </a:tc>
                <a:tc>
                  <a:txBody>
                    <a:bodyPr wrap="square"/>
                    <a:lstStyle/>
                    <a:p>
                      <a:pPr algn="r"/>
                      <a:r>
                        <a:rPr sz="950" b="1" i="0">
                          <a:solidFill>
                            <a:srgbClr val="FFFFFF"/>
                          </a:solidFill>
                        </a:rPr>
                        <a:t>$10.4B</a:t>
                      </a:r>
                    </a:p>
                  </a:txBody>
                  <a:tcPr>
                    <a:solidFill>
                      <a:srgbClr val="0F2044"/>
                    </a:solidFill>
                  </a:tcPr>
                </a:tc>
                <a:tc>
                  <a:txBody>
                    <a:bodyPr wrap="square"/>
                    <a:lstStyle/>
                    <a:p>
                      <a:pPr algn="r"/>
                      <a:r>
                        <a:rPr sz="950" b="1" i="0">
                          <a:solidFill>
                            <a:srgbClr val="FFFFFF"/>
                          </a:solidFill>
                        </a:rPr>
                        <a:t> $9.7B</a:t>
                      </a:r>
                    </a:p>
                  </a:txBody>
                  <a:tcPr>
                    <a:solidFill>
                      <a:srgbClr val="0F2044"/>
                    </a:solidFill>
                  </a:tcPr>
                </a:tc>
                <a:tc>
                  <a:txBody>
                    <a:bodyPr wrap="square"/>
                    <a:lstStyle/>
                    <a:p>
                      <a:pPr algn="r"/>
                      <a:r>
                        <a:rPr sz="950" b="1" i="0">
                          <a:solidFill>
                            <a:srgbClr val="FFFFFF"/>
                          </a:solidFill>
                        </a:rPr>
                        <a:t>$20.1B</a:t>
                      </a:r>
                    </a:p>
                  </a:txBody>
                  <a:tcPr>
                    <a:solidFill>
                      <a:srgbClr val="0F2044"/>
                    </a:solidFill>
                  </a:tcPr>
                </a:tc>
                <a:tc>
                  <a:txBody>
                    <a:bodyPr wrap="square"/>
                    <a:lstStyle/>
                    <a:p>
                      <a:pPr algn="r"/>
                      <a:r>
                        <a:rPr sz="950" b="1" i="0">
                          <a:solidFill>
                            <a:srgbClr val="FFFFFF"/>
                          </a:solidFill>
                        </a:rPr>
                        <a:t>$1.3B</a:t>
                      </a:r>
                    </a:p>
                  </a:txBody>
                  <a:tcPr>
                    <a:solidFill>
                      <a:srgbClr val="0F2044"/>
                    </a:solidFill>
                  </a:tcPr>
                </a:tc>
                <a:tc>
                  <a:txBody>
                    <a:bodyPr wrap="square"/>
                    <a:lstStyle/>
                    <a:p>
                      <a:pPr algn="r"/>
                      <a:r>
                        <a:rPr sz="950" b="1" i="0">
                          <a:solidFill>
                            <a:srgbClr val="FFFFFF"/>
                          </a:solidFill>
                        </a:rPr>
                        <a:t>$24.1B</a:t>
                      </a:r>
                    </a:p>
                  </a:txBody>
                  <a:tcPr>
                    <a:solidFill>
                      <a:srgbClr val="0F2044"/>
                    </a:solidFill>
                  </a:tcPr>
                </a:tc>
                <a:tc>
                  <a:txBody>
                    <a:bodyPr wrap="square"/>
                    <a:lstStyle/>
                    <a:p>
                      <a:pPr algn="r"/>
                      <a:r>
                        <a:rPr sz="950" b="1" i="0">
                          <a:solidFill>
                            <a:srgbClr val="FFFFFF"/>
                          </a:solidFill>
                        </a:rPr>
                        <a:t>$28.5B</a:t>
                      </a:r>
                    </a:p>
                  </a:txBody>
                  <a:tcPr>
                    <a:solidFill>
                      <a:srgbClr val="0F2044"/>
                    </a:solidFill>
                  </a:tcPr>
                </a:tc>
              </a:tr>
              <a:tr h="324612">
                <a:tc>
                  <a:txBody>
                    <a:bodyPr wrap="square"/>
                    <a:lstStyle/>
                    <a:p>
                      <a:pPr algn="l"/>
                      <a:r>
                        <a:rPr sz="950" b="0" i="0">
                          <a:solidFill>
                            <a:srgbClr val="1A1A2E"/>
                          </a:solidFill>
                        </a:rPr>
                        <a:t>EBITDA Margin</a:t>
                      </a:r>
                    </a:p>
                  </a:txBody>
                  <a:tcPr/>
                </a:tc>
                <a:tc>
                  <a:txBody>
                    <a:bodyPr wrap="square"/>
                    <a:lstStyle/>
                    <a:p>
                      <a:pPr algn="r"/>
                      <a:r>
                        <a:rPr sz="950" b="0" i="0">
                          <a:solidFill>
                            <a:srgbClr val="1A1A2E"/>
                          </a:solidFill>
                        </a:rPr>
                        <a:t>26.6%</a:t>
                      </a:r>
                    </a:p>
                  </a:txBody>
                  <a:tcPr/>
                </a:tc>
                <a:tc>
                  <a:txBody>
                    <a:bodyPr wrap="square"/>
                    <a:lstStyle/>
                    <a:p>
                      <a:pPr algn="r"/>
                      <a:r>
                        <a:rPr sz="950" b="0" i="0">
                          <a:solidFill>
                            <a:srgbClr val="1A1A2E"/>
                          </a:solidFill>
                        </a:rPr>
                        <a:t>24.7%</a:t>
                      </a:r>
                    </a:p>
                  </a:txBody>
                  <a:tcPr/>
                </a:tc>
                <a:tc>
                  <a:txBody>
                    <a:bodyPr wrap="square"/>
                    <a:lstStyle/>
                    <a:p>
                      <a:pPr algn="r"/>
                      <a:r>
                        <a:rPr sz="950" b="0" i="0">
                          <a:solidFill>
                            <a:srgbClr val="1A1A2E"/>
                          </a:solidFill>
                        </a:rPr>
                        <a:t>25.7%</a:t>
                      </a:r>
                    </a:p>
                  </a:txBody>
                  <a:tcPr/>
                </a:tc>
                <a:tc>
                  <a:txBody>
                    <a:bodyPr wrap="square"/>
                    <a:lstStyle/>
                    <a:p>
                      <a:pPr algn="r"/>
                      <a:r>
                        <a:rPr sz="950" b="0" i="0">
                          <a:solidFill>
                            <a:srgbClr val="1A1A2E"/>
                          </a:solidFill>
                        </a:rPr>
                        <a:t>  —</a:t>
                      </a:r>
                    </a:p>
                  </a:txBody>
                  <a:tcPr/>
                </a:tc>
                <a:tc>
                  <a:txBody>
                    <a:bodyPr wrap="square"/>
                    <a:lstStyle/>
                    <a:p>
                      <a:pPr algn="r"/>
                      <a:r>
                        <a:rPr sz="950" b="0" i="0">
                          <a:solidFill>
                            <a:srgbClr val="1A1A2E"/>
                          </a:solidFill>
                        </a:rPr>
                        <a:t>28.0%</a:t>
                      </a:r>
                    </a:p>
                  </a:txBody>
                  <a:tcPr/>
                </a:tc>
                <a:tc>
                  <a:txBody>
                    <a:bodyPr wrap="square"/>
                    <a:lstStyle/>
                    <a:p>
                      <a:pPr algn="r"/>
                      <a:r>
                        <a:rPr sz="950" b="0" i="0">
                          <a:solidFill>
                            <a:srgbClr val="1A1A2E"/>
                          </a:solidFill>
                        </a:rPr>
                        <a:t>29.4%</a:t>
                      </a:r>
                    </a:p>
                  </a:txBody>
                  <a:tcPr/>
                </a:tc>
              </a:tr>
              <a:tr h="324612">
                <a:tc>
                  <a:txBody>
                    <a:bodyPr wrap="square"/>
                    <a:lstStyle/>
                    <a:p>
                      <a:pPr algn="l"/>
                      <a:r>
                        <a:rPr sz="950" b="0" i="0">
                          <a:solidFill>
                            <a:srgbClr val="1A1A2E"/>
                          </a:solidFill>
                        </a:rPr>
                        <a:t>D&amp;A ($B)</a:t>
                      </a:r>
                    </a:p>
                  </a:txBody>
                  <a:tcPr>
                    <a:solidFill>
                      <a:srgbClr val="EAF0FB"/>
                    </a:solidFill>
                  </a:tcPr>
                </a:tc>
                <a:tc>
                  <a:txBody>
                    <a:bodyPr wrap="square"/>
                    <a:lstStyle/>
                    <a:p>
                      <a:pPr algn="r"/>
                      <a:r>
                        <a:rPr sz="950" b="0" i="0">
                          <a:solidFill>
                            <a:srgbClr val="1A1A2E"/>
                          </a:solidFill>
                        </a:rPr>
                        <a:t> $1.2B</a:t>
                      </a:r>
                    </a:p>
                  </a:txBody>
                  <a:tcPr>
                    <a:solidFill>
                      <a:srgbClr val="EAF0FB"/>
                    </a:solidFill>
                  </a:tcPr>
                </a:tc>
                <a:tc>
                  <a:txBody>
                    <a:bodyPr wrap="square"/>
                    <a:lstStyle/>
                    <a:p>
                      <a:pPr algn="r"/>
                      <a:r>
                        <a:rPr sz="950" b="0" i="0">
                          <a:solidFill>
                            <a:srgbClr val="1A1A2E"/>
                          </a:solidFill>
                        </a:rPr>
                        <a:t> $4.5B</a:t>
                      </a:r>
                    </a:p>
                  </a:txBody>
                  <a:tcPr>
                    <a:solidFill>
                      <a:srgbClr val="EAF0FB"/>
                    </a:solidFill>
                  </a:tcPr>
                </a:tc>
                <a:tc>
                  <a:txBody>
                    <a:bodyPr wrap="square"/>
                    <a:lstStyle/>
                    <a:p>
                      <a:pPr algn="r"/>
                      <a:r>
                        <a:rPr sz="950" b="0" i="0">
                          <a:solidFill>
                            <a:srgbClr val="1A1A2E"/>
                          </a:solidFill>
                        </a:rPr>
                        <a:t> $5.7B</a:t>
                      </a:r>
                    </a:p>
                  </a:txBody>
                  <a:tcPr>
                    <a:solidFill>
                      <a:srgbClr val="EAF0FB"/>
                    </a:solidFill>
                  </a:tcPr>
                </a:tc>
                <a:tc>
                  <a:txBody>
                    <a:bodyPr wrap="square"/>
                    <a:lstStyle/>
                    <a:p>
                      <a:pPr algn="r"/>
                      <a:r>
                        <a:rPr sz="950" b="0" i="0">
                          <a:solidFill>
                            <a:srgbClr val="1A1A2E"/>
                          </a:solidFill>
                        </a:rPr>
                        <a:t>  —</a:t>
                      </a:r>
                    </a:p>
                  </a:txBody>
                  <a:tcPr>
                    <a:solidFill>
                      <a:srgbClr val="EAF0FB"/>
                    </a:solidFill>
                  </a:tcPr>
                </a:tc>
                <a:tc>
                  <a:txBody>
                    <a:bodyPr wrap="square"/>
                    <a:lstStyle/>
                    <a:p>
                      <a:pPr algn="r"/>
                      <a:r>
                        <a:rPr sz="950" b="0" i="0">
                          <a:solidFill>
                            <a:srgbClr val="1A1A2E"/>
                          </a:solidFill>
                        </a:rPr>
                        <a:t> $5.5B</a:t>
                      </a:r>
                    </a:p>
                  </a:txBody>
                  <a:tcPr>
                    <a:solidFill>
                      <a:srgbClr val="EAF0FB"/>
                    </a:solidFill>
                  </a:tcPr>
                </a:tc>
                <a:tc>
                  <a:txBody>
                    <a:bodyPr wrap="square"/>
                    <a:lstStyle/>
                    <a:p>
                      <a:pPr algn="r"/>
                      <a:r>
                        <a:rPr sz="950" b="0" i="0">
                          <a:solidFill>
                            <a:srgbClr val="1A1A2E"/>
                          </a:solidFill>
                        </a:rPr>
                        <a:t> $5.3B</a:t>
                      </a:r>
                    </a:p>
                  </a:txBody>
                  <a:tcPr>
                    <a:solidFill>
                      <a:srgbClr val="EAF0FB"/>
                    </a:solidFill>
                  </a:tcPr>
                </a:tc>
              </a:tr>
              <a:tr h="324612">
                <a:tc>
                  <a:txBody>
                    <a:bodyPr wrap="square"/>
                    <a:lstStyle/>
                    <a:p>
                      <a:pPr algn="l"/>
                      <a:r>
                        <a:rPr sz="950" b="0" i="0">
                          <a:solidFill>
                            <a:srgbClr val="1A1A2E"/>
                          </a:solidFill>
                        </a:rPr>
                        <a:t>EBIT ($B)</a:t>
                      </a:r>
                    </a:p>
                  </a:txBody>
                  <a:tcPr/>
                </a:tc>
                <a:tc>
                  <a:txBody>
                    <a:bodyPr wrap="square"/>
                    <a:lstStyle/>
                    <a:p>
                      <a:pPr algn="r"/>
                      <a:r>
                        <a:rPr sz="950" b="0" i="0">
                          <a:solidFill>
                            <a:srgbClr val="1A1A2E"/>
                          </a:solidFill>
                        </a:rPr>
                        <a:t> $9.2B</a:t>
                      </a:r>
                    </a:p>
                  </a:txBody>
                  <a:tcPr/>
                </a:tc>
                <a:tc>
                  <a:txBody>
                    <a:bodyPr wrap="square"/>
                    <a:lstStyle/>
                    <a:p>
                      <a:pPr algn="r"/>
                      <a:r>
                        <a:rPr sz="950" b="0" i="0">
                          <a:solidFill>
                            <a:srgbClr val="1A1A2E"/>
                          </a:solidFill>
                        </a:rPr>
                        <a:t> $5.2B</a:t>
                      </a:r>
                    </a:p>
                  </a:txBody>
                  <a:tcPr/>
                </a:tc>
                <a:tc>
                  <a:txBody>
                    <a:bodyPr wrap="square"/>
                    <a:lstStyle/>
                    <a:p>
                      <a:pPr algn="r"/>
                      <a:r>
                        <a:rPr sz="950" b="0" i="0">
                          <a:solidFill>
                            <a:srgbClr val="1A1A2E"/>
                          </a:solidFill>
                        </a:rPr>
                        <a:t>$14.4B</a:t>
                      </a:r>
                    </a:p>
                  </a:txBody>
                  <a:tcPr/>
                </a:tc>
                <a:tc>
                  <a:txBody>
                    <a:bodyPr wrap="square"/>
                    <a:lstStyle/>
                    <a:p>
                      <a:pPr algn="r"/>
                      <a:r>
                        <a:rPr sz="950" b="0" i="0">
                          <a:solidFill>
                            <a:srgbClr val="1A1A2E"/>
                          </a:solidFill>
                        </a:rPr>
                        <a:t>$1.3B</a:t>
                      </a:r>
                    </a:p>
                  </a:txBody>
                  <a:tcPr/>
                </a:tc>
                <a:tc>
                  <a:txBody>
                    <a:bodyPr wrap="square"/>
                    <a:lstStyle/>
                    <a:p>
                      <a:pPr algn="r"/>
                      <a:r>
                        <a:rPr sz="950" b="0" i="0">
                          <a:solidFill>
                            <a:srgbClr val="1A1A2E"/>
                          </a:solidFill>
                        </a:rPr>
                        <a:t>$18.6B</a:t>
                      </a:r>
                    </a:p>
                  </a:txBody>
                  <a:tcPr/>
                </a:tc>
                <a:tc>
                  <a:txBody>
                    <a:bodyPr wrap="square"/>
                    <a:lstStyle/>
                    <a:p>
                      <a:pPr algn="r"/>
                      <a:r>
                        <a:rPr sz="950" b="0" i="0">
                          <a:solidFill>
                            <a:srgbClr val="1A1A2E"/>
                          </a:solidFill>
                        </a:rPr>
                        <a:t>$23.2B</a:t>
                      </a:r>
                    </a:p>
                  </a:txBody>
                  <a:tcPr/>
                </a:tc>
              </a:tr>
              <a:tr h="324612">
                <a:tc>
                  <a:txBody>
                    <a:bodyPr wrap="square"/>
                    <a:lstStyle/>
                    <a:p>
                      <a:pPr algn="l"/>
                      <a:r>
                        <a:rPr sz="950" b="0" i="0">
                          <a:solidFill>
                            <a:srgbClr val="1A1A2E"/>
                          </a:solidFill>
                        </a:rPr>
                        <a:t>Interest Expense ($B)</a:t>
                      </a:r>
                    </a:p>
                  </a:txBody>
                  <a:tcPr>
                    <a:solidFill>
                      <a:srgbClr val="EAF0FB"/>
                    </a:solidFill>
                  </a:tcPr>
                </a:tc>
                <a:tc>
                  <a:txBody>
                    <a:bodyPr wrap="square"/>
                    <a:lstStyle/>
                    <a:p>
                      <a:pPr algn="r"/>
                      <a:r>
                        <a:rPr sz="950" b="0" i="0">
                          <a:solidFill>
                            <a:srgbClr val="1A1A2E"/>
                          </a:solidFill>
                        </a:rPr>
                        <a:t> $0.9B</a:t>
                      </a:r>
                    </a:p>
                  </a:txBody>
                  <a:tcPr>
                    <a:solidFill>
                      <a:srgbClr val="EAF0FB"/>
                    </a:solidFill>
                  </a:tcPr>
                </a:tc>
                <a:tc>
                  <a:txBody>
                    <a:bodyPr wrap="square"/>
                    <a:lstStyle/>
                    <a:p>
                      <a:pPr algn="r"/>
                      <a:r>
                        <a:rPr sz="950" b="0" i="0">
                          <a:solidFill>
                            <a:srgbClr val="1A1A2E"/>
                          </a:solidFill>
                        </a:rPr>
                        <a:t> $3.0B</a:t>
                      </a:r>
                    </a:p>
                  </a:txBody>
                  <a:tcPr>
                    <a:solidFill>
                      <a:srgbClr val="EAF0FB"/>
                    </a:solidFill>
                  </a:tcPr>
                </a:tc>
                <a:tc>
                  <a:txBody>
                    <a:bodyPr wrap="square"/>
                    <a:lstStyle/>
                    <a:p>
                      <a:pPr algn="r"/>
                      <a:r>
                        <a:rPr sz="950" b="0" i="0">
                          <a:solidFill>
                            <a:srgbClr val="1A1A2E"/>
                          </a:solidFill>
                        </a:rPr>
                        <a:t> $4.5B</a:t>
                      </a:r>
                    </a:p>
                  </a:txBody>
                  <a:tcPr>
                    <a:solidFill>
                      <a:srgbClr val="EAF0FB"/>
                    </a:solidFill>
                  </a:tcPr>
                </a:tc>
                <a:tc>
                  <a:txBody>
                    <a:bodyPr wrap="square"/>
                    <a:lstStyle/>
                    <a:p>
                      <a:pPr algn="r"/>
                      <a:r>
                        <a:rPr sz="950" b="0" i="0">
                          <a:solidFill>
                            <a:srgbClr val="1A1A2E"/>
                          </a:solidFill>
                        </a:rPr>
                        <a:t>  —</a:t>
                      </a:r>
                    </a:p>
                  </a:txBody>
                  <a:tcPr>
                    <a:solidFill>
                      <a:srgbClr val="EAF0FB"/>
                    </a:solidFill>
                  </a:tcPr>
                </a:tc>
                <a:tc>
                  <a:txBody>
                    <a:bodyPr wrap="square"/>
                    <a:lstStyle/>
                    <a:p>
                      <a:pPr algn="r"/>
                      <a:r>
                        <a:rPr sz="950" b="0" i="0">
                          <a:solidFill>
                            <a:srgbClr val="1A1A2E"/>
                          </a:solidFill>
                        </a:rPr>
                        <a:t> $4.2B</a:t>
                      </a:r>
                    </a:p>
                  </a:txBody>
                  <a:tcPr>
                    <a:solidFill>
                      <a:srgbClr val="EAF0FB"/>
                    </a:solidFill>
                  </a:tcPr>
                </a:tc>
                <a:tc>
                  <a:txBody>
                    <a:bodyPr wrap="square"/>
                    <a:lstStyle/>
                    <a:p>
                      <a:pPr algn="r"/>
                      <a:r>
                        <a:rPr sz="950" b="0" i="0">
                          <a:solidFill>
                            <a:srgbClr val="1A1A2E"/>
                          </a:solidFill>
                        </a:rPr>
                        <a:t> $3.8B</a:t>
                      </a:r>
                    </a:p>
                  </a:txBody>
                  <a:tcPr>
                    <a:solidFill>
                      <a:srgbClr val="EAF0FB"/>
                    </a:solidFill>
                  </a:tcPr>
                </a:tc>
              </a:tr>
              <a:tr h="324612">
                <a:tc>
                  <a:txBody>
                    <a:bodyPr wrap="square"/>
                    <a:lstStyle/>
                    <a:p>
                      <a:pPr algn="l"/>
                      <a:r>
                        <a:rPr sz="950" b="1" i="0">
                          <a:solidFill>
                            <a:srgbClr val="FFFFFF"/>
                          </a:solidFill>
                        </a:rPr>
                        <a:t>Net Income ($B)</a:t>
                      </a:r>
                    </a:p>
                  </a:txBody>
                  <a:tcPr>
                    <a:solidFill>
                      <a:srgbClr val="0F2044"/>
                    </a:solidFill>
                  </a:tcPr>
                </a:tc>
                <a:tc>
                  <a:txBody>
                    <a:bodyPr wrap="square"/>
                    <a:lstStyle/>
                    <a:p>
                      <a:pPr algn="r"/>
                      <a:r>
                        <a:rPr sz="950" b="1" i="0">
                          <a:solidFill>
                            <a:srgbClr val="FFFFFF"/>
                          </a:solidFill>
                        </a:rPr>
                        <a:t> $8.7B</a:t>
                      </a:r>
                    </a:p>
                  </a:txBody>
                  <a:tcPr>
                    <a:solidFill>
                      <a:srgbClr val="0F2044"/>
                    </a:solidFill>
                  </a:tcPr>
                </a:tc>
                <a:tc>
                  <a:txBody>
                    <a:bodyPr wrap="square"/>
                    <a:lstStyle/>
                    <a:p>
                      <a:pPr algn="r"/>
                      <a:r>
                        <a:rPr sz="950" b="1" i="0">
                          <a:solidFill>
                            <a:srgbClr val="FFFFFF"/>
                          </a:solidFill>
                        </a:rPr>
                        <a:t> -$10.8B</a:t>
                      </a:r>
                    </a:p>
                  </a:txBody>
                  <a:tcPr>
                    <a:solidFill>
                      <a:srgbClr val="0F2044"/>
                    </a:solidFill>
                  </a:tcPr>
                </a:tc>
                <a:tc>
                  <a:txBody>
                    <a:bodyPr wrap="square"/>
                    <a:lstStyle/>
                    <a:p>
                      <a:pPr algn="r"/>
                      <a:r>
                        <a:rPr sz="950" b="1" i="0">
                          <a:solidFill>
                            <a:srgbClr val="FFFFFF"/>
                          </a:solidFill>
                        </a:rPr>
                        <a:t>$7.5B¹</a:t>
                      </a:r>
                    </a:p>
                  </a:txBody>
                  <a:tcPr>
                    <a:solidFill>
                      <a:srgbClr val="0F2044"/>
                    </a:solidFill>
                  </a:tcPr>
                </a:tc>
                <a:tc>
                  <a:txBody>
                    <a:bodyPr wrap="square"/>
                    <a:lstStyle/>
                    <a:p>
                      <a:pPr algn="r"/>
                      <a:r>
                        <a:rPr sz="950" b="1" i="0">
                          <a:solidFill>
                            <a:srgbClr val="FFFFFF"/>
                          </a:solidFill>
                        </a:rPr>
                        <a:t>$0.9B</a:t>
                      </a:r>
                    </a:p>
                  </a:txBody>
                  <a:tcPr>
                    <a:solidFill>
                      <a:srgbClr val="0F2044"/>
                    </a:solidFill>
                  </a:tcPr>
                </a:tc>
                <a:tc>
                  <a:txBody>
                    <a:bodyPr wrap="square"/>
                    <a:lstStyle/>
                    <a:p>
                      <a:pPr algn="r"/>
                      <a:r>
                        <a:rPr sz="950" b="1" i="0">
                          <a:solidFill>
                            <a:srgbClr val="FFFFFF"/>
                          </a:solidFill>
                        </a:rPr>
                        <a:t>$10.8B</a:t>
                      </a:r>
                    </a:p>
                  </a:txBody>
                  <a:tcPr>
                    <a:solidFill>
                      <a:srgbClr val="0F2044"/>
                    </a:solidFill>
                  </a:tcPr>
                </a:tc>
                <a:tc>
                  <a:txBody>
                    <a:bodyPr wrap="square"/>
                    <a:lstStyle/>
                    <a:p>
                      <a:pPr algn="r"/>
                      <a:r>
                        <a:rPr sz="950" b="1" i="0">
                          <a:solidFill>
                            <a:srgbClr val="FFFFFF"/>
                          </a:solidFill>
                        </a:rPr>
                        <a:t>$14.5B</a:t>
                      </a:r>
                    </a:p>
                  </a:txBody>
                  <a:tcPr>
                    <a:solidFill>
                      <a:srgbClr val="0F2044"/>
                    </a:solidFill>
                  </a:tcPr>
                </a:tc>
              </a:tr>
              <a:tr h="324612">
                <a:tc>
                  <a:txBody>
                    <a:bodyPr wrap="square"/>
                    <a:lstStyle/>
                    <a:p>
                      <a:pPr algn="l"/>
                      <a:r>
                        <a:rPr sz="950" b="1" i="0">
                          <a:solidFill>
                            <a:srgbClr val="FFFFFF"/>
                          </a:solidFill>
                        </a:rPr>
                        <a:t>Free Cash Flow ($B)</a:t>
                      </a:r>
                    </a:p>
                  </a:txBody>
                  <a:tcPr>
                    <a:solidFill>
                      <a:srgbClr val="0F2044"/>
                    </a:solidFill>
                  </a:tcPr>
                </a:tc>
                <a:tc>
                  <a:txBody>
                    <a:bodyPr wrap="square"/>
                    <a:lstStyle/>
                    <a:p>
                      <a:pPr algn="r"/>
                      <a:r>
                        <a:rPr sz="950" b="1" i="0">
                          <a:solidFill>
                            <a:srgbClr val="FFFFFF"/>
                          </a:solidFill>
                        </a:rPr>
                        <a:t> $6.9B</a:t>
                      </a:r>
                    </a:p>
                  </a:txBody>
                  <a:tcPr>
                    <a:solidFill>
                      <a:srgbClr val="0F2044"/>
                    </a:solidFill>
                  </a:tcPr>
                </a:tc>
                <a:tc>
                  <a:txBody>
                    <a:bodyPr wrap="square"/>
                    <a:lstStyle/>
                    <a:p>
                      <a:pPr algn="r"/>
                      <a:r>
                        <a:rPr sz="950" b="1" i="0">
                          <a:solidFill>
                            <a:srgbClr val="FFFFFF"/>
                          </a:solidFill>
                        </a:rPr>
                        <a:t> $2.1B</a:t>
                      </a:r>
                    </a:p>
                  </a:txBody>
                  <a:tcPr>
                    <a:solidFill>
                      <a:srgbClr val="0F2044"/>
                    </a:solidFill>
                  </a:tcPr>
                </a:tc>
                <a:tc>
                  <a:txBody>
                    <a:bodyPr wrap="square"/>
                    <a:lstStyle/>
                    <a:p>
                      <a:pPr algn="r"/>
                      <a:r>
                        <a:rPr sz="950" b="1" i="0">
                          <a:solidFill>
                            <a:srgbClr val="FFFFFF"/>
                          </a:solidFill>
                        </a:rPr>
                        <a:t> $9.0B</a:t>
                      </a:r>
                    </a:p>
                  </a:txBody>
                  <a:tcPr>
                    <a:solidFill>
                      <a:srgbClr val="0F2044"/>
                    </a:solidFill>
                  </a:tcPr>
                </a:tc>
                <a:tc>
                  <a:txBody>
                    <a:bodyPr wrap="square"/>
                    <a:lstStyle/>
                    <a:p>
                      <a:pPr algn="r"/>
                      <a:r>
                        <a:rPr sz="950" b="1" i="0">
                          <a:solidFill>
                            <a:srgbClr val="FFFFFF"/>
                          </a:solidFill>
                        </a:rPr>
                        <a:t>$1.0B</a:t>
                      </a:r>
                    </a:p>
                  </a:txBody>
                  <a:tcPr>
                    <a:solidFill>
                      <a:srgbClr val="0F2044"/>
                    </a:solidFill>
                  </a:tcPr>
                </a:tc>
                <a:tc>
                  <a:txBody>
                    <a:bodyPr wrap="square"/>
                    <a:lstStyle/>
                    <a:p>
                      <a:pPr algn="r"/>
                      <a:r>
                        <a:rPr sz="950" b="1" i="0">
                          <a:solidFill>
                            <a:srgbClr val="FFFFFF"/>
                          </a:solidFill>
                        </a:rPr>
                        <a:t>$11.0B</a:t>
                      </a:r>
                    </a:p>
                  </a:txBody>
                  <a:tcPr>
                    <a:solidFill>
                      <a:srgbClr val="0F2044"/>
                    </a:solidFill>
                  </a:tcPr>
                </a:tc>
                <a:tc>
                  <a:txBody>
                    <a:bodyPr wrap="square"/>
                    <a:lstStyle/>
                    <a:p>
                      <a:pPr algn="r"/>
                      <a:r>
                        <a:rPr sz="950" b="1" i="0">
                          <a:solidFill>
                            <a:srgbClr val="FFFFFF"/>
                          </a:solidFill>
                        </a:rPr>
                        <a:t>$13.8B</a:t>
                      </a:r>
                    </a:p>
                  </a:txBody>
                  <a:tcPr>
                    <a:solidFill>
                      <a:srgbClr val="0F2044"/>
                    </a:solidFill>
                  </a:tcPr>
                </a:tc>
              </a:tr>
            </a:tbl>
          </a:graphicData>
        </a:graphic>
      </p:graphicFrame>
      <p:sp>
        <p:nvSpPr>
          <p:cNvPr id="32" name="Rectangle 31"/>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¹ PF net income excludes estimated $1.5B one-time integration/restructuring charges in Yr 1. Adj. EBITDA excludes D&amp;A, SBC. FY25E/FY26E are Financial Advisor projections. WBD FY24 net loss includes ~$10.8B non-cash impairment charges (not cash-impacting).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Risk Factors &amp; Mitigants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Key Transaction Risks with Identified Mitigation Strategies</a:t>
            </a:r>
          </a:p>
        </p:txBody>
      </p:sp>
      <p:sp>
        <p:nvSpPr>
          <p:cNvPr id="6" name="TextBox 5"/>
          <p:cNvSpPr txBox="1"/>
          <p:nvPr/>
        </p:nvSpPr>
        <p:spPr>
          <a:xfrm>
            <a:off x="320040" y="1170432"/>
            <a:ext cx="11548872" cy="347472"/>
          </a:xfrm>
          <a:prstGeom prst="rect">
            <a:avLst/>
          </a:prstGeom>
          <a:noFill/>
        </p:spPr>
        <p:txBody>
          <a:bodyPr wrap="square">
            <a:spAutoFit/>
          </a:bodyPr>
          <a:lstStyle/>
          <a:p>
            <a:pPr algn="l"/>
            <a:r>
              <a:rPr sz="1200" b="1" i="0">
                <a:solidFill>
                  <a:srgbClr val="1A1A2E"/>
                </a:solidFill>
              </a:rPr>
              <a:t>Risk Assessment Matrix</a:t>
            </a:r>
          </a:p>
        </p:txBody>
      </p:sp>
      <p:graphicFrame>
        <p:nvGraphicFramePr>
          <p:cNvPr id="7" name="Table 6"/>
          <p:cNvGraphicFramePr>
            <a:graphicFrameLocks noGrp="1"/>
          </p:cNvGraphicFramePr>
          <p:nvPr/>
        </p:nvGraphicFramePr>
        <p:xfrm>
          <a:off x="320040" y="1554480"/>
          <a:ext cx="11548872" cy="4645152"/>
        </p:xfrm>
        <a:graphic>
          <a:graphicData uri="http://schemas.openxmlformats.org/drawingml/2006/table">
            <a:tbl>
              <a:tblPr firstRow="1" bandRow="1">
                <a:tableStyleId>{5C22544A-7EE6-4342-B048-85BDC9FD1C3A}</a:tableStyleId>
              </a:tblPr>
              <a:tblGrid>
                <a:gridCol w="2887218"/>
                <a:gridCol w="2887218"/>
                <a:gridCol w="2887218"/>
                <a:gridCol w="2887218"/>
              </a:tblGrid>
              <a:tr h="516128">
                <a:tc>
                  <a:txBody>
                    <a:bodyPr wrap="square"/>
                    <a:lstStyle/>
                    <a:p>
                      <a:pPr algn="ctr"/>
                      <a:r>
                        <a:rPr sz="1000" b="1" i="0">
                          <a:solidFill>
                            <a:srgbClr val="FFFFFF"/>
                          </a:solidFill>
                        </a:rPr>
                        <a:t>Risk Factor</a:t>
                      </a:r>
                    </a:p>
                  </a:txBody>
                  <a:tcPr>
                    <a:solidFill>
                      <a:srgbClr val="0F2044"/>
                    </a:solidFill>
                  </a:tcPr>
                </a:tc>
                <a:tc>
                  <a:txBody>
                    <a:bodyPr wrap="square"/>
                    <a:lstStyle/>
                    <a:p>
                      <a:pPr algn="ctr"/>
                      <a:r>
                        <a:rPr sz="1000" b="1" i="0">
                          <a:solidFill>
                            <a:srgbClr val="FFFFFF"/>
                          </a:solidFill>
                        </a:rPr>
                        <a:t>Severity</a:t>
                      </a:r>
                    </a:p>
                  </a:txBody>
                  <a:tcPr>
                    <a:solidFill>
                      <a:srgbClr val="0F2044"/>
                    </a:solidFill>
                  </a:tcPr>
                </a:tc>
                <a:tc>
                  <a:txBody>
                    <a:bodyPr wrap="square"/>
                    <a:lstStyle/>
                    <a:p>
                      <a:pPr algn="ctr"/>
                      <a:r>
                        <a:rPr sz="1000" b="1" i="0">
                          <a:solidFill>
                            <a:srgbClr val="FFFFFF"/>
                          </a:solidFill>
                        </a:rPr>
                        <a:t>Mitigation</a:t>
                      </a:r>
                    </a:p>
                  </a:txBody>
                  <a:tcPr>
                    <a:solidFill>
                      <a:srgbClr val="0F2044"/>
                    </a:solidFill>
                  </a:tcPr>
                </a:tc>
                <a:tc>
                  <a:txBody>
                    <a:bodyPr wrap="square"/>
                    <a:lstStyle/>
                    <a:p>
                      <a:pPr algn="ctr"/>
                      <a:r>
                        <a:rPr sz="1000" b="1" i="0">
                          <a:solidFill>
                            <a:srgbClr val="FFFFFF"/>
                          </a:solidFill>
                        </a:rPr>
                        <a:t>Residual Risk</a:t>
                      </a:r>
                    </a:p>
                  </a:txBody>
                  <a:tcPr>
                    <a:solidFill>
                      <a:srgbClr val="0F2044"/>
                    </a:solidFill>
                  </a:tcPr>
                </a:tc>
              </a:tr>
              <a:tr h="516128">
                <a:tc>
                  <a:txBody>
                    <a:bodyPr wrap="square"/>
                    <a:lstStyle/>
                    <a:p>
                      <a:pPr algn="l"/>
                      <a:r>
                        <a:rPr sz="950" b="1" i="0">
                          <a:solidFill>
                            <a:srgbClr val="1A1A2E"/>
                          </a:solidFill>
                        </a:rPr>
                        <a:t>Regulatory / Antitrust Clearance</a:t>
                      </a:r>
                    </a:p>
                  </a:txBody>
                  <a:tcPr>
                    <a:solidFill>
                      <a:srgbClr val="EAF0FB"/>
                    </a:solidFill>
                  </a:tcPr>
                </a:tc>
                <a:tc>
                  <a:txBody>
                    <a:bodyPr wrap="square"/>
                    <a:lstStyle/>
                    <a:p>
                      <a:pPr algn="ctr"/>
                      <a:r>
                        <a:rPr sz="950" b="1" i="0">
                          <a:solidFill>
                            <a:srgbClr val="FF9500"/>
                          </a:solidFill>
                        </a:rPr>
                        <a:t>MEDIUM</a:t>
                      </a:r>
                    </a:p>
                  </a:txBody>
                  <a:tcPr>
                    <a:solidFill>
                      <a:srgbClr val="EAF0FB"/>
                    </a:solidFill>
                  </a:tcPr>
                </a:tc>
                <a:tc>
                  <a:txBody>
                    <a:bodyPr wrap="square"/>
                    <a:lstStyle/>
                    <a:p>
                      <a:pPr algn="l"/>
                      <a:r>
                        <a:rPr sz="900" b="0" i="0">
                          <a:solidFill>
                            <a:srgbClr val="1A1A2E"/>
                          </a:solidFill>
                        </a:rPr>
                        <a:t>No broadcast overlap; streaming-only deal. Offer divest CNN if required. Skydance/Paramount precedent approved in 10 months. EU may require Max/HBO price cap.</a:t>
                      </a:r>
                    </a:p>
                  </a:txBody>
                  <a:tcPr>
                    <a:solidFill>
                      <a:srgbClr val="EAF0FB"/>
                    </a:solidFill>
                  </a:tcPr>
                </a:tc>
                <a:tc>
                  <a:txBody>
                    <a:bodyPr wrap="square"/>
                    <a:lstStyle/>
                    <a:p>
                      <a:pPr algn="ctr"/>
                      <a:r>
                        <a:rPr sz="950" b="1" i="0">
                          <a:solidFill>
                            <a:srgbClr val="FFC000"/>
                          </a:solidFill>
                        </a:rPr>
                        <a:t>LOW–MED</a:t>
                      </a:r>
                    </a:p>
                  </a:txBody>
                  <a:tcPr>
                    <a:solidFill>
                      <a:srgbClr val="EAF0FB"/>
                    </a:solidFill>
                  </a:tcPr>
                </a:tc>
              </a:tr>
              <a:tr h="516128">
                <a:tc>
                  <a:txBody>
                    <a:bodyPr wrap="square"/>
                    <a:lstStyle/>
                    <a:p>
                      <a:pPr algn="l"/>
                      <a:r>
                        <a:rPr sz="950" b="1" i="0">
                          <a:solidFill>
                            <a:srgbClr val="1A1A2E"/>
                          </a:solidFill>
                        </a:rPr>
                        <a:t>Execution Risk / Integration</a:t>
                      </a:r>
                    </a:p>
                  </a:txBody>
                  <a:tcPr/>
                </a:tc>
                <a:tc>
                  <a:txBody>
                    <a:bodyPr wrap="square"/>
                    <a:lstStyle/>
                    <a:p>
                      <a:pPr algn="ctr"/>
                      <a:r>
                        <a:rPr sz="950" b="1" i="0">
                          <a:solidFill>
                            <a:srgbClr val="CC0000"/>
                          </a:solidFill>
                        </a:rPr>
                        <a:t>HIGH</a:t>
                      </a:r>
                    </a:p>
                  </a:txBody>
                  <a:tcPr/>
                </a:tc>
                <a:tc>
                  <a:txBody>
                    <a:bodyPr wrap="square"/>
                    <a:lstStyle/>
                    <a:p>
                      <a:pPr algn="l"/>
                      <a:r>
                        <a:rPr sz="900" b="0" i="0">
                          <a:solidFill>
                            <a:srgbClr val="1A1A2E"/>
                          </a:solidFill>
                        </a:rPr>
                        <a:t>Phased integration: Day 1 = keep brands separate. Month 6 = technology merge. Yr 1 = content teams merge. Retain WBD CEO David Zaslav 12-month transition.</a:t>
                      </a:r>
                    </a:p>
                  </a:txBody>
                  <a:tcPr/>
                </a:tc>
                <a:tc>
                  <a:txBody>
                    <a:bodyPr wrap="square"/>
                    <a:lstStyle/>
                    <a:p>
                      <a:pPr algn="ctr"/>
                      <a:r>
                        <a:rPr sz="950" b="1" i="0">
                          <a:solidFill>
                            <a:srgbClr val="FF9500"/>
                          </a:solidFill>
                        </a:rPr>
                        <a:t>MEDIUM</a:t>
                      </a:r>
                    </a:p>
                  </a:txBody>
                  <a:tcPr/>
                </a:tc>
              </a:tr>
              <a:tr h="516128">
                <a:tc>
                  <a:txBody>
                    <a:bodyPr wrap="square"/>
                    <a:lstStyle/>
                    <a:p>
                      <a:pPr algn="l"/>
                      <a:r>
                        <a:rPr sz="950" b="1" i="0">
                          <a:solidFill>
                            <a:srgbClr val="1A1A2E"/>
                          </a:solidFill>
                        </a:rPr>
                        <a:t>Leverage &amp; Balance Sheet Risk</a:t>
                      </a:r>
                    </a:p>
                  </a:txBody>
                  <a:tcPr>
                    <a:solidFill>
                      <a:srgbClr val="EAF0FB"/>
                    </a:solidFill>
                  </a:tcPr>
                </a:tc>
                <a:tc>
                  <a:txBody>
                    <a:bodyPr wrap="square"/>
                    <a:lstStyle/>
                    <a:p>
                      <a:pPr algn="ctr"/>
                      <a:r>
                        <a:rPr sz="950" b="1" i="0">
                          <a:solidFill>
                            <a:srgbClr val="CC0000"/>
                          </a:solidFill>
                        </a:rPr>
                        <a:t>HIGH</a:t>
                      </a:r>
                    </a:p>
                  </a:txBody>
                  <a:tcPr>
                    <a:solidFill>
                      <a:srgbClr val="EAF0FB"/>
                    </a:solidFill>
                  </a:tcPr>
                </a:tc>
                <a:tc>
                  <a:txBody>
                    <a:bodyPr wrap="square"/>
                    <a:lstStyle/>
                    <a:p>
                      <a:pPr algn="l"/>
                      <a:r>
                        <a:rPr sz="900" b="0" i="0">
                          <a:solidFill>
                            <a:srgbClr val="1A1A2E"/>
                          </a:solidFill>
                        </a:rPr>
                        <a:t>Pro forma 2.9x Net Debt/EBITDA is manageable. $11B+ FCF generates $7–8B/yr net after interest. Committed financing from Tier-1 banks. ILG-rated covenant package.</a:t>
                      </a:r>
                    </a:p>
                  </a:txBody>
                  <a:tcPr>
                    <a:solidFill>
                      <a:srgbClr val="EAF0FB"/>
                    </a:solidFill>
                  </a:tcPr>
                </a:tc>
                <a:tc>
                  <a:txBody>
                    <a:bodyPr wrap="square"/>
                    <a:lstStyle/>
                    <a:p>
                      <a:pPr algn="ctr"/>
                      <a:r>
                        <a:rPr sz="950" b="1" i="0">
                          <a:solidFill>
                            <a:srgbClr val="FFC000"/>
                          </a:solidFill>
                        </a:rPr>
                        <a:t>LOW–MED</a:t>
                      </a:r>
                    </a:p>
                  </a:txBody>
                  <a:tcPr>
                    <a:solidFill>
                      <a:srgbClr val="EAF0FB"/>
                    </a:solidFill>
                  </a:tcPr>
                </a:tc>
              </a:tr>
              <a:tr h="516128">
                <a:tc>
                  <a:txBody>
                    <a:bodyPr wrap="square"/>
                    <a:lstStyle/>
                    <a:p>
                      <a:pPr algn="l"/>
                      <a:r>
                        <a:rPr sz="950" b="1" i="0">
                          <a:solidFill>
                            <a:srgbClr val="1A1A2E"/>
                          </a:solidFill>
                        </a:rPr>
                        <a:t>Linear Networks Secular Decline</a:t>
                      </a:r>
                    </a:p>
                  </a:txBody>
                  <a:tcPr/>
                </a:tc>
                <a:tc>
                  <a:txBody>
                    <a:bodyPr wrap="square"/>
                    <a:lstStyle/>
                    <a:p>
                      <a:pPr algn="ctr"/>
                      <a:r>
                        <a:rPr sz="950" b="1" i="0">
                          <a:solidFill>
                            <a:srgbClr val="FF9500"/>
                          </a:solidFill>
                        </a:rPr>
                        <a:t>MEDIUM</a:t>
                      </a:r>
                    </a:p>
                  </a:txBody>
                  <a:tcPr/>
                </a:tc>
                <a:tc>
                  <a:txBody>
                    <a:bodyPr wrap="square"/>
                    <a:lstStyle/>
                    <a:p>
                      <a:pPr algn="l"/>
                      <a:r>
                        <a:rPr sz="900" b="0" i="0">
                          <a:solidFill>
                            <a:srgbClr val="1A1A2E"/>
                          </a:solidFill>
                        </a:rPr>
                        <a:t>Networks are cash-generative for 5–7 more years at declining rate. Maintain optionality to sell Networks post-close ($10–15B value in 3 years). Structured as 'harvest-and-divest' cash cow.</a:t>
                      </a:r>
                    </a:p>
                  </a:txBody>
                  <a:tcPr/>
                </a:tc>
                <a:tc>
                  <a:txBody>
                    <a:bodyPr wrap="square"/>
                    <a:lstStyle/>
                    <a:p>
                      <a:pPr algn="ctr"/>
                      <a:r>
                        <a:rPr sz="950" b="1" i="0">
                          <a:solidFill>
                            <a:srgbClr val="008A48"/>
                          </a:solidFill>
                        </a:rPr>
                        <a:t>LOW</a:t>
                      </a:r>
                    </a:p>
                  </a:txBody>
                  <a:tcPr/>
                </a:tc>
              </a:tr>
              <a:tr h="516128">
                <a:tc>
                  <a:txBody>
                    <a:bodyPr wrap="square"/>
                    <a:lstStyle/>
                    <a:p>
                      <a:pPr algn="l"/>
                      <a:r>
                        <a:rPr sz="950" b="1" i="0">
                          <a:solidFill>
                            <a:srgbClr val="1A1A2E"/>
                          </a:solidFill>
                        </a:rPr>
                        <a:t>Max/HBO Subscriber Retention</a:t>
                      </a:r>
                    </a:p>
                  </a:txBody>
                  <a:tcPr>
                    <a:solidFill>
                      <a:srgbClr val="EAF0FB"/>
                    </a:solidFill>
                  </a:tcPr>
                </a:tc>
                <a:tc>
                  <a:txBody>
                    <a:bodyPr wrap="square"/>
                    <a:lstStyle/>
                    <a:p>
                      <a:pPr algn="ctr"/>
                      <a:r>
                        <a:rPr sz="950" b="1" i="0">
                          <a:solidFill>
                            <a:srgbClr val="FF9500"/>
                          </a:solidFill>
                        </a:rPr>
                        <a:t>MEDIUM</a:t>
                      </a:r>
                    </a:p>
                  </a:txBody>
                  <a:tcPr>
                    <a:solidFill>
                      <a:srgbClr val="EAF0FB"/>
                    </a:solidFill>
                  </a:tcPr>
                </a:tc>
                <a:tc>
                  <a:txBody>
                    <a:bodyPr wrap="square"/>
                    <a:lstStyle/>
                    <a:p>
                      <a:pPr algn="l"/>
                      <a:r>
                        <a:rPr sz="900" b="0" i="0">
                          <a:solidFill>
                            <a:srgbClr val="1A1A2E"/>
                          </a:solidFill>
                        </a:rPr>
                        <a:t>Do NOT immediately merge services. Maintain HBO Max brand 18 months. Gradual migration to Netflix with HBO bundle benefit. Precedent: Disney+ kept Hulu.</a:t>
                      </a:r>
                    </a:p>
                  </a:txBody>
                  <a:tcPr>
                    <a:solidFill>
                      <a:srgbClr val="EAF0FB"/>
                    </a:solidFill>
                  </a:tcPr>
                </a:tc>
                <a:tc>
                  <a:txBody>
                    <a:bodyPr wrap="square"/>
                    <a:lstStyle/>
                    <a:p>
                      <a:pPr algn="ctr"/>
                      <a:r>
                        <a:rPr sz="950" b="1" i="0">
                          <a:solidFill>
                            <a:srgbClr val="008A48"/>
                          </a:solidFill>
                        </a:rPr>
                        <a:t>LOW</a:t>
                      </a:r>
                    </a:p>
                  </a:txBody>
                  <a:tcPr>
                    <a:solidFill>
                      <a:srgbClr val="EAF0FB"/>
                    </a:solidFill>
                  </a:tcPr>
                </a:tc>
              </a:tr>
              <a:tr h="516128">
                <a:tc>
                  <a:txBody>
                    <a:bodyPr wrap="square"/>
                    <a:lstStyle/>
                    <a:p>
                      <a:pPr algn="l"/>
                      <a:r>
                        <a:rPr sz="950" b="1" i="0">
                          <a:solidFill>
                            <a:srgbClr val="1A1A2E"/>
                          </a:solidFill>
                        </a:rPr>
                        <a:t>Sports Rights Uncertainty</a:t>
                      </a:r>
                    </a:p>
                  </a:txBody>
                  <a:tcPr/>
                </a:tc>
                <a:tc>
                  <a:txBody>
                    <a:bodyPr wrap="square"/>
                    <a:lstStyle/>
                    <a:p>
                      <a:pPr algn="ctr"/>
                      <a:r>
                        <a:rPr sz="950" b="1" i="0">
                          <a:solidFill>
                            <a:srgbClr val="FFC000"/>
                          </a:solidFill>
                        </a:rPr>
                        <a:t>LOW–MED</a:t>
                      </a:r>
                    </a:p>
                  </a:txBody>
                  <a:tcPr/>
                </a:tc>
                <a:tc>
                  <a:txBody>
                    <a:bodyPr wrap="square"/>
                    <a:lstStyle/>
                    <a:p>
                      <a:pPr algn="l"/>
                      <a:r>
                        <a:rPr sz="900" b="0" i="0">
                          <a:solidFill>
                            <a:srgbClr val="1A1A2E"/>
                          </a:solidFill>
                        </a:rPr>
                        <a:t>WBD lost NBA but retains March Madness (–2032), MLB (–2028), NHL (–2028). Netflix already in live sports discussions; WBD accelerates, not creates, risk.</a:t>
                      </a:r>
                    </a:p>
                  </a:txBody>
                  <a:tcPr/>
                </a:tc>
                <a:tc>
                  <a:txBody>
                    <a:bodyPr wrap="square"/>
                    <a:lstStyle/>
                    <a:p>
                      <a:pPr algn="ctr"/>
                      <a:r>
                        <a:rPr sz="950" b="1" i="0">
                          <a:solidFill>
                            <a:srgbClr val="008A48"/>
                          </a:solidFill>
                        </a:rPr>
                        <a:t>LOW</a:t>
                      </a:r>
                    </a:p>
                  </a:txBody>
                  <a:tcPr/>
                </a:tc>
              </a:tr>
              <a:tr h="516128">
                <a:tc>
                  <a:txBody>
                    <a:bodyPr wrap="square"/>
                    <a:lstStyle/>
                    <a:p>
                      <a:pPr algn="l"/>
                      <a:r>
                        <a:rPr sz="950" b="1" i="0">
                          <a:solidFill>
                            <a:srgbClr val="1A1A2E"/>
                          </a:solidFill>
                        </a:rPr>
                        <a:t>Talent &amp; Culture Retention</a:t>
                      </a:r>
                    </a:p>
                  </a:txBody>
                  <a:tcPr>
                    <a:solidFill>
                      <a:srgbClr val="EAF0FB"/>
                    </a:solidFill>
                  </a:tcPr>
                </a:tc>
                <a:tc>
                  <a:txBody>
                    <a:bodyPr wrap="square"/>
                    <a:lstStyle/>
                    <a:p>
                      <a:pPr algn="ctr"/>
                      <a:r>
                        <a:rPr sz="950" b="1" i="0">
                          <a:solidFill>
                            <a:srgbClr val="FF9500"/>
                          </a:solidFill>
                        </a:rPr>
                        <a:t>MEDIUM</a:t>
                      </a:r>
                    </a:p>
                  </a:txBody>
                  <a:tcPr>
                    <a:solidFill>
                      <a:srgbClr val="EAF0FB"/>
                    </a:solidFill>
                  </a:tcPr>
                </a:tc>
                <a:tc>
                  <a:txBody>
                    <a:bodyPr wrap="square"/>
                    <a:lstStyle/>
                    <a:p>
                      <a:pPr algn="l"/>
                      <a:r>
                        <a:rPr sz="900" b="0" i="0">
                          <a:solidFill>
                            <a:srgbClr val="1A1A2E"/>
                          </a:solidFill>
                        </a:rPr>
                        <a:t>Golden handcuff packages for top WBD talent. Netflix culture playbook well-tested. Offer equity upside in combined entity. Retain HBO/Max programming team autonomy.</a:t>
                      </a:r>
                    </a:p>
                  </a:txBody>
                  <a:tcPr>
                    <a:solidFill>
                      <a:srgbClr val="EAF0FB"/>
                    </a:solidFill>
                  </a:tcPr>
                </a:tc>
                <a:tc>
                  <a:txBody>
                    <a:bodyPr wrap="square"/>
                    <a:lstStyle/>
                    <a:p>
                      <a:pPr algn="ctr"/>
                      <a:r>
                        <a:rPr sz="950" b="1" i="0">
                          <a:solidFill>
                            <a:srgbClr val="008A48"/>
                          </a:solidFill>
                        </a:rPr>
                        <a:t>LOW</a:t>
                      </a:r>
                    </a:p>
                  </a:txBody>
                  <a:tcPr>
                    <a:solidFill>
                      <a:srgbClr val="EAF0FB"/>
                    </a:solidFill>
                  </a:tcPr>
                </a:tc>
              </a:tr>
              <a:tr h="516128">
                <a:tc>
                  <a:txBody>
                    <a:bodyPr wrap="square"/>
                    <a:lstStyle/>
                    <a:p>
                      <a:pPr algn="l"/>
                      <a:r>
                        <a:rPr sz="950" b="1" i="0">
                          <a:solidFill>
                            <a:srgbClr val="1A1A2E"/>
                          </a:solidFill>
                        </a:rPr>
                        <a:t>Currency / FX Risk</a:t>
                      </a:r>
                    </a:p>
                  </a:txBody>
                  <a:tcPr/>
                </a:tc>
                <a:tc>
                  <a:txBody>
                    <a:bodyPr wrap="square"/>
                    <a:lstStyle/>
                    <a:p>
                      <a:pPr algn="ctr"/>
                      <a:r>
                        <a:rPr sz="950" b="1" i="0">
                          <a:solidFill>
                            <a:srgbClr val="008A48"/>
                          </a:solidFill>
                        </a:rPr>
                        <a:t>LOW</a:t>
                      </a:r>
                    </a:p>
                  </a:txBody>
                  <a:tcPr/>
                </a:tc>
                <a:tc>
                  <a:txBody>
                    <a:bodyPr wrap="square"/>
                    <a:lstStyle/>
                    <a:p>
                      <a:pPr algn="l"/>
                      <a:r>
                        <a:rPr sz="900" b="0" i="0">
                          <a:solidFill>
                            <a:srgbClr val="1A1A2E"/>
                          </a:solidFill>
                        </a:rPr>
                        <a:t>~40% WBD revenue international but USD-denominated contracts. Natural hedge from Netflix global revenue base. FX overlay program at combined entity.</a:t>
                      </a:r>
                    </a:p>
                  </a:txBody>
                  <a:tcPr/>
                </a:tc>
                <a:tc>
                  <a:txBody>
                    <a:bodyPr wrap="square"/>
                    <a:lstStyle/>
                    <a:p>
                      <a:pPr algn="ctr"/>
                      <a:r>
                        <a:rPr sz="950" b="1" i="0">
                          <a:solidFill>
                            <a:srgbClr val="008A48"/>
                          </a:solidFill>
                        </a:rPr>
                        <a:t>LOW</a:t>
                      </a:r>
                    </a:p>
                  </a:txBody>
                  <a:tcPr/>
                </a:tc>
              </a:tr>
            </a:tbl>
          </a:graphicData>
        </a:graphic>
      </p:graphicFrame>
      <p:sp>
        <p:nvSpPr>
          <p:cNvPr id="8" name="Rectangle 7"/>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Risk severity and residual risk are Financial Advisor qualitative assessments. Regulatory timeline and outcome subject to jurisdictional review processes.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044"/>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8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64592"/>
            <a:ext cx="11430000" cy="594360"/>
          </a:xfrm>
          <a:prstGeom prst="rect">
            <a:avLst/>
          </a:prstGeom>
          <a:noFill/>
        </p:spPr>
        <p:txBody>
          <a:bodyPr wrap="square">
            <a:spAutoFit/>
          </a:bodyPr>
          <a:lstStyle/>
          <a:p>
            <a:pPr algn="l"/>
            <a:r>
              <a:rPr sz="2200" b="1" i="0">
                <a:solidFill>
                  <a:srgbClr val="FFFFFF"/>
                </a:solidFill>
              </a:rPr>
              <a:t>Recommendation &amp; Next Steps</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Financial Advisor Assessment — For Management Discussion Only</a:t>
            </a:r>
          </a:p>
        </p:txBody>
      </p:sp>
      <p:sp>
        <p:nvSpPr>
          <p:cNvPr id="6" name="Rectangle 5"/>
          <p:cNvSpPr/>
          <p:nvPr/>
        </p:nvSpPr>
        <p:spPr>
          <a:xfrm>
            <a:off x="320040" y="1234440"/>
            <a:ext cx="11548872" cy="1417320"/>
          </a:xfrm>
          <a:prstGeom prst="rect">
            <a:avLst/>
          </a:prstGeom>
          <a:solidFill>
            <a:srgbClr val="1A3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34440"/>
            <a:ext cx="164592" cy="1417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80160"/>
            <a:ext cx="3657600" cy="411480"/>
          </a:xfrm>
          <a:prstGeom prst="rect">
            <a:avLst/>
          </a:prstGeom>
          <a:noFill/>
        </p:spPr>
        <p:txBody>
          <a:bodyPr wrap="square">
            <a:spAutoFit/>
          </a:bodyPr>
          <a:lstStyle/>
          <a:p>
            <a:pPr algn="l"/>
            <a:r>
              <a:rPr sz="1400" b="1" i="0">
                <a:solidFill>
                  <a:srgbClr val="C9A84C"/>
                </a:solidFill>
              </a:rPr>
              <a:t>RECOMMENDATION</a:t>
            </a:r>
          </a:p>
        </p:txBody>
      </p:sp>
      <p:sp>
        <p:nvSpPr>
          <p:cNvPr id="9" name="TextBox 8"/>
          <p:cNvSpPr txBox="1"/>
          <p:nvPr/>
        </p:nvSpPr>
        <p:spPr>
          <a:xfrm>
            <a:off x="566928" y="1719072"/>
            <a:ext cx="11155680" cy="868680"/>
          </a:xfrm>
          <a:prstGeom prst="rect">
            <a:avLst/>
          </a:prstGeom>
          <a:noFill/>
        </p:spPr>
        <p:txBody>
          <a:bodyPr wrap="square">
            <a:spAutoFit/>
          </a:bodyPr>
          <a:lstStyle/>
          <a:p>
            <a:pPr algn="l"/>
            <a:r>
              <a:rPr sz="1100" b="0" i="0">
                <a:solidFill>
                  <a:srgbClr val="FFFFFF"/>
                </a:solidFill>
              </a:rPr>
              <a:t>We recommend Netflix pursue a strategic acquisition of Warner Bros. Discovery at $10.00 per share, representing an approximately 182% premium to the current undisturbed share price of $3.55. The total transaction value of ~$60 billion (EV) represents 6.2x LTM Adjusted EBITDA — a disciplined entry price that compares favorably to all precedent media M&amp;A transactions. The ~$4.0B/yr in synergies (NPV ~$38B) provides a compelling return on the $23.8B equity investment. Netflix should initiate confidential outreach to the WBD Board immediately.</a:t>
            </a:r>
          </a:p>
        </p:txBody>
      </p:sp>
      <p:sp>
        <p:nvSpPr>
          <p:cNvPr id="10" name="Rectangle 9"/>
          <p:cNvSpPr/>
          <p:nvPr/>
        </p:nvSpPr>
        <p:spPr>
          <a:xfrm>
            <a:off x="320040" y="2880360"/>
            <a:ext cx="3749039" cy="2084831"/>
          </a:xfrm>
          <a:prstGeom prst="rect">
            <a:avLst/>
          </a:prstGeom>
          <a:solidFill>
            <a:srgbClr val="1A3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880360"/>
            <a:ext cx="3749039" cy="4114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907792"/>
            <a:ext cx="3474720" cy="347472"/>
          </a:xfrm>
          <a:prstGeom prst="rect">
            <a:avLst/>
          </a:prstGeom>
          <a:noFill/>
        </p:spPr>
        <p:txBody>
          <a:bodyPr wrap="square">
            <a:spAutoFit/>
          </a:bodyPr>
          <a:lstStyle/>
          <a:p>
            <a:pPr algn="ctr"/>
            <a:r>
              <a:rPr sz="1400" b="1" i="0">
                <a:solidFill>
                  <a:srgbClr val="FFFFFF"/>
                </a:solidFill>
              </a:rPr>
              <a:t>Strategic</a:t>
            </a:r>
          </a:p>
        </p:txBody>
      </p:sp>
      <p:sp>
        <p:nvSpPr>
          <p:cNvPr id="13" name="TextBox 12"/>
          <p:cNvSpPr txBox="1"/>
          <p:nvPr/>
        </p:nvSpPr>
        <p:spPr>
          <a:xfrm>
            <a:off x="457200" y="3364992"/>
            <a:ext cx="3474720" cy="1536192"/>
          </a:xfrm>
          <a:prstGeom prst="rect">
            <a:avLst/>
          </a:prstGeom>
          <a:noFill/>
        </p:spPr>
        <p:txBody>
          <a:bodyPr wrap="square">
            <a:spAutoFit/>
          </a:bodyPr>
          <a:lstStyle/>
          <a:p>
            <a:pPr algn="l"/>
            <a:r>
              <a:rPr sz="1000" b="0" i="0">
                <a:solidFill>
                  <a:srgbClr val="FFFFFF"/>
                </a:solidFill>
              </a:rPr>
              <a:t>• Eliminates #2 streaming competitor (Max 96M subs)
• Secures irreplaceable IP (DC, HP, GoT) for $0 content CPM
• Sports rights de-risk Netflix live content strategy
• Creates unassailable 400M+ subscriber leadership</a:t>
            </a:r>
          </a:p>
        </p:txBody>
      </p:sp>
      <p:sp>
        <p:nvSpPr>
          <p:cNvPr id="14" name="Rectangle 13"/>
          <p:cNvSpPr/>
          <p:nvPr/>
        </p:nvSpPr>
        <p:spPr>
          <a:xfrm>
            <a:off x="4279392" y="2880360"/>
            <a:ext cx="3749039" cy="2084831"/>
          </a:xfrm>
          <a:prstGeom prst="rect">
            <a:avLst/>
          </a:prstGeom>
          <a:solidFill>
            <a:srgbClr val="1A3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2880360"/>
            <a:ext cx="3749039" cy="411480"/>
          </a:xfrm>
          <a:prstGeom prst="rect">
            <a:avLst/>
          </a:prstGeom>
          <a:solidFill>
            <a:srgbClr val="008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2" y="2907792"/>
            <a:ext cx="3474720" cy="347472"/>
          </a:xfrm>
          <a:prstGeom prst="rect">
            <a:avLst/>
          </a:prstGeom>
          <a:noFill/>
        </p:spPr>
        <p:txBody>
          <a:bodyPr wrap="square">
            <a:spAutoFit/>
          </a:bodyPr>
          <a:lstStyle/>
          <a:p>
            <a:pPr algn="ctr"/>
            <a:r>
              <a:rPr sz="1400" b="1" i="0">
                <a:solidFill>
                  <a:srgbClr val="FFFFFF"/>
                </a:solidFill>
              </a:rPr>
              <a:t>Financial</a:t>
            </a:r>
          </a:p>
        </p:txBody>
      </p:sp>
      <p:sp>
        <p:nvSpPr>
          <p:cNvPr id="17" name="TextBox 16"/>
          <p:cNvSpPr txBox="1"/>
          <p:nvPr/>
        </p:nvSpPr>
        <p:spPr>
          <a:xfrm>
            <a:off x="4416552" y="3364992"/>
            <a:ext cx="3474720" cy="1536192"/>
          </a:xfrm>
          <a:prstGeom prst="rect">
            <a:avLst/>
          </a:prstGeom>
          <a:noFill/>
        </p:spPr>
        <p:txBody>
          <a:bodyPr wrap="square">
            <a:spAutoFit/>
          </a:bodyPr>
          <a:lstStyle/>
          <a:p>
            <a:pPr algn="l"/>
            <a:r>
              <a:rPr sz="1000" b="0" i="0">
                <a:solidFill>
                  <a:srgbClr val="FFFFFF"/>
                </a:solidFill>
              </a:rPr>
              <a:t>• 6.2x EV/EBITDA — cheapest large-scale media M&amp;A in 5 years
• $4.0B/yr synergies → IRR of ~22% on equity invested
• Net leverage peaks at 2.9x → sub-2.0x in Year 3
• EPS accretive within 18–24 months post-synergy ramp</a:t>
            </a:r>
          </a:p>
        </p:txBody>
      </p:sp>
      <p:sp>
        <p:nvSpPr>
          <p:cNvPr id="18" name="Rectangle 17"/>
          <p:cNvSpPr/>
          <p:nvPr/>
        </p:nvSpPr>
        <p:spPr>
          <a:xfrm>
            <a:off x="8238744" y="2880360"/>
            <a:ext cx="3749039" cy="2084831"/>
          </a:xfrm>
          <a:prstGeom prst="rect">
            <a:avLst/>
          </a:prstGeom>
          <a:solidFill>
            <a:srgbClr val="1A3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2880360"/>
            <a:ext cx="3749039" cy="41148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5904" y="2907792"/>
            <a:ext cx="3474720" cy="347472"/>
          </a:xfrm>
          <a:prstGeom prst="rect">
            <a:avLst/>
          </a:prstGeom>
          <a:noFill/>
        </p:spPr>
        <p:txBody>
          <a:bodyPr wrap="square">
            <a:spAutoFit/>
          </a:bodyPr>
          <a:lstStyle/>
          <a:p>
            <a:pPr algn="ctr"/>
            <a:r>
              <a:rPr sz="1400" b="1" i="0">
                <a:solidFill>
                  <a:srgbClr val="FFFFFF"/>
                </a:solidFill>
              </a:rPr>
              <a:t>Timing</a:t>
            </a:r>
          </a:p>
        </p:txBody>
      </p:sp>
      <p:sp>
        <p:nvSpPr>
          <p:cNvPr id="21" name="TextBox 20"/>
          <p:cNvSpPr txBox="1"/>
          <p:nvPr/>
        </p:nvSpPr>
        <p:spPr>
          <a:xfrm>
            <a:off x="8375904" y="3364992"/>
            <a:ext cx="3474720" cy="1536192"/>
          </a:xfrm>
          <a:prstGeom prst="rect">
            <a:avLst/>
          </a:prstGeom>
          <a:noFill/>
        </p:spPr>
        <p:txBody>
          <a:bodyPr wrap="square">
            <a:spAutoFit/>
          </a:bodyPr>
          <a:lstStyle/>
          <a:p>
            <a:pPr algn="l"/>
            <a:r>
              <a:rPr sz="1000" b="0" i="0">
                <a:solidFill>
                  <a:srgbClr val="FFFFFF"/>
                </a:solidFill>
              </a:rPr>
              <a:t>• WBD Board in active strategic review (Feb 2025)
• Window closing: Comcast/others exploring WBD assets
• Regulatory environment most favorable in 5 years
• Act before further linear decline erodes synergy base</a:t>
            </a:r>
          </a:p>
        </p:txBody>
      </p:sp>
      <p:sp>
        <p:nvSpPr>
          <p:cNvPr id="22" name="Rectangle 21"/>
          <p:cNvSpPr/>
          <p:nvPr/>
        </p:nvSpPr>
        <p:spPr>
          <a:xfrm>
            <a:off x="320040" y="5138928"/>
            <a:ext cx="11548872" cy="1371600"/>
          </a:xfrm>
          <a:prstGeom prst="rect">
            <a:avLst/>
          </a:prstGeom>
          <a:solidFill>
            <a:srgbClr val="1A3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175504"/>
            <a:ext cx="3657600" cy="347472"/>
          </a:xfrm>
          <a:prstGeom prst="rect">
            <a:avLst/>
          </a:prstGeom>
          <a:noFill/>
        </p:spPr>
        <p:txBody>
          <a:bodyPr wrap="square">
            <a:spAutoFit/>
          </a:bodyPr>
          <a:lstStyle/>
          <a:p>
            <a:pPr algn="l"/>
            <a:r>
              <a:rPr sz="1200" b="1" i="0">
                <a:solidFill>
                  <a:srgbClr val="C9A84C"/>
                </a:solidFill>
              </a:rPr>
              <a:t>PROPOSED NEXT STEPS</a:t>
            </a:r>
          </a:p>
        </p:txBody>
      </p:sp>
      <p:sp>
        <p:nvSpPr>
          <p:cNvPr id="24" name="TextBox 23"/>
          <p:cNvSpPr txBox="1"/>
          <p:nvPr/>
        </p:nvSpPr>
        <p:spPr>
          <a:xfrm>
            <a:off x="457200" y="5559552"/>
            <a:ext cx="2194560" cy="320040"/>
          </a:xfrm>
          <a:prstGeom prst="rect">
            <a:avLst/>
          </a:prstGeom>
          <a:noFill/>
        </p:spPr>
        <p:txBody>
          <a:bodyPr wrap="square">
            <a:spAutoFit/>
          </a:bodyPr>
          <a:lstStyle/>
          <a:p>
            <a:pPr algn="ctr"/>
            <a:r>
              <a:rPr sz="950" b="1" i="0">
                <a:solidFill>
                  <a:srgbClr val="C9A84C"/>
                </a:solidFill>
              </a:rPr>
              <a:t>Week 1–2</a:t>
            </a:r>
          </a:p>
        </p:txBody>
      </p:sp>
      <p:sp>
        <p:nvSpPr>
          <p:cNvPr id="25" name="TextBox 24"/>
          <p:cNvSpPr txBox="1"/>
          <p:nvPr/>
        </p:nvSpPr>
        <p:spPr>
          <a:xfrm>
            <a:off x="457200" y="5897880"/>
            <a:ext cx="2194560" cy="548640"/>
          </a:xfrm>
          <a:prstGeom prst="rect">
            <a:avLst/>
          </a:prstGeom>
          <a:noFill/>
        </p:spPr>
        <p:txBody>
          <a:bodyPr wrap="square">
            <a:spAutoFit/>
          </a:bodyPr>
          <a:lstStyle/>
          <a:p>
            <a:pPr algn="ctr"/>
            <a:r>
              <a:rPr sz="850" b="0" i="0">
                <a:solidFill>
                  <a:srgbClr val="FFFFFF"/>
                </a:solidFill>
              </a:rPr>
              <a:t>Form M&amp;A Committee; appoint Transaction Team; authorize Financial Advisor to proceed</a:t>
            </a:r>
          </a:p>
        </p:txBody>
      </p:sp>
      <p:sp>
        <p:nvSpPr>
          <p:cNvPr id="26" name="TextBox 25"/>
          <p:cNvSpPr txBox="1"/>
          <p:nvPr/>
        </p:nvSpPr>
        <p:spPr>
          <a:xfrm>
            <a:off x="2788920" y="5559552"/>
            <a:ext cx="2194560" cy="320040"/>
          </a:xfrm>
          <a:prstGeom prst="rect">
            <a:avLst/>
          </a:prstGeom>
          <a:noFill/>
        </p:spPr>
        <p:txBody>
          <a:bodyPr wrap="square">
            <a:spAutoFit/>
          </a:bodyPr>
          <a:lstStyle/>
          <a:p>
            <a:pPr algn="ctr"/>
            <a:r>
              <a:rPr sz="950" b="1" i="0">
                <a:solidFill>
                  <a:srgbClr val="C9A84C"/>
                </a:solidFill>
              </a:rPr>
              <a:t>Week 2–4</a:t>
            </a:r>
          </a:p>
        </p:txBody>
      </p:sp>
      <p:sp>
        <p:nvSpPr>
          <p:cNvPr id="27" name="TextBox 26"/>
          <p:cNvSpPr txBox="1"/>
          <p:nvPr/>
        </p:nvSpPr>
        <p:spPr>
          <a:xfrm>
            <a:off x="2788920" y="5897880"/>
            <a:ext cx="2194560" cy="548640"/>
          </a:xfrm>
          <a:prstGeom prst="rect">
            <a:avLst/>
          </a:prstGeom>
          <a:noFill/>
        </p:spPr>
        <p:txBody>
          <a:bodyPr wrap="square">
            <a:spAutoFit/>
          </a:bodyPr>
          <a:lstStyle/>
          <a:p>
            <a:pPr algn="ctr"/>
            <a:r>
              <a:rPr sz="850" b="0" i="0">
                <a:solidFill>
                  <a:srgbClr val="FFFFFF"/>
                </a:solidFill>
              </a:rPr>
              <a:t>Confidential outreach to WBD Chairman / CEO; NDA execution; preliminary diligence request</a:t>
            </a:r>
          </a:p>
        </p:txBody>
      </p:sp>
      <p:sp>
        <p:nvSpPr>
          <p:cNvPr id="28" name="TextBox 27"/>
          <p:cNvSpPr txBox="1"/>
          <p:nvPr/>
        </p:nvSpPr>
        <p:spPr>
          <a:xfrm>
            <a:off x="5120640" y="5559552"/>
            <a:ext cx="2194560" cy="320040"/>
          </a:xfrm>
          <a:prstGeom prst="rect">
            <a:avLst/>
          </a:prstGeom>
          <a:noFill/>
        </p:spPr>
        <p:txBody>
          <a:bodyPr wrap="square">
            <a:spAutoFit/>
          </a:bodyPr>
          <a:lstStyle/>
          <a:p>
            <a:pPr algn="ctr"/>
            <a:r>
              <a:rPr sz="950" b="1" i="0">
                <a:solidFill>
                  <a:srgbClr val="C9A84C"/>
                </a:solidFill>
              </a:rPr>
              <a:t>Month 1–2</a:t>
            </a:r>
          </a:p>
        </p:txBody>
      </p:sp>
      <p:sp>
        <p:nvSpPr>
          <p:cNvPr id="29" name="TextBox 28"/>
          <p:cNvSpPr txBox="1"/>
          <p:nvPr/>
        </p:nvSpPr>
        <p:spPr>
          <a:xfrm>
            <a:off x="5120640" y="5897880"/>
            <a:ext cx="2194560" cy="548640"/>
          </a:xfrm>
          <a:prstGeom prst="rect">
            <a:avLst/>
          </a:prstGeom>
          <a:noFill/>
        </p:spPr>
        <p:txBody>
          <a:bodyPr wrap="square">
            <a:spAutoFit/>
          </a:bodyPr>
          <a:lstStyle/>
          <a:p>
            <a:pPr algn="ctr"/>
            <a:r>
              <a:rPr sz="850" b="0" i="0">
                <a:solidFill>
                  <a:srgbClr val="FFFFFF"/>
                </a:solidFill>
              </a:rPr>
              <a:t>Management presentations; confirmatory financial &amp; legal due diligence</a:t>
            </a:r>
          </a:p>
        </p:txBody>
      </p:sp>
      <p:sp>
        <p:nvSpPr>
          <p:cNvPr id="30" name="TextBox 29"/>
          <p:cNvSpPr txBox="1"/>
          <p:nvPr/>
        </p:nvSpPr>
        <p:spPr>
          <a:xfrm>
            <a:off x="7452359" y="5559552"/>
            <a:ext cx="2194560" cy="320040"/>
          </a:xfrm>
          <a:prstGeom prst="rect">
            <a:avLst/>
          </a:prstGeom>
          <a:noFill/>
        </p:spPr>
        <p:txBody>
          <a:bodyPr wrap="square">
            <a:spAutoFit/>
          </a:bodyPr>
          <a:lstStyle/>
          <a:p>
            <a:pPr algn="ctr"/>
            <a:r>
              <a:rPr sz="950" b="1" i="0">
                <a:solidFill>
                  <a:srgbClr val="C9A84C"/>
                </a:solidFill>
              </a:rPr>
              <a:t>Month 2–3</a:t>
            </a:r>
          </a:p>
        </p:txBody>
      </p:sp>
      <p:sp>
        <p:nvSpPr>
          <p:cNvPr id="31" name="TextBox 30"/>
          <p:cNvSpPr txBox="1"/>
          <p:nvPr/>
        </p:nvSpPr>
        <p:spPr>
          <a:xfrm>
            <a:off x="7452359" y="5897880"/>
            <a:ext cx="2194560" cy="548640"/>
          </a:xfrm>
          <a:prstGeom prst="rect">
            <a:avLst/>
          </a:prstGeom>
          <a:noFill/>
        </p:spPr>
        <p:txBody>
          <a:bodyPr wrap="square">
            <a:spAutoFit/>
          </a:bodyPr>
          <a:lstStyle/>
          <a:p>
            <a:pPr algn="ctr"/>
            <a:r>
              <a:rPr sz="850" b="0" i="0">
                <a:solidFill>
                  <a:srgbClr val="FFFFFF"/>
                </a:solidFill>
              </a:rPr>
              <a:t>Negotiate definitive merger agreement; secure committed financing; Board approval</a:t>
            </a:r>
          </a:p>
        </p:txBody>
      </p:sp>
      <p:sp>
        <p:nvSpPr>
          <p:cNvPr id="32" name="TextBox 31"/>
          <p:cNvSpPr txBox="1"/>
          <p:nvPr/>
        </p:nvSpPr>
        <p:spPr>
          <a:xfrm>
            <a:off x="9784080" y="5559552"/>
            <a:ext cx="2194560" cy="320040"/>
          </a:xfrm>
          <a:prstGeom prst="rect">
            <a:avLst/>
          </a:prstGeom>
          <a:noFill/>
        </p:spPr>
        <p:txBody>
          <a:bodyPr wrap="square">
            <a:spAutoFit/>
          </a:bodyPr>
          <a:lstStyle/>
          <a:p>
            <a:pPr algn="ctr"/>
            <a:r>
              <a:rPr sz="950" b="1" i="0">
                <a:solidFill>
                  <a:srgbClr val="C9A84C"/>
                </a:solidFill>
              </a:rPr>
              <a:t>Month 3+</a:t>
            </a:r>
          </a:p>
        </p:txBody>
      </p:sp>
      <p:sp>
        <p:nvSpPr>
          <p:cNvPr id="33" name="TextBox 32"/>
          <p:cNvSpPr txBox="1"/>
          <p:nvPr/>
        </p:nvSpPr>
        <p:spPr>
          <a:xfrm>
            <a:off x="9784080" y="5897880"/>
            <a:ext cx="2194560" cy="548640"/>
          </a:xfrm>
          <a:prstGeom prst="rect">
            <a:avLst/>
          </a:prstGeom>
          <a:noFill/>
        </p:spPr>
        <p:txBody>
          <a:bodyPr wrap="square">
            <a:spAutoFit/>
          </a:bodyPr>
          <a:lstStyle/>
          <a:p>
            <a:pPr algn="ctr"/>
            <a:r>
              <a:rPr sz="850" b="0" i="0">
                <a:solidFill>
                  <a:srgbClr val="FFFFFF"/>
                </a:solidFill>
              </a:rPr>
              <a:t>Public announcement; regulatory filings (HSR, EU, FCC); shareholder vote</a:t>
            </a:r>
          </a:p>
        </p:txBody>
      </p:sp>
      <p:sp>
        <p:nvSpPr>
          <p:cNvPr id="34" name="Rectangle 33"/>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This recommendation is provided for discussion purposes only and is subject to ongoing due diligence, satisfactory completion of confirmatory analysis, and Board authorization. May 2025.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Rectangle 1"/>
          <p:cNvSpPr/>
          <p:nvPr/>
        </p:nvSpPr>
        <p:spPr>
          <a:xfrm>
            <a:off x="0" y="0"/>
            <a:ext cx="12188952" cy="1078992"/>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88952" cy="502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430000" cy="566928"/>
          </a:xfrm>
          <a:prstGeom prst="rect">
            <a:avLst/>
          </a:prstGeom>
          <a:noFill/>
        </p:spPr>
        <p:txBody>
          <a:bodyPr wrap="square">
            <a:spAutoFit/>
          </a:bodyPr>
          <a:lstStyle/>
          <a:p>
            <a:pPr algn="l"/>
            <a:r>
              <a:rPr sz="2200" b="1" i="0">
                <a:solidFill>
                  <a:srgbClr val="FFFFFF"/>
                </a:solidFill>
              </a:rPr>
              <a:t>Appendix — Selected Financial Data</a:t>
            </a:r>
          </a:p>
        </p:txBody>
      </p:sp>
      <p:sp>
        <p:nvSpPr>
          <p:cNvPr id="5" name="TextBox 4"/>
          <p:cNvSpPr txBox="1"/>
          <p:nvPr/>
        </p:nvSpPr>
        <p:spPr>
          <a:xfrm>
            <a:off x="347472" y="694944"/>
            <a:ext cx="11430000" cy="347472"/>
          </a:xfrm>
          <a:prstGeom prst="rect">
            <a:avLst/>
          </a:prstGeom>
          <a:noFill/>
        </p:spPr>
        <p:txBody>
          <a:bodyPr wrap="square">
            <a:spAutoFit/>
          </a:bodyPr>
          <a:lstStyle/>
          <a:p>
            <a:pPr algn="l"/>
            <a:r>
              <a:rPr sz="1200" b="0" i="0">
                <a:solidFill>
                  <a:srgbClr val="C9A84C"/>
                </a:solidFill>
              </a:rPr>
              <a:t>Netflix &amp; WBD Historical Financials and Additional Supporting Analysis</a:t>
            </a:r>
          </a:p>
        </p:txBody>
      </p:sp>
      <p:sp>
        <p:nvSpPr>
          <p:cNvPr id="6" name="TextBox 5"/>
          <p:cNvSpPr txBox="1"/>
          <p:nvPr/>
        </p:nvSpPr>
        <p:spPr>
          <a:xfrm>
            <a:off x="320040" y="1207008"/>
            <a:ext cx="5577840" cy="347472"/>
          </a:xfrm>
          <a:prstGeom prst="rect">
            <a:avLst/>
          </a:prstGeom>
          <a:noFill/>
        </p:spPr>
        <p:txBody>
          <a:bodyPr wrap="square">
            <a:spAutoFit/>
          </a:bodyPr>
          <a:lstStyle/>
          <a:p>
            <a:pPr algn="l"/>
            <a:r>
              <a:rPr sz="1100" b="1" i="0">
                <a:solidFill>
                  <a:srgbClr val="1A1A2E"/>
                </a:solidFill>
              </a:rPr>
              <a:t>Netflix — 5-Year Financial Summary ($B)</a:t>
            </a:r>
          </a:p>
        </p:txBody>
      </p:sp>
      <p:graphicFrame>
        <p:nvGraphicFramePr>
          <p:cNvPr id="7" name="Table 6"/>
          <p:cNvGraphicFramePr>
            <a:graphicFrameLocks noGrp="1"/>
          </p:cNvGraphicFramePr>
          <p:nvPr/>
        </p:nvGraphicFramePr>
        <p:xfrm>
          <a:off x="320040" y="1600200"/>
          <a:ext cx="5577840" cy="2148840"/>
        </p:xfrm>
        <a:graphic>
          <a:graphicData uri="http://schemas.openxmlformats.org/drawingml/2006/table">
            <a:tbl>
              <a:tblPr firstRow="1" bandRow="1">
                <a:tableStyleId>{5C22544A-7EE6-4342-B048-85BDC9FD1C3A}</a:tableStyleId>
              </a:tblPr>
              <a:tblGrid>
                <a:gridCol w="929640"/>
                <a:gridCol w="929640"/>
                <a:gridCol w="929640"/>
                <a:gridCol w="929640"/>
                <a:gridCol w="929640"/>
                <a:gridCol w="929640"/>
              </a:tblGrid>
              <a:tr h="306977">
                <a:tc>
                  <a:txBody>
                    <a:bodyPr wrap="square"/>
                    <a:lstStyle/>
                    <a:p>
                      <a:pPr algn="ctr"/>
                      <a:r>
                        <a:rPr sz="900" b="1" i="0">
                          <a:solidFill>
                            <a:srgbClr val="FFFFFF"/>
                          </a:solidFill>
                        </a:rPr>
                        <a:t>Metric</a:t>
                      </a:r>
                    </a:p>
                  </a:txBody>
                  <a:tcPr>
                    <a:solidFill>
                      <a:srgbClr val="0F2044"/>
                    </a:solidFill>
                  </a:tcPr>
                </a:tc>
                <a:tc>
                  <a:txBody>
                    <a:bodyPr wrap="square"/>
                    <a:lstStyle/>
                    <a:p>
                      <a:pPr algn="ctr"/>
                      <a:r>
                        <a:rPr sz="900" b="1" i="0">
                          <a:solidFill>
                            <a:srgbClr val="FFFFFF"/>
                          </a:solidFill>
                        </a:rPr>
                        <a:t>FY2020A</a:t>
                      </a:r>
                    </a:p>
                  </a:txBody>
                  <a:tcPr>
                    <a:solidFill>
                      <a:srgbClr val="0F2044"/>
                    </a:solidFill>
                  </a:tcPr>
                </a:tc>
                <a:tc>
                  <a:txBody>
                    <a:bodyPr wrap="square"/>
                    <a:lstStyle/>
                    <a:p>
                      <a:pPr algn="ctr"/>
                      <a:r>
                        <a:rPr sz="900" b="1" i="0">
                          <a:solidFill>
                            <a:srgbClr val="FFFFFF"/>
                          </a:solidFill>
                        </a:rPr>
                        <a:t>FY2021A</a:t>
                      </a:r>
                    </a:p>
                  </a:txBody>
                  <a:tcPr>
                    <a:solidFill>
                      <a:srgbClr val="0F2044"/>
                    </a:solidFill>
                  </a:tcPr>
                </a:tc>
                <a:tc>
                  <a:txBody>
                    <a:bodyPr wrap="square"/>
                    <a:lstStyle/>
                    <a:p>
                      <a:pPr algn="ctr"/>
                      <a:r>
                        <a:rPr sz="900" b="1" i="0">
                          <a:solidFill>
                            <a:srgbClr val="FFFFFF"/>
                          </a:solidFill>
                        </a:rPr>
                        <a:t>FY2022A</a:t>
                      </a:r>
                    </a:p>
                  </a:txBody>
                  <a:tcPr>
                    <a:solidFill>
                      <a:srgbClr val="0F2044"/>
                    </a:solidFill>
                  </a:tcPr>
                </a:tc>
                <a:tc>
                  <a:txBody>
                    <a:bodyPr wrap="square"/>
                    <a:lstStyle/>
                    <a:p>
                      <a:pPr algn="ctr"/>
                      <a:r>
                        <a:rPr sz="900" b="1" i="0">
                          <a:solidFill>
                            <a:srgbClr val="FFFFFF"/>
                          </a:solidFill>
                        </a:rPr>
                        <a:t>FY2023A</a:t>
                      </a:r>
                    </a:p>
                  </a:txBody>
                  <a:tcPr>
                    <a:solidFill>
                      <a:srgbClr val="0F2044"/>
                    </a:solidFill>
                  </a:tcPr>
                </a:tc>
                <a:tc>
                  <a:txBody>
                    <a:bodyPr wrap="square"/>
                    <a:lstStyle/>
                    <a:p>
                      <a:pPr algn="ctr"/>
                      <a:r>
                        <a:rPr sz="900" b="1" i="0">
                          <a:solidFill>
                            <a:srgbClr val="FFFFFF"/>
                          </a:solidFill>
                        </a:rPr>
                        <a:t>FY2024A</a:t>
                      </a:r>
                    </a:p>
                  </a:txBody>
                  <a:tcPr>
                    <a:solidFill>
                      <a:srgbClr val="0F2044"/>
                    </a:solidFill>
                  </a:tcPr>
                </a:tc>
              </a:tr>
              <a:tr h="306977">
                <a:tc>
                  <a:txBody>
                    <a:bodyPr wrap="square"/>
                    <a:lstStyle/>
                    <a:p>
                      <a:pPr algn="l"/>
                      <a:r>
                        <a:rPr sz="900" b="0" i="0">
                          <a:solidFill>
                            <a:srgbClr val="1A1A2E"/>
                          </a:solidFill>
                        </a:rPr>
                        <a:t>Revenue</a:t>
                      </a:r>
                    </a:p>
                  </a:txBody>
                  <a:tcPr>
                    <a:solidFill>
                      <a:srgbClr val="EAF0FB"/>
                    </a:solidFill>
                  </a:tcPr>
                </a:tc>
                <a:tc>
                  <a:txBody>
                    <a:bodyPr wrap="square"/>
                    <a:lstStyle/>
                    <a:p>
                      <a:pPr algn="r"/>
                      <a:r>
                        <a:rPr sz="900" b="0" i="0">
                          <a:solidFill>
                            <a:srgbClr val="1A1A2E"/>
                          </a:solidFill>
                        </a:rPr>
                        <a:t>$25.0B</a:t>
                      </a:r>
                    </a:p>
                  </a:txBody>
                  <a:tcPr>
                    <a:solidFill>
                      <a:srgbClr val="EAF0FB"/>
                    </a:solidFill>
                  </a:tcPr>
                </a:tc>
                <a:tc>
                  <a:txBody>
                    <a:bodyPr wrap="square"/>
                    <a:lstStyle/>
                    <a:p>
                      <a:pPr algn="r"/>
                      <a:r>
                        <a:rPr sz="900" b="0" i="0">
                          <a:solidFill>
                            <a:srgbClr val="1A1A2E"/>
                          </a:solidFill>
                        </a:rPr>
                        <a:t>$29.7B</a:t>
                      </a:r>
                    </a:p>
                  </a:txBody>
                  <a:tcPr>
                    <a:solidFill>
                      <a:srgbClr val="EAF0FB"/>
                    </a:solidFill>
                  </a:tcPr>
                </a:tc>
                <a:tc>
                  <a:txBody>
                    <a:bodyPr wrap="square"/>
                    <a:lstStyle/>
                    <a:p>
                      <a:pPr algn="r"/>
                      <a:r>
                        <a:rPr sz="900" b="0" i="0">
                          <a:solidFill>
                            <a:srgbClr val="1A1A2E"/>
                          </a:solidFill>
                        </a:rPr>
                        <a:t>$31.6B</a:t>
                      </a:r>
                    </a:p>
                  </a:txBody>
                  <a:tcPr>
                    <a:solidFill>
                      <a:srgbClr val="EAF0FB"/>
                    </a:solidFill>
                  </a:tcPr>
                </a:tc>
                <a:tc>
                  <a:txBody>
                    <a:bodyPr wrap="square"/>
                    <a:lstStyle/>
                    <a:p>
                      <a:pPr algn="r"/>
                      <a:r>
                        <a:rPr sz="900" b="0" i="0">
                          <a:solidFill>
                            <a:srgbClr val="1A1A2E"/>
                          </a:solidFill>
                        </a:rPr>
                        <a:t>$33.7B</a:t>
                      </a:r>
                    </a:p>
                  </a:txBody>
                  <a:tcPr>
                    <a:solidFill>
                      <a:srgbClr val="EAF0FB"/>
                    </a:solidFill>
                  </a:tcPr>
                </a:tc>
                <a:tc>
                  <a:txBody>
                    <a:bodyPr wrap="square"/>
                    <a:lstStyle/>
                    <a:p>
                      <a:pPr algn="r"/>
                      <a:r>
                        <a:rPr sz="900" b="0" i="0">
                          <a:solidFill>
                            <a:srgbClr val="1A1A2E"/>
                          </a:solidFill>
                        </a:rPr>
                        <a:t>$39.0B</a:t>
                      </a:r>
                    </a:p>
                  </a:txBody>
                  <a:tcPr>
                    <a:solidFill>
                      <a:srgbClr val="EAF0FB"/>
                    </a:solidFill>
                  </a:tcPr>
                </a:tc>
              </a:tr>
              <a:tr h="306977">
                <a:tc>
                  <a:txBody>
                    <a:bodyPr wrap="square"/>
                    <a:lstStyle/>
                    <a:p>
                      <a:pPr algn="l"/>
                      <a:r>
                        <a:rPr sz="900" b="0" i="0">
                          <a:solidFill>
                            <a:srgbClr val="1A1A2E"/>
                          </a:solidFill>
                        </a:rPr>
                        <a:t>Gross Profit</a:t>
                      </a:r>
                    </a:p>
                  </a:txBody>
                  <a:tcPr/>
                </a:tc>
                <a:tc>
                  <a:txBody>
                    <a:bodyPr wrap="square"/>
                    <a:lstStyle/>
                    <a:p>
                      <a:pPr algn="r"/>
                      <a:r>
                        <a:rPr sz="900" b="0" i="0">
                          <a:solidFill>
                            <a:srgbClr val="1A1A2E"/>
                          </a:solidFill>
                        </a:rPr>
                        <a:t>$11.5B</a:t>
                      </a:r>
                    </a:p>
                  </a:txBody>
                  <a:tcPr/>
                </a:tc>
                <a:tc>
                  <a:txBody>
                    <a:bodyPr wrap="square"/>
                    <a:lstStyle/>
                    <a:p>
                      <a:pPr algn="r"/>
                      <a:r>
                        <a:rPr sz="900" b="0" i="0">
                          <a:solidFill>
                            <a:srgbClr val="1A1A2E"/>
                          </a:solidFill>
                        </a:rPr>
                        <a:t>$13.0B</a:t>
                      </a:r>
                    </a:p>
                  </a:txBody>
                  <a:tcPr/>
                </a:tc>
                <a:tc>
                  <a:txBody>
                    <a:bodyPr wrap="square"/>
                    <a:lstStyle/>
                    <a:p>
                      <a:pPr algn="r"/>
                      <a:r>
                        <a:rPr sz="900" b="0" i="0">
                          <a:solidFill>
                            <a:srgbClr val="1A1A2E"/>
                          </a:solidFill>
                        </a:rPr>
                        <a:t>$15.2B</a:t>
                      </a:r>
                    </a:p>
                  </a:txBody>
                  <a:tcPr/>
                </a:tc>
                <a:tc>
                  <a:txBody>
                    <a:bodyPr wrap="square"/>
                    <a:lstStyle/>
                    <a:p>
                      <a:pPr algn="r"/>
                      <a:r>
                        <a:rPr sz="900" b="0" i="0">
                          <a:solidFill>
                            <a:srgbClr val="1A1A2E"/>
                          </a:solidFill>
                        </a:rPr>
                        <a:t>$16.6B</a:t>
                      </a:r>
                    </a:p>
                  </a:txBody>
                  <a:tcPr/>
                </a:tc>
                <a:tc>
                  <a:txBody>
                    <a:bodyPr wrap="square"/>
                    <a:lstStyle/>
                    <a:p>
                      <a:pPr algn="r"/>
                      <a:r>
                        <a:rPr sz="900" b="0" i="0">
                          <a:solidFill>
                            <a:srgbClr val="1A1A2E"/>
                          </a:solidFill>
                        </a:rPr>
                        <a:t>$20.6B</a:t>
                      </a:r>
                    </a:p>
                  </a:txBody>
                  <a:tcPr/>
                </a:tc>
              </a:tr>
              <a:tr h="306977">
                <a:tc>
                  <a:txBody>
                    <a:bodyPr wrap="square"/>
                    <a:lstStyle/>
                    <a:p>
                      <a:pPr algn="l"/>
                      <a:r>
                        <a:rPr sz="900" b="1" i="0">
                          <a:solidFill>
                            <a:srgbClr val="1A1A2E"/>
                          </a:solidFill>
                        </a:rPr>
                        <a:t>Adj. EBITDA</a:t>
                      </a:r>
                    </a:p>
                  </a:txBody>
                  <a:tcPr>
                    <a:solidFill>
                      <a:srgbClr val="EAF0FB"/>
                    </a:solidFill>
                  </a:tcPr>
                </a:tc>
                <a:tc>
                  <a:txBody>
                    <a:bodyPr wrap="square"/>
                    <a:lstStyle/>
                    <a:p>
                      <a:pPr algn="r"/>
                      <a:r>
                        <a:rPr sz="900" b="1" i="0">
                          <a:solidFill>
                            <a:srgbClr val="1A1A2E"/>
                          </a:solidFill>
                        </a:rPr>
                        <a:t> $4.6B</a:t>
                      </a:r>
                    </a:p>
                  </a:txBody>
                  <a:tcPr>
                    <a:solidFill>
                      <a:srgbClr val="EAF0FB"/>
                    </a:solidFill>
                  </a:tcPr>
                </a:tc>
                <a:tc>
                  <a:txBody>
                    <a:bodyPr wrap="square"/>
                    <a:lstStyle/>
                    <a:p>
                      <a:pPr algn="r"/>
                      <a:r>
                        <a:rPr sz="900" b="1" i="0">
                          <a:solidFill>
                            <a:srgbClr val="1A1A2E"/>
                          </a:solidFill>
                        </a:rPr>
                        <a:t> $5.1B</a:t>
                      </a:r>
                    </a:p>
                  </a:txBody>
                  <a:tcPr>
                    <a:solidFill>
                      <a:srgbClr val="EAF0FB"/>
                    </a:solidFill>
                  </a:tcPr>
                </a:tc>
                <a:tc>
                  <a:txBody>
                    <a:bodyPr wrap="square"/>
                    <a:lstStyle/>
                    <a:p>
                      <a:pPr algn="r"/>
                      <a:r>
                        <a:rPr sz="900" b="1" i="0">
                          <a:solidFill>
                            <a:srgbClr val="1A1A2E"/>
                          </a:solidFill>
                        </a:rPr>
                        <a:t> $5.7B</a:t>
                      </a:r>
                    </a:p>
                  </a:txBody>
                  <a:tcPr>
                    <a:solidFill>
                      <a:srgbClr val="EAF0FB"/>
                    </a:solidFill>
                  </a:tcPr>
                </a:tc>
                <a:tc>
                  <a:txBody>
                    <a:bodyPr wrap="square"/>
                    <a:lstStyle/>
                    <a:p>
                      <a:pPr algn="r"/>
                      <a:r>
                        <a:rPr sz="900" b="1" i="0">
                          <a:solidFill>
                            <a:srgbClr val="1A1A2E"/>
                          </a:solidFill>
                        </a:rPr>
                        <a:t> $7.0B</a:t>
                      </a:r>
                    </a:p>
                  </a:txBody>
                  <a:tcPr>
                    <a:solidFill>
                      <a:srgbClr val="EAF0FB"/>
                    </a:solidFill>
                  </a:tcPr>
                </a:tc>
                <a:tc>
                  <a:txBody>
                    <a:bodyPr wrap="square"/>
                    <a:lstStyle/>
                    <a:p>
                      <a:pPr algn="r"/>
                      <a:r>
                        <a:rPr sz="900" b="1" i="0">
                          <a:solidFill>
                            <a:srgbClr val="1A1A2E"/>
                          </a:solidFill>
                        </a:rPr>
                        <a:t>$10.4B</a:t>
                      </a:r>
                    </a:p>
                  </a:txBody>
                  <a:tcPr>
                    <a:solidFill>
                      <a:srgbClr val="EAF0FB"/>
                    </a:solidFill>
                  </a:tcPr>
                </a:tc>
              </a:tr>
              <a:tr h="306977">
                <a:tc>
                  <a:txBody>
                    <a:bodyPr wrap="square"/>
                    <a:lstStyle/>
                    <a:p>
                      <a:pPr algn="l"/>
                      <a:r>
                        <a:rPr sz="900" b="0" i="0">
                          <a:solidFill>
                            <a:srgbClr val="1A1A2E"/>
                          </a:solidFill>
                        </a:rPr>
                        <a:t>EBITDA Margin</a:t>
                      </a:r>
                    </a:p>
                  </a:txBody>
                  <a:tcPr/>
                </a:tc>
                <a:tc>
                  <a:txBody>
                    <a:bodyPr wrap="square"/>
                    <a:lstStyle/>
                    <a:p>
                      <a:pPr algn="r"/>
                      <a:r>
                        <a:rPr sz="900" b="0" i="0">
                          <a:solidFill>
                            <a:srgbClr val="1A1A2E"/>
                          </a:solidFill>
                        </a:rPr>
                        <a:t>18.4%</a:t>
                      </a:r>
                    </a:p>
                  </a:txBody>
                  <a:tcPr/>
                </a:tc>
                <a:tc>
                  <a:txBody>
                    <a:bodyPr wrap="square"/>
                    <a:lstStyle/>
                    <a:p>
                      <a:pPr algn="r"/>
                      <a:r>
                        <a:rPr sz="900" b="0" i="0">
                          <a:solidFill>
                            <a:srgbClr val="1A1A2E"/>
                          </a:solidFill>
                        </a:rPr>
                        <a:t>17.2%</a:t>
                      </a:r>
                    </a:p>
                  </a:txBody>
                  <a:tcPr/>
                </a:tc>
                <a:tc>
                  <a:txBody>
                    <a:bodyPr wrap="square"/>
                    <a:lstStyle/>
                    <a:p>
                      <a:pPr algn="r"/>
                      <a:r>
                        <a:rPr sz="900" b="0" i="0">
                          <a:solidFill>
                            <a:srgbClr val="1A1A2E"/>
                          </a:solidFill>
                        </a:rPr>
                        <a:t>18.1%</a:t>
                      </a:r>
                    </a:p>
                  </a:txBody>
                  <a:tcPr/>
                </a:tc>
                <a:tc>
                  <a:txBody>
                    <a:bodyPr wrap="square"/>
                    <a:lstStyle/>
                    <a:p>
                      <a:pPr algn="r"/>
                      <a:r>
                        <a:rPr sz="900" b="0" i="0">
                          <a:solidFill>
                            <a:srgbClr val="1A1A2E"/>
                          </a:solidFill>
                        </a:rPr>
                        <a:t>20.8%</a:t>
                      </a:r>
                    </a:p>
                  </a:txBody>
                  <a:tcPr/>
                </a:tc>
                <a:tc>
                  <a:txBody>
                    <a:bodyPr wrap="square"/>
                    <a:lstStyle/>
                    <a:p>
                      <a:pPr algn="r"/>
                      <a:r>
                        <a:rPr sz="900" b="0" i="0">
                          <a:solidFill>
                            <a:srgbClr val="1A1A2E"/>
                          </a:solidFill>
                        </a:rPr>
                        <a:t>26.6%</a:t>
                      </a:r>
                    </a:p>
                  </a:txBody>
                  <a:tcPr/>
                </a:tc>
              </a:tr>
              <a:tr h="306977">
                <a:tc>
                  <a:txBody>
                    <a:bodyPr wrap="square"/>
                    <a:lstStyle/>
                    <a:p>
                      <a:pPr algn="l"/>
                      <a:r>
                        <a:rPr sz="900" b="1" i="0">
                          <a:solidFill>
                            <a:srgbClr val="1A1A2E"/>
                          </a:solidFill>
                        </a:rPr>
                        <a:t>Net Income</a:t>
                      </a:r>
                    </a:p>
                  </a:txBody>
                  <a:tcPr>
                    <a:solidFill>
                      <a:srgbClr val="EAF0FB"/>
                    </a:solidFill>
                  </a:tcPr>
                </a:tc>
                <a:tc>
                  <a:txBody>
                    <a:bodyPr wrap="square"/>
                    <a:lstStyle/>
                    <a:p>
                      <a:pPr algn="r"/>
                      <a:r>
                        <a:rPr sz="900" b="1" i="0">
                          <a:solidFill>
                            <a:srgbClr val="1A1A2E"/>
                          </a:solidFill>
                        </a:rPr>
                        <a:t> $2.8B</a:t>
                      </a:r>
                    </a:p>
                  </a:txBody>
                  <a:tcPr>
                    <a:solidFill>
                      <a:srgbClr val="EAF0FB"/>
                    </a:solidFill>
                  </a:tcPr>
                </a:tc>
                <a:tc>
                  <a:txBody>
                    <a:bodyPr wrap="square"/>
                    <a:lstStyle/>
                    <a:p>
                      <a:pPr algn="r"/>
                      <a:r>
                        <a:rPr sz="900" b="1" i="0">
                          <a:solidFill>
                            <a:srgbClr val="1A1A2E"/>
                          </a:solidFill>
                        </a:rPr>
                        <a:t> $5.1B</a:t>
                      </a:r>
                    </a:p>
                  </a:txBody>
                  <a:tcPr>
                    <a:solidFill>
                      <a:srgbClr val="EAF0FB"/>
                    </a:solidFill>
                  </a:tcPr>
                </a:tc>
                <a:tc>
                  <a:txBody>
                    <a:bodyPr wrap="square"/>
                    <a:lstStyle/>
                    <a:p>
                      <a:pPr algn="r"/>
                      <a:r>
                        <a:rPr sz="900" b="1" i="0">
                          <a:solidFill>
                            <a:srgbClr val="1A1A2E"/>
                          </a:solidFill>
                        </a:rPr>
                        <a:t> $4.5B</a:t>
                      </a:r>
                    </a:p>
                  </a:txBody>
                  <a:tcPr>
                    <a:solidFill>
                      <a:srgbClr val="EAF0FB"/>
                    </a:solidFill>
                  </a:tcPr>
                </a:tc>
                <a:tc>
                  <a:txBody>
                    <a:bodyPr wrap="square"/>
                    <a:lstStyle/>
                    <a:p>
                      <a:pPr algn="r"/>
                      <a:r>
                        <a:rPr sz="900" b="1" i="0">
                          <a:solidFill>
                            <a:srgbClr val="1A1A2E"/>
                          </a:solidFill>
                        </a:rPr>
                        <a:t> $5.4B</a:t>
                      </a:r>
                    </a:p>
                  </a:txBody>
                  <a:tcPr>
                    <a:solidFill>
                      <a:srgbClr val="EAF0FB"/>
                    </a:solidFill>
                  </a:tcPr>
                </a:tc>
                <a:tc>
                  <a:txBody>
                    <a:bodyPr wrap="square"/>
                    <a:lstStyle/>
                    <a:p>
                      <a:pPr algn="r"/>
                      <a:r>
                        <a:rPr sz="900" b="1" i="0">
                          <a:solidFill>
                            <a:srgbClr val="1A1A2E"/>
                          </a:solidFill>
                        </a:rPr>
                        <a:t> $8.7B</a:t>
                      </a:r>
                    </a:p>
                  </a:txBody>
                  <a:tcPr>
                    <a:solidFill>
                      <a:srgbClr val="EAF0FB"/>
                    </a:solidFill>
                  </a:tcPr>
                </a:tc>
              </a:tr>
              <a:tr h="306978">
                <a:tc>
                  <a:txBody>
                    <a:bodyPr wrap="square"/>
                    <a:lstStyle/>
                    <a:p>
                      <a:pPr algn="l"/>
                      <a:r>
                        <a:rPr sz="900" b="0" i="0">
                          <a:solidFill>
                            <a:srgbClr val="1A1A2E"/>
                          </a:solidFill>
                        </a:rPr>
                        <a:t>FCF</a:t>
                      </a:r>
                    </a:p>
                  </a:txBody>
                  <a:tcPr/>
                </a:tc>
                <a:tc>
                  <a:txBody>
                    <a:bodyPr wrap="square"/>
                    <a:lstStyle/>
                    <a:p>
                      <a:pPr algn="r"/>
                      <a:r>
                        <a:rPr sz="900" b="0" i="0">
                          <a:solidFill>
                            <a:srgbClr val="1A1A2E"/>
                          </a:solidFill>
                        </a:rPr>
                        <a:t> $1.9B</a:t>
                      </a:r>
                    </a:p>
                  </a:txBody>
                  <a:tcPr/>
                </a:tc>
                <a:tc>
                  <a:txBody>
                    <a:bodyPr wrap="square"/>
                    <a:lstStyle/>
                    <a:p>
                      <a:pPr algn="r"/>
                      <a:r>
                        <a:rPr sz="900" b="0" i="0">
                          <a:solidFill>
                            <a:srgbClr val="1A1A2E"/>
                          </a:solidFill>
                        </a:rPr>
                        <a:t> -$0.1B</a:t>
                      </a:r>
                    </a:p>
                  </a:txBody>
                  <a:tcPr/>
                </a:tc>
                <a:tc>
                  <a:txBody>
                    <a:bodyPr wrap="square"/>
                    <a:lstStyle/>
                    <a:p>
                      <a:pPr algn="r"/>
                      <a:r>
                        <a:rPr sz="900" b="0" i="0">
                          <a:solidFill>
                            <a:srgbClr val="1A1A2E"/>
                          </a:solidFill>
                        </a:rPr>
                        <a:t> $1.6B</a:t>
                      </a:r>
                    </a:p>
                  </a:txBody>
                  <a:tcPr/>
                </a:tc>
                <a:tc>
                  <a:txBody>
                    <a:bodyPr wrap="square"/>
                    <a:lstStyle/>
                    <a:p>
                      <a:pPr algn="r"/>
                      <a:r>
                        <a:rPr sz="900" b="0" i="0">
                          <a:solidFill>
                            <a:srgbClr val="1A1A2E"/>
                          </a:solidFill>
                        </a:rPr>
                        <a:t> $6.9B</a:t>
                      </a:r>
                    </a:p>
                  </a:txBody>
                  <a:tcPr/>
                </a:tc>
                <a:tc>
                  <a:txBody>
                    <a:bodyPr wrap="square"/>
                    <a:lstStyle/>
                    <a:p>
                      <a:pPr algn="r"/>
                      <a:r>
                        <a:rPr sz="900" b="0" i="0">
                          <a:solidFill>
                            <a:srgbClr val="1A1A2E"/>
                          </a:solidFill>
                        </a:rPr>
                        <a:t> $6.9B</a:t>
                      </a:r>
                    </a:p>
                  </a:txBody>
                  <a:tcPr/>
                </a:tc>
              </a:tr>
            </a:tbl>
          </a:graphicData>
        </a:graphic>
      </p:graphicFrame>
      <p:sp>
        <p:nvSpPr>
          <p:cNvPr id="8" name="TextBox 7"/>
          <p:cNvSpPr txBox="1"/>
          <p:nvPr/>
        </p:nvSpPr>
        <p:spPr>
          <a:xfrm>
            <a:off x="320040" y="3886200"/>
            <a:ext cx="5577840" cy="347472"/>
          </a:xfrm>
          <a:prstGeom prst="rect">
            <a:avLst/>
          </a:prstGeom>
          <a:noFill/>
        </p:spPr>
        <p:txBody>
          <a:bodyPr wrap="square">
            <a:spAutoFit/>
          </a:bodyPr>
          <a:lstStyle/>
          <a:p>
            <a:pPr algn="l"/>
            <a:r>
              <a:rPr sz="1100" b="1" i="0">
                <a:solidFill>
                  <a:srgbClr val="1A1A2E"/>
                </a:solidFill>
              </a:rPr>
              <a:t>WBD — Financial Summary ($B)</a:t>
            </a:r>
          </a:p>
        </p:txBody>
      </p:sp>
      <p:graphicFrame>
        <p:nvGraphicFramePr>
          <p:cNvPr id="9" name="Table 8"/>
          <p:cNvGraphicFramePr>
            <a:graphicFrameLocks noGrp="1"/>
          </p:cNvGraphicFramePr>
          <p:nvPr/>
        </p:nvGraphicFramePr>
        <p:xfrm>
          <a:off x="320040" y="4279392"/>
          <a:ext cx="5577840" cy="1828800"/>
        </p:xfrm>
        <a:graphic>
          <a:graphicData uri="http://schemas.openxmlformats.org/drawingml/2006/table">
            <a:tbl>
              <a:tblPr firstRow="1" bandRow="1">
                <a:tableStyleId>{5C22544A-7EE6-4342-B048-85BDC9FD1C3A}</a:tableStyleId>
              </a:tblPr>
              <a:tblGrid>
                <a:gridCol w="1115568"/>
                <a:gridCol w="1115568"/>
                <a:gridCol w="1115568"/>
                <a:gridCol w="1115568"/>
                <a:gridCol w="1115568"/>
              </a:tblGrid>
              <a:tr h="304800">
                <a:tc>
                  <a:txBody>
                    <a:bodyPr wrap="square"/>
                    <a:lstStyle/>
                    <a:p>
                      <a:pPr algn="ctr"/>
                      <a:r>
                        <a:rPr sz="900" b="1" i="0">
                          <a:solidFill>
                            <a:srgbClr val="FFFFFF"/>
                          </a:solidFill>
                        </a:rPr>
                        <a:t>Metric</a:t>
                      </a:r>
                    </a:p>
                  </a:txBody>
                  <a:tcPr>
                    <a:solidFill>
                      <a:srgbClr val="0F2044"/>
                    </a:solidFill>
                  </a:tcPr>
                </a:tc>
                <a:tc>
                  <a:txBody>
                    <a:bodyPr wrap="square"/>
                    <a:lstStyle/>
                    <a:p>
                      <a:pPr algn="ctr"/>
                      <a:r>
                        <a:rPr sz="900" b="1" i="0">
                          <a:solidFill>
                            <a:srgbClr val="FFFFFF"/>
                          </a:solidFill>
                        </a:rPr>
                        <a:t>FY2022A</a:t>
                      </a:r>
                    </a:p>
                  </a:txBody>
                  <a:tcPr>
                    <a:solidFill>
                      <a:srgbClr val="0F2044"/>
                    </a:solidFill>
                  </a:tcPr>
                </a:tc>
                <a:tc>
                  <a:txBody>
                    <a:bodyPr wrap="square"/>
                    <a:lstStyle/>
                    <a:p>
                      <a:pPr algn="ctr"/>
                      <a:r>
                        <a:rPr sz="900" b="1" i="0">
                          <a:solidFill>
                            <a:srgbClr val="FFFFFF"/>
                          </a:solidFill>
                        </a:rPr>
                        <a:t>FY2023A</a:t>
                      </a:r>
                    </a:p>
                  </a:txBody>
                  <a:tcPr>
                    <a:solidFill>
                      <a:srgbClr val="0F2044"/>
                    </a:solidFill>
                  </a:tcPr>
                </a:tc>
                <a:tc>
                  <a:txBody>
                    <a:bodyPr wrap="square"/>
                    <a:lstStyle/>
                    <a:p>
                      <a:pPr algn="ctr"/>
                      <a:r>
                        <a:rPr sz="900" b="1" i="0">
                          <a:solidFill>
                            <a:srgbClr val="FFFFFF"/>
                          </a:solidFill>
                        </a:rPr>
                        <a:t>FY2024A</a:t>
                      </a:r>
                    </a:p>
                  </a:txBody>
                  <a:tcPr>
                    <a:solidFill>
                      <a:srgbClr val="0F2044"/>
                    </a:solidFill>
                  </a:tcPr>
                </a:tc>
                <a:tc>
                  <a:txBody>
                    <a:bodyPr wrap="square"/>
                    <a:lstStyle/>
                    <a:p>
                      <a:pPr algn="ctr"/>
                      <a:r>
                        <a:rPr sz="900" b="1" i="0">
                          <a:solidFill>
                            <a:srgbClr val="FFFFFF"/>
                          </a:solidFill>
                        </a:rPr>
                        <a:t>Commentary</a:t>
                      </a:r>
                    </a:p>
                  </a:txBody>
                  <a:tcPr>
                    <a:solidFill>
                      <a:srgbClr val="0F2044"/>
                    </a:solidFill>
                  </a:tcPr>
                </a:tc>
              </a:tr>
              <a:tr h="304800">
                <a:tc>
                  <a:txBody>
                    <a:bodyPr wrap="square"/>
                    <a:lstStyle/>
                    <a:p>
                      <a:pPr algn="l"/>
                      <a:r>
                        <a:rPr sz="900" b="0" i="0">
                          <a:solidFill>
                            <a:srgbClr val="1A1A2E"/>
                          </a:solidFill>
                        </a:rPr>
                        <a:t>Revenue</a:t>
                      </a:r>
                    </a:p>
                  </a:txBody>
                  <a:tcPr>
                    <a:solidFill>
                      <a:srgbClr val="EAF0FB"/>
                    </a:solidFill>
                  </a:tcPr>
                </a:tc>
                <a:tc>
                  <a:txBody>
                    <a:bodyPr wrap="square"/>
                    <a:lstStyle/>
                    <a:p>
                      <a:pPr algn="r"/>
                      <a:r>
                        <a:rPr sz="900" b="0" i="0">
                          <a:solidFill>
                            <a:srgbClr val="1A1A2E"/>
                          </a:solidFill>
                        </a:rPr>
                        <a:t>$43.2B</a:t>
                      </a:r>
                    </a:p>
                  </a:txBody>
                  <a:tcPr>
                    <a:solidFill>
                      <a:srgbClr val="EAF0FB"/>
                    </a:solidFill>
                  </a:tcPr>
                </a:tc>
                <a:tc>
                  <a:txBody>
                    <a:bodyPr wrap="square"/>
                    <a:lstStyle/>
                    <a:p>
                      <a:pPr algn="r"/>
                      <a:r>
                        <a:rPr sz="900" b="0" i="0">
                          <a:solidFill>
                            <a:srgbClr val="1A1A2E"/>
                          </a:solidFill>
                        </a:rPr>
                        <a:t>$41.3B</a:t>
                      </a:r>
                    </a:p>
                  </a:txBody>
                  <a:tcPr>
                    <a:solidFill>
                      <a:srgbClr val="EAF0FB"/>
                    </a:solidFill>
                  </a:tcPr>
                </a:tc>
                <a:tc>
                  <a:txBody>
                    <a:bodyPr wrap="square"/>
                    <a:lstStyle/>
                    <a:p>
                      <a:pPr algn="r"/>
                      <a:r>
                        <a:rPr sz="900" b="0" i="0">
                          <a:solidFill>
                            <a:srgbClr val="1A1A2E"/>
                          </a:solidFill>
                        </a:rPr>
                        <a:t>$39.3B</a:t>
                      </a:r>
                    </a:p>
                  </a:txBody>
                  <a:tcPr>
                    <a:solidFill>
                      <a:srgbClr val="EAF0FB"/>
                    </a:solidFill>
                  </a:tcPr>
                </a:tc>
                <a:tc>
                  <a:txBody>
                    <a:bodyPr wrap="square"/>
                    <a:lstStyle/>
                    <a:p>
                      <a:pPr algn="l"/>
                      <a:r>
                        <a:rPr sz="900" b="0" i="1">
                          <a:solidFill>
                            <a:srgbClr val="8A8A9A"/>
                          </a:solidFill>
                        </a:rPr>
                        <a:t>Declining -5% CAGR</a:t>
                      </a:r>
                    </a:p>
                  </a:txBody>
                  <a:tcPr>
                    <a:solidFill>
                      <a:srgbClr val="EAF0FB"/>
                    </a:solidFill>
                  </a:tcPr>
                </a:tc>
              </a:tr>
              <a:tr h="304800">
                <a:tc>
                  <a:txBody>
                    <a:bodyPr wrap="square"/>
                    <a:lstStyle/>
                    <a:p>
                      <a:pPr algn="l"/>
                      <a:r>
                        <a:rPr sz="900" b="1" i="0">
                          <a:solidFill>
                            <a:srgbClr val="1A1A2E"/>
                          </a:solidFill>
                        </a:rPr>
                        <a:t>Adj. EBITDA</a:t>
                      </a:r>
                    </a:p>
                  </a:txBody>
                  <a:tcPr/>
                </a:tc>
                <a:tc>
                  <a:txBody>
                    <a:bodyPr wrap="square"/>
                    <a:lstStyle/>
                    <a:p>
                      <a:pPr algn="r"/>
                      <a:r>
                        <a:rPr sz="900" b="1" i="0">
                          <a:solidFill>
                            <a:srgbClr val="1A1A2E"/>
                          </a:solidFill>
                        </a:rPr>
                        <a:t>$10.3B</a:t>
                      </a:r>
                    </a:p>
                  </a:txBody>
                  <a:tcPr/>
                </a:tc>
                <a:tc>
                  <a:txBody>
                    <a:bodyPr wrap="square"/>
                    <a:lstStyle/>
                    <a:p>
                      <a:pPr algn="r"/>
                      <a:r>
                        <a:rPr sz="900" b="1" i="0">
                          <a:solidFill>
                            <a:srgbClr val="1A1A2E"/>
                          </a:solidFill>
                        </a:rPr>
                        <a:t>$10.8B</a:t>
                      </a:r>
                    </a:p>
                  </a:txBody>
                  <a:tcPr/>
                </a:tc>
                <a:tc>
                  <a:txBody>
                    <a:bodyPr wrap="square"/>
                    <a:lstStyle/>
                    <a:p>
                      <a:pPr algn="r"/>
                      <a:r>
                        <a:rPr sz="900" b="1" i="0">
                          <a:solidFill>
                            <a:srgbClr val="1A1A2E"/>
                          </a:solidFill>
                        </a:rPr>
                        <a:t> $9.7B</a:t>
                      </a:r>
                    </a:p>
                  </a:txBody>
                  <a:tcPr/>
                </a:tc>
                <a:tc>
                  <a:txBody>
                    <a:bodyPr wrap="square"/>
                    <a:lstStyle/>
                    <a:p>
                      <a:pPr algn="l"/>
                      <a:r>
                        <a:rPr sz="900" b="0" i="1">
                          <a:solidFill>
                            <a:srgbClr val="8A8A9A"/>
                          </a:solidFill>
                        </a:rPr>
                        <a:t>Margin compression from cord-cutting</a:t>
                      </a:r>
                    </a:p>
                  </a:txBody>
                  <a:tcPr/>
                </a:tc>
              </a:tr>
              <a:tr h="304800">
                <a:tc>
                  <a:txBody>
                    <a:bodyPr wrap="square"/>
                    <a:lstStyle/>
                    <a:p>
                      <a:pPr algn="l"/>
                      <a:r>
                        <a:rPr sz="900" b="0" i="0">
                          <a:solidFill>
                            <a:srgbClr val="1A1A2E"/>
                          </a:solidFill>
                        </a:rPr>
                        <a:t>Net Income (Loss)</a:t>
                      </a:r>
                    </a:p>
                  </a:txBody>
                  <a:tcPr>
                    <a:solidFill>
                      <a:srgbClr val="EAF0FB"/>
                    </a:solidFill>
                  </a:tcPr>
                </a:tc>
                <a:tc>
                  <a:txBody>
                    <a:bodyPr wrap="square"/>
                    <a:lstStyle/>
                    <a:p>
                      <a:pPr algn="r"/>
                      <a:r>
                        <a:rPr sz="900" b="0" i="0">
                          <a:solidFill>
                            <a:srgbClr val="1A1A2E"/>
                          </a:solidFill>
                        </a:rPr>
                        <a:t>$-2.0B</a:t>
                      </a:r>
                    </a:p>
                  </a:txBody>
                  <a:tcPr>
                    <a:solidFill>
                      <a:srgbClr val="EAF0FB"/>
                    </a:solidFill>
                  </a:tcPr>
                </a:tc>
                <a:tc>
                  <a:txBody>
                    <a:bodyPr wrap="square"/>
                    <a:lstStyle/>
                    <a:p>
                      <a:pPr algn="r"/>
                      <a:r>
                        <a:rPr sz="900" b="0" i="0">
                          <a:solidFill>
                            <a:srgbClr val="1A1A2E"/>
                          </a:solidFill>
                        </a:rPr>
                        <a:t>$-2.1B</a:t>
                      </a:r>
                    </a:p>
                  </a:txBody>
                  <a:tcPr>
                    <a:solidFill>
                      <a:srgbClr val="EAF0FB"/>
                    </a:solidFill>
                  </a:tcPr>
                </a:tc>
                <a:tc>
                  <a:txBody>
                    <a:bodyPr wrap="square"/>
                    <a:lstStyle/>
                    <a:p>
                      <a:pPr algn="r"/>
                      <a:r>
                        <a:rPr sz="900" b="0" i="0">
                          <a:solidFill>
                            <a:srgbClr val="1A1A2E"/>
                          </a:solidFill>
                        </a:rPr>
                        <a:t>-$10.8B</a:t>
                      </a:r>
                    </a:p>
                  </a:txBody>
                  <a:tcPr>
                    <a:solidFill>
                      <a:srgbClr val="EAF0FB"/>
                    </a:solidFill>
                  </a:tcPr>
                </a:tc>
                <a:tc>
                  <a:txBody>
                    <a:bodyPr wrap="square"/>
                    <a:lstStyle/>
                    <a:p>
                      <a:pPr algn="l"/>
                      <a:r>
                        <a:rPr sz="900" b="0" i="1">
                          <a:solidFill>
                            <a:srgbClr val="8A8A9A"/>
                          </a:solidFill>
                        </a:rPr>
                        <a:t>FY24 includes ~$10B impairments</a:t>
                      </a:r>
                    </a:p>
                  </a:txBody>
                  <a:tcPr>
                    <a:solidFill>
                      <a:srgbClr val="EAF0FB"/>
                    </a:solidFill>
                  </a:tcPr>
                </a:tc>
              </a:tr>
              <a:tr h="304800">
                <a:tc>
                  <a:txBody>
                    <a:bodyPr wrap="square"/>
                    <a:lstStyle/>
                    <a:p>
                      <a:pPr algn="l"/>
                      <a:r>
                        <a:rPr sz="900" b="1" i="0">
                          <a:solidFill>
                            <a:srgbClr val="1A1A2E"/>
                          </a:solidFill>
                        </a:rPr>
                        <a:t>Total Debt</a:t>
                      </a:r>
                    </a:p>
                  </a:txBody>
                  <a:tcPr/>
                </a:tc>
                <a:tc>
                  <a:txBody>
                    <a:bodyPr wrap="square"/>
                    <a:lstStyle/>
                    <a:p>
                      <a:pPr algn="r"/>
                      <a:r>
                        <a:rPr sz="900" b="1" i="0">
                          <a:solidFill>
                            <a:srgbClr val="1A1A2E"/>
                          </a:solidFill>
                        </a:rPr>
                        <a:t>$49.7B</a:t>
                      </a:r>
                    </a:p>
                  </a:txBody>
                  <a:tcPr/>
                </a:tc>
                <a:tc>
                  <a:txBody>
                    <a:bodyPr wrap="square"/>
                    <a:lstStyle/>
                    <a:p>
                      <a:pPr algn="r"/>
                      <a:r>
                        <a:rPr sz="900" b="1" i="0">
                          <a:solidFill>
                            <a:srgbClr val="1A1A2E"/>
                          </a:solidFill>
                        </a:rPr>
                        <a:t>$46.0B</a:t>
                      </a:r>
                    </a:p>
                  </a:txBody>
                  <a:tcPr/>
                </a:tc>
                <a:tc>
                  <a:txBody>
                    <a:bodyPr wrap="square"/>
                    <a:lstStyle/>
                    <a:p>
                      <a:pPr algn="r"/>
                      <a:r>
                        <a:rPr sz="900" b="1" i="0">
                          <a:solidFill>
                            <a:srgbClr val="1A1A2E"/>
                          </a:solidFill>
                        </a:rPr>
                        <a:t>$39.5B</a:t>
                      </a:r>
                    </a:p>
                  </a:txBody>
                  <a:tcPr/>
                </a:tc>
                <a:tc>
                  <a:txBody>
                    <a:bodyPr wrap="square"/>
                    <a:lstStyle/>
                    <a:p>
                      <a:pPr algn="l"/>
                      <a:r>
                        <a:rPr sz="900" b="0" i="1">
                          <a:solidFill>
                            <a:srgbClr val="8A8A9A"/>
                          </a:solidFill>
                        </a:rPr>
                        <a:t>Rapid delever: $10B in 2yr</a:t>
                      </a:r>
                    </a:p>
                  </a:txBody>
                  <a:tcPr/>
                </a:tc>
              </a:tr>
              <a:tr h="304800">
                <a:tc>
                  <a:txBody>
                    <a:bodyPr wrap="square"/>
                    <a:lstStyle/>
                    <a:p>
                      <a:pPr algn="l"/>
                      <a:r>
                        <a:rPr sz="900" b="0" i="0">
                          <a:solidFill>
                            <a:srgbClr val="1A1A2E"/>
                          </a:solidFill>
                        </a:rPr>
                        <a:t>Free Cash Flow</a:t>
                      </a:r>
                    </a:p>
                  </a:txBody>
                  <a:tcPr>
                    <a:solidFill>
                      <a:srgbClr val="EAF0FB"/>
                    </a:solidFill>
                  </a:tcPr>
                </a:tc>
                <a:tc>
                  <a:txBody>
                    <a:bodyPr wrap="square"/>
                    <a:lstStyle/>
                    <a:p>
                      <a:pPr algn="r"/>
                      <a:r>
                        <a:rPr sz="900" b="0" i="0">
                          <a:solidFill>
                            <a:srgbClr val="1A1A2E"/>
                          </a:solidFill>
                        </a:rPr>
                        <a:t> $2.8B</a:t>
                      </a:r>
                    </a:p>
                  </a:txBody>
                  <a:tcPr>
                    <a:solidFill>
                      <a:srgbClr val="EAF0FB"/>
                    </a:solidFill>
                  </a:tcPr>
                </a:tc>
                <a:tc>
                  <a:txBody>
                    <a:bodyPr wrap="square"/>
                    <a:lstStyle/>
                    <a:p>
                      <a:pPr algn="r"/>
                      <a:r>
                        <a:rPr sz="900" b="0" i="0">
                          <a:solidFill>
                            <a:srgbClr val="1A1A2E"/>
                          </a:solidFill>
                        </a:rPr>
                        <a:t> $2.2B</a:t>
                      </a:r>
                    </a:p>
                  </a:txBody>
                  <a:tcPr>
                    <a:solidFill>
                      <a:srgbClr val="EAF0FB"/>
                    </a:solidFill>
                  </a:tcPr>
                </a:tc>
                <a:tc>
                  <a:txBody>
                    <a:bodyPr wrap="square"/>
                    <a:lstStyle/>
                    <a:p>
                      <a:pPr algn="r"/>
                      <a:r>
                        <a:rPr sz="900" b="0" i="0">
                          <a:solidFill>
                            <a:srgbClr val="1A1A2E"/>
                          </a:solidFill>
                        </a:rPr>
                        <a:t> $2.1B</a:t>
                      </a:r>
                    </a:p>
                  </a:txBody>
                  <a:tcPr>
                    <a:solidFill>
                      <a:srgbClr val="EAF0FB"/>
                    </a:solidFill>
                  </a:tcPr>
                </a:tc>
                <a:tc>
                  <a:txBody>
                    <a:bodyPr wrap="square"/>
                    <a:lstStyle/>
                    <a:p>
                      <a:pPr algn="l"/>
                      <a:r>
                        <a:rPr sz="900" b="0" i="1">
                          <a:solidFill>
                            <a:srgbClr val="8A8A9A"/>
                          </a:solidFill>
                        </a:rPr>
                        <a:t>Positive FCF despite losses</a:t>
                      </a:r>
                    </a:p>
                  </a:txBody>
                  <a:tcPr>
                    <a:solidFill>
                      <a:srgbClr val="EAF0FB"/>
                    </a:solidFill>
                  </a:tcPr>
                </a:tc>
              </a:tr>
            </a:tbl>
          </a:graphicData>
        </a:graphic>
      </p:graphicFrame>
      <p:sp>
        <p:nvSpPr>
          <p:cNvPr id="10" name="TextBox 9"/>
          <p:cNvSpPr txBox="1"/>
          <p:nvPr/>
        </p:nvSpPr>
        <p:spPr>
          <a:xfrm>
            <a:off x="6080760" y="1207008"/>
            <a:ext cx="5806440" cy="347472"/>
          </a:xfrm>
          <a:prstGeom prst="rect">
            <a:avLst/>
          </a:prstGeom>
          <a:noFill/>
        </p:spPr>
        <p:txBody>
          <a:bodyPr wrap="square">
            <a:spAutoFit/>
          </a:bodyPr>
          <a:lstStyle/>
          <a:p>
            <a:pPr algn="l"/>
            <a:r>
              <a:rPr sz="1100" b="1" i="0">
                <a:solidFill>
                  <a:srgbClr val="1A1A2E"/>
                </a:solidFill>
              </a:rPr>
              <a:t>Synergy NPV Bridge ($B) — 8.75% WACC</a:t>
            </a:r>
          </a:p>
        </p:txBody>
      </p:sp>
      <p:graphicFrame>
        <p:nvGraphicFramePr>
          <p:cNvPr id="11" name="Table 10"/>
          <p:cNvGraphicFramePr>
            <a:graphicFrameLocks noGrp="1"/>
          </p:cNvGraphicFramePr>
          <p:nvPr/>
        </p:nvGraphicFramePr>
        <p:xfrm>
          <a:off x="6080760" y="1600200"/>
          <a:ext cx="5806440" cy="2514600"/>
        </p:xfrm>
        <a:graphic>
          <a:graphicData uri="http://schemas.openxmlformats.org/drawingml/2006/table">
            <a:tbl>
              <a:tblPr firstRow="1" bandRow="1">
                <a:tableStyleId>{5C22544A-7EE6-4342-B048-85BDC9FD1C3A}</a:tableStyleId>
              </a:tblPr>
              <a:tblGrid>
                <a:gridCol w="1451610"/>
                <a:gridCol w="1451610"/>
                <a:gridCol w="1451610"/>
                <a:gridCol w="1451610"/>
              </a:tblGrid>
              <a:tr h="359228">
                <a:tc>
                  <a:txBody>
                    <a:bodyPr wrap="square"/>
                    <a:lstStyle/>
                    <a:p>
                      <a:pPr algn="ctr"/>
                      <a:r>
                        <a:rPr sz="950" b="1" i="0">
                          <a:solidFill>
                            <a:srgbClr val="FFFFFF"/>
                          </a:solidFill>
                        </a:rPr>
                        <a:t>Category</a:t>
                      </a:r>
                    </a:p>
                  </a:txBody>
                  <a:tcPr>
                    <a:solidFill>
                      <a:srgbClr val="0F2044"/>
                    </a:solidFill>
                  </a:tcPr>
                </a:tc>
                <a:tc>
                  <a:txBody>
                    <a:bodyPr wrap="square"/>
                    <a:lstStyle/>
                    <a:p>
                      <a:pPr algn="ctr"/>
                      <a:r>
                        <a:rPr sz="950" b="1" i="0">
                          <a:solidFill>
                            <a:srgbClr val="FFFFFF"/>
                          </a:solidFill>
                        </a:rPr>
                        <a:t>Bear</a:t>
                      </a:r>
                    </a:p>
                  </a:txBody>
                  <a:tcPr>
                    <a:solidFill>
                      <a:srgbClr val="0F2044"/>
                    </a:solidFill>
                  </a:tcPr>
                </a:tc>
                <a:tc>
                  <a:txBody>
                    <a:bodyPr wrap="square"/>
                    <a:lstStyle/>
                    <a:p>
                      <a:pPr algn="ctr"/>
                      <a:r>
                        <a:rPr sz="950" b="1" i="0">
                          <a:solidFill>
                            <a:srgbClr val="FFFFFF"/>
                          </a:solidFill>
                        </a:rPr>
                        <a:t>Base</a:t>
                      </a:r>
                    </a:p>
                  </a:txBody>
                  <a:tcPr>
                    <a:solidFill>
                      <a:srgbClr val="0F2044"/>
                    </a:solidFill>
                  </a:tcPr>
                </a:tc>
                <a:tc>
                  <a:txBody>
                    <a:bodyPr wrap="square"/>
                    <a:lstStyle/>
                    <a:p>
                      <a:pPr algn="ctr"/>
                      <a:r>
                        <a:rPr sz="950" b="1" i="0">
                          <a:solidFill>
                            <a:srgbClr val="FFFFFF"/>
                          </a:solidFill>
                        </a:rPr>
                        <a:t>Bull</a:t>
                      </a:r>
                    </a:p>
                  </a:txBody>
                  <a:tcPr>
                    <a:solidFill>
                      <a:srgbClr val="0F2044"/>
                    </a:solidFill>
                  </a:tcPr>
                </a:tc>
              </a:tr>
              <a:tr h="359228">
                <a:tc>
                  <a:txBody>
                    <a:bodyPr wrap="square"/>
                    <a:lstStyle/>
                    <a:p>
                      <a:pPr algn="l"/>
                      <a:r>
                        <a:rPr sz="950" b="0" i="0">
                          <a:solidFill>
                            <a:srgbClr val="1A1A2E"/>
                          </a:solidFill>
                        </a:rPr>
                        <a:t>Content Cost ($B NPV)</a:t>
                      </a:r>
                    </a:p>
                  </a:txBody>
                  <a:tcPr>
                    <a:solidFill>
                      <a:srgbClr val="EAF0FB"/>
                    </a:solidFill>
                  </a:tcPr>
                </a:tc>
                <a:tc>
                  <a:txBody>
                    <a:bodyPr wrap="square"/>
                    <a:lstStyle/>
                    <a:p>
                      <a:pPr algn="r"/>
                      <a:r>
                        <a:rPr sz="950" b="0" i="0">
                          <a:solidFill>
                            <a:srgbClr val="1A1A2E"/>
                          </a:solidFill>
                        </a:rPr>
                        <a:t>$10B</a:t>
                      </a:r>
                    </a:p>
                  </a:txBody>
                  <a:tcPr>
                    <a:solidFill>
                      <a:srgbClr val="EAF0FB"/>
                    </a:solidFill>
                  </a:tcPr>
                </a:tc>
                <a:tc>
                  <a:txBody>
                    <a:bodyPr wrap="square"/>
                    <a:lstStyle/>
                    <a:p>
                      <a:pPr algn="r"/>
                      <a:r>
                        <a:rPr sz="950" b="0" i="0">
                          <a:solidFill>
                            <a:srgbClr val="1A1A2E"/>
                          </a:solidFill>
                        </a:rPr>
                        <a:t>$14B</a:t>
                      </a:r>
                    </a:p>
                  </a:txBody>
                  <a:tcPr>
                    <a:solidFill>
                      <a:srgbClr val="EAF0FB"/>
                    </a:solidFill>
                  </a:tcPr>
                </a:tc>
                <a:tc>
                  <a:txBody>
                    <a:bodyPr wrap="square"/>
                    <a:lstStyle/>
                    <a:p>
                      <a:pPr algn="r"/>
                      <a:r>
                        <a:rPr sz="950" b="0" i="0">
                          <a:solidFill>
                            <a:srgbClr val="1A1A2E"/>
                          </a:solidFill>
                        </a:rPr>
                        <a:t>$19B</a:t>
                      </a:r>
                    </a:p>
                  </a:txBody>
                  <a:tcPr>
                    <a:solidFill>
                      <a:srgbClr val="EAF0FB"/>
                    </a:solidFill>
                  </a:tcPr>
                </a:tc>
              </a:tr>
              <a:tr h="359228">
                <a:tc>
                  <a:txBody>
                    <a:bodyPr wrap="square"/>
                    <a:lstStyle/>
                    <a:p>
                      <a:pPr algn="l"/>
                      <a:r>
                        <a:rPr sz="950" b="0" i="0">
                          <a:solidFill>
                            <a:srgbClr val="1A1A2E"/>
                          </a:solidFill>
                        </a:rPr>
                        <a:t>Revenue Synergies ($B)</a:t>
                      </a:r>
                    </a:p>
                  </a:txBody>
                  <a:tcPr/>
                </a:tc>
                <a:tc>
                  <a:txBody>
                    <a:bodyPr wrap="square"/>
                    <a:lstStyle/>
                    <a:p>
                      <a:pPr algn="r"/>
                      <a:r>
                        <a:rPr sz="950" b="0" i="0">
                          <a:solidFill>
                            <a:srgbClr val="1A1A2E"/>
                          </a:solidFill>
                        </a:rPr>
                        <a:t> $6B</a:t>
                      </a:r>
                    </a:p>
                  </a:txBody>
                  <a:tcPr/>
                </a:tc>
                <a:tc>
                  <a:txBody>
                    <a:bodyPr wrap="square"/>
                    <a:lstStyle/>
                    <a:p>
                      <a:pPr algn="r"/>
                      <a:r>
                        <a:rPr sz="950" b="0" i="0">
                          <a:solidFill>
                            <a:srgbClr val="1A1A2E"/>
                          </a:solidFill>
                        </a:rPr>
                        <a:t>$12B</a:t>
                      </a:r>
                    </a:p>
                  </a:txBody>
                  <a:tcPr/>
                </a:tc>
                <a:tc>
                  <a:txBody>
                    <a:bodyPr wrap="square"/>
                    <a:lstStyle/>
                    <a:p>
                      <a:pPr algn="r"/>
                      <a:r>
                        <a:rPr sz="950" b="0" i="0">
                          <a:solidFill>
                            <a:srgbClr val="1A1A2E"/>
                          </a:solidFill>
                        </a:rPr>
                        <a:t>$22B</a:t>
                      </a:r>
                    </a:p>
                  </a:txBody>
                  <a:tcPr/>
                </a:tc>
              </a:tr>
              <a:tr h="359228">
                <a:tc>
                  <a:txBody>
                    <a:bodyPr wrap="square"/>
                    <a:lstStyle/>
                    <a:p>
                      <a:pPr algn="l"/>
                      <a:r>
                        <a:rPr sz="950" b="0" i="0">
                          <a:solidFill>
                            <a:srgbClr val="1A1A2E"/>
                          </a:solidFill>
                        </a:rPr>
                        <a:t>Corp. / Tech ($B)</a:t>
                      </a:r>
                    </a:p>
                  </a:txBody>
                  <a:tcPr>
                    <a:solidFill>
                      <a:srgbClr val="EAF0FB"/>
                    </a:solidFill>
                  </a:tcPr>
                </a:tc>
                <a:tc>
                  <a:txBody>
                    <a:bodyPr wrap="square"/>
                    <a:lstStyle/>
                    <a:p>
                      <a:pPr algn="r"/>
                      <a:r>
                        <a:rPr sz="950" b="0" i="0">
                          <a:solidFill>
                            <a:srgbClr val="1A1A2E"/>
                          </a:solidFill>
                        </a:rPr>
                        <a:t> $5B</a:t>
                      </a:r>
                    </a:p>
                  </a:txBody>
                  <a:tcPr>
                    <a:solidFill>
                      <a:srgbClr val="EAF0FB"/>
                    </a:solidFill>
                  </a:tcPr>
                </a:tc>
                <a:tc>
                  <a:txBody>
                    <a:bodyPr wrap="square"/>
                    <a:lstStyle/>
                    <a:p>
                      <a:pPr algn="r"/>
                      <a:r>
                        <a:rPr sz="950" b="0" i="0">
                          <a:solidFill>
                            <a:srgbClr val="1A1A2E"/>
                          </a:solidFill>
                        </a:rPr>
                        <a:t> $7B</a:t>
                      </a:r>
                    </a:p>
                  </a:txBody>
                  <a:tcPr>
                    <a:solidFill>
                      <a:srgbClr val="EAF0FB"/>
                    </a:solidFill>
                  </a:tcPr>
                </a:tc>
                <a:tc>
                  <a:txBody>
                    <a:bodyPr wrap="square"/>
                    <a:lstStyle/>
                    <a:p>
                      <a:pPr algn="r"/>
                      <a:r>
                        <a:rPr sz="950" b="0" i="0">
                          <a:solidFill>
                            <a:srgbClr val="1A1A2E"/>
                          </a:solidFill>
                        </a:rPr>
                        <a:t>$10B</a:t>
                      </a:r>
                    </a:p>
                  </a:txBody>
                  <a:tcPr>
                    <a:solidFill>
                      <a:srgbClr val="EAF0FB"/>
                    </a:solidFill>
                  </a:tcPr>
                </a:tc>
              </a:tr>
              <a:tr h="359228">
                <a:tc>
                  <a:txBody>
                    <a:bodyPr wrap="square"/>
                    <a:lstStyle/>
                    <a:p>
                      <a:pPr algn="l"/>
                      <a:r>
                        <a:rPr sz="950" b="0" i="0">
                          <a:solidFill>
                            <a:srgbClr val="1A1A2E"/>
                          </a:solidFill>
                        </a:rPr>
                        <a:t>Integration Costs</a:t>
                      </a:r>
                    </a:p>
                  </a:txBody>
                  <a:tcPr/>
                </a:tc>
                <a:tc>
                  <a:txBody>
                    <a:bodyPr wrap="square"/>
                    <a:lstStyle/>
                    <a:p>
                      <a:pPr algn="r"/>
                      <a:r>
                        <a:rPr sz="950" b="0" i="0">
                          <a:solidFill>
                            <a:srgbClr val="1A1A2E"/>
                          </a:solidFill>
                        </a:rPr>
                        <a:t>-$1B</a:t>
                      </a:r>
                    </a:p>
                  </a:txBody>
                  <a:tcPr/>
                </a:tc>
                <a:tc>
                  <a:txBody>
                    <a:bodyPr wrap="square"/>
                    <a:lstStyle/>
                    <a:p>
                      <a:pPr algn="r"/>
                      <a:r>
                        <a:rPr sz="950" b="0" i="0">
                          <a:solidFill>
                            <a:srgbClr val="1A1A2E"/>
                          </a:solidFill>
                        </a:rPr>
                        <a:t>-$1.5B</a:t>
                      </a:r>
                    </a:p>
                  </a:txBody>
                  <a:tcPr/>
                </a:tc>
                <a:tc>
                  <a:txBody>
                    <a:bodyPr wrap="square"/>
                    <a:lstStyle/>
                    <a:p>
                      <a:pPr algn="r"/>
                      <a:r>
                        <a:rPr sz="950" b="0" i="0">
                          <a:solidFill>
                            <a:srgbClr val="1A1A2E"/>
                          </a:solidFill>
                        </a:rPr>
                        <a:t>-$2B</a:t>
                      </a:r>
                    </a:p>
                  </a:txBody>
                  <a:tcPr/>
                </a:tc>
              </a:tr>
              <a:tr h="359228">
                <a:tc>
                  <a:txBody>
                    <a:bodyPr wrap="square"/>
                    <a:lstStyle/>
                    <a:p>
                      <a:pPr algn="l"/>
                      <a:r>
                        <a:rPr sz="950" b="1" i="0">
                          <a:solidFill>
                            <a:srgbClr val="1A1A2E"/>
                          </a:solidFill>
                        </a:rPr>
                        <a:t>Pre-Tax NPV Total</a:t>
                      </a:r>
                    </a:p>
                  </a:txBody>
                  <a:tcPr>
                    <a:solidFill>
                      <a:srgbClr val="EAF0FB"/>
                    </a:solidFill>
                  </a:tcPr>
                </a:tc>
                <a:tc>
                  <a:txBody>
                    <a:bodyPr wrap="square"/>
                    <a:lstStyle/>
                    <a:p>
                      <a:pPr algn="r"/>
                      <a:r>
                        <a:rPr sz="950" b="1" i="0">
                          <a:solidFill>
                            <a:srgbClr val="1A1A2E"/>
                          </a:solidFill>
                        </a:rPr>
                        <a:t>$20B</a:t>
                      </a:r>
                    </a:p>
                  </a:txBody>
                  <a:tcPr>
                    <a:solidFill>
                      <a:srgbClr val="EAF0FB"/>
                    </a:solidFill>
                  </a:tcPr>
                </a:tc>
                <a:tc>
                  <a:txBody>
                    <a:bodyPr wrap="square"/>
                    <a:lstStyle/>
                    <a:p>
                      <a:pPr algn="r"/>
                      <a:r>
                        <a:rPr sz="950" b="1" i="0">
                          <a:solidFill>
                            <a:srgbClr val="1A1A2E"/>
                          </a:solidFill>
                        </a:rPr>
                        <a:t>$31.5B</a:t>
                      </a:r>
                    </a:p>
                  </a:txBody>
                  <a:tcPr>
                    <a:solidFill>
                      <a:srgbClr val="EAF0FB"/>
                    </a:solidFill>
                  </a:tcPr>
                </a:tc>
                <a:tc>
                  <a:txBody>
                    <a:bodyPr wrap="square"/>
                    <a:lstStyle/>
                    <a:p>
                      <a:pPr algn="r"/>
                      <a:r>
                        <a:rPr sz="950" b="1" i="0">
                          <a:solidFill>
                            <a:srgbClr val="1A1A2E"/>
                          </a:solidFill>
                        </a:rPr>
                        <a:t>$49B</a:t>
                      </a:r>
                    </a:p>
                  </a:txBody>
                  <a:tcPr>
                    <a:solidFill>
                      <a:srgbClr val="EAF0FB"/>
                    </a:solidFill>
                  </a:tcPr>
                </a:tc>
              </a:tr>
              <a:tr h="359232">
                <a:tc>
                  <a:txBody>
                    <a:bodyPr wrap="square"/>
                    <a:lstStyle/>
                    <a:p>
                      <a:pPr algn="l"/>
                      <a:r>
                        <a:rPr sz="950" b="1" i="0">
                          <a:solidFill>
                            <a:srgbClr val="FFFFFF"/>
                          </a:solidFill>
                        </a:rPr>
                        <a:t>After-Tax NPV (35%)</a:t>
                      </a:r>
                    </a:p>
                  </a:txBody>
                  <a:tcPr>
                    <a:solidFill>
                      <a:srgbClr val="0F2044"/>
                    </a:solidFill>
                  </a:tcPr>
                </a:tc>
                <a:tc>
                  <a:txBody>
                    <a:bodyPr wrap="square"/>
                    <a:lstStyle/>
                    <a:p>
                      <a:pPr algn="r"/>
                      <a:r>
                        <a:rPr sz="950" b="1" i="0">
                          <a:solidFill>
                            <a:srgbClr val="FFFFFF"/>
                          </a:solidFill>
                        </a:rPr>
                        <a:t>$13B</a:t>
                      </a:r>
                    </a:p>
                  </a:txBody>
                  <a:tcPr>
                    <a:solidFill>
                      <a:srgbClr val="0F2044"/>
                    </a:solidFill>
                  </a:tcPr>
                </a:tc>
                <a:tc>
                  <a:txBody>
                    <a:bodyPr wrap="square"/>
                    <a:lstStyle/>
                    <a:p>
                      <a:pPr algn="r"/>
                      <a:r>
                        <a:rPr sz="950" b="1" i="0">
                          <a:solidFill>
                            <a:srgbClr val="FFFFFF"/>
                          </a:solidFill>
                        </a:rPr>
                        <a:t>$20.5B</a:t>
                      </a:r>
                    </a:p>
                  </a:txBody>
                  <a:tcPr>
                    <a:solidFill>
                      <a:srgbClr val="0F2044"/>
                    </a:solidFill>
                  </a:tcPr>
                </a:tc>
                <a:tc>
                  <a:txBody>
                    <a:bodyPr wrap="square"/>
                    <a:lstStyle/>
                    <a:p>
                      <a:pPr algn="r"/>
                      <a:r>
                        <a:rPr sz="950" b="1" i="0">
                          <a:solidFill>
                            <a:srgbClr val="FFFFFF"/>
                          </a:solidFill>
                        </a:rPr>
                        <a:t>$32B</a:t>
                      </a:r>
                    </a:p>
                  </a:txBody>
                  <a:tcPr>
                    <a:solidFill>
                      <a:srgbClr val="0F2044"/>
                    </a:solidFill>
                  </a:tcPr>
                </a:tc>
              </a:tr>
            </a:tbl>
          </a:graphicData>
        </a:graphic>
      </p:graphicFrame>
      <p:sp>
        <p:nvSpPr>
          <p:cNvPr id="12" name="TextBox 11"/>
          <p:cNvSpPr txBox="1"/>
          <p:nvPr/>
        </p:nvSpPr>
        <p:spPr>
          <a:xfrm>
            <a:off x="6080760" y="4251960"/>
            <a:ext cx="5806440" cy="347472"/>
          </a:xfrm>
          <a:prstGeom prst="rect">
            <a:avLst/>
          </a:prstGeom>
          <a:noFill/>
        </p:spPr>
        <p:txBody>
          <a:bodyPr wrap="square">
            <a:spAutoFit/>
          </a:bodyPr>
          <a:lstStyle/>
          <a:p>
            <a:pPr algn="l"/>
            <a:r>
              <a:rPr sz="1100" b="1" i="0">
                <a:solidFill>
                  <a:srgbClr val="1A1A2E"/>
                </a:solidFill>
              </a:rPr>
              <a:t>Synergy Implementation Timeline &amp; One-Time Costs</a:t>
            </a:r>
          </a:p>
        </p:txBody>
      </p:sp>
      <p:graphicFrame>
        <p:nvGraphicFramePr>
          <p:cNvPr id="13" name="Table 12"/>
          <p:cNvGraphicFramePr>
            <a:graphicFrameLocks noGrp="1"/>
          </p:cNvGraphicFramePr>
          <p:nvPr/>
        </p:nvGraphicFramePr>
        <p:xfrm>
          <a:off x="6080760" y="4645152"/>
          <a:ext cx="5806440" cy="1463040"/>
        </p:xfrm>
        <a:graphic>
          <a:graphicData uri="http://schemas.openxmlformats.org/drawingml/2006/table">
            <a:tbl>
              <a:tblPr firstRow="1" bandRow="1">
                <a:tableStyleId>{5C22544A-7EE6-4342-B048-85BDC9FD1C3A}</a:tableStyleId>
              </a:tblPr>
              <a:tblGrid>
                <a:gridCol w="1451610"/>
                <a:gridCol w="1451610"/>
                <a:gridCol w="1451610"/>
                <a:gridCol w="1451610"/>
              </a:tblGrid>
              <a:tr h="292608">
                <a:tc>
                  <a:txBody>
                    <a:bodyPr wrap="square"/>
                    <a:lstStyle/>
                    <a:p>
                      <a:pPr algn="ctr"/>
                      <a:r>
                        <a:rPr sz="950" b="1" i="0">
                          <a:solidFill>
                            <a:srgbClr val="FFFFFF"/>
                          </a:solidFill>
                        </a:rPr>
                        <a:t>Category</a:t>
                      </a:r>
                    </a:p>
                  </a:txBody>
                  <a:tcPr>
                    <a:solidFill>
                      <a:srgbClr val="0F2044"/>
                    </a:solidFill>
                  </a:tcPr>
                </a:tc>
                <a:tc>
                  <a:txBody>
                    <a:bodyPr wrap="square"/>
                    <a:lstStyle/>
                    <a:p>
                      <a:pPr algn="ctr"/>
                      <a:r>
                        <a:rPr sz="950" b="1" i="0">
                          <a:solidFill>
                            <a:srgbClr val="FFFFFF"/>
                          </a:solidFill>
                        </a:rPr>
                        <a:t>Yr 1</a:t>
                      </a:r>
                    </a:p>
                  </a:txBody>
                  <a:tcPr>
                    <a:solidFill>
                      <a:srgbClr val="0F2044"/>
                    </a:solidFill>
                  </a:tcPr>
                </a:tc>
                <a:tc>
                  <a:txBody>
                    <a:bodyPr wrap="square"/>
                    <a:lstStyle/>
                    <a:p>
                      <a:pPr algn="ctr"/>
                      <a:r>
                        <a:rPr sz="950" b="1" i="0">
                          <a:solidFill>
                            <a:srgbClr val="FFFFFF"/>
                          </a:solidFill>
                        </a:rPr>
                        <a:t>Yr 2</a:t>
                      </a:r>
                    </a:p>
                  </a:txBody>
                  <a:tcPr>
                    <a:solidFill>
                      <a:srgbClr val="0F2044"/>
                    </a:solidFill>
                  </a:tcPr>
                </a:tc>
                <a:tc>
                  <a:txBody>
                    <a:bodyPr wrap="square"/>
                    <a:lstStyle/>
                    <a:p>
                      <a:pPr algn="ctr"/>
                      <a:r>
                        <a:rPr sz="950" b="1" i="0">
                          <a:solidFill>
                            <a:srgbClr val="FFFFFF"/>
                          </a:solidFill>
                        </a:rPr>
                        <a:t>Yr 3</a:t>
                      </a:r>
                    </a:p>
                  </a:txBody>
                  <a:tcPr>
                    <a:solidFill>
                      <a:srgbClr val="0F2044"/>
                    </a:solidFill>
                  </a:tcPr>
                </a:tc>
              </a:tr>
              <a:tr h="292608">
                <a:tc>
                  <a:txBody>
                    <a:bodyPr wrap="square"/>
                    <a:lstStyle/>
                    <a:p>
                      <a:pPr algn="l"/>
                      <a:r>
                        <a:rPr sz="950" b="0" i="0">
                          <a:solidFill>
                            <a:srgbClr val="1A1A2E"/>
                          </a:solidFill>
                        </a:rPr>
                        <a:t>Cumulative Synergies</a:t>
                      </a:r>
                    </a:p>
                  </a:txBody>
                  <a:tcPr>
                    <a:solidFill>
                      <a:srgbClr val="EAF0FB"/>
                    </a:solidFill>
                  </a:tcPr>
                </a:tc>
                <a:tc>
                  <a:txBody>
                    <a:bodyPr wrap="square"/>
                    <a:lstStyle/>
                    <a:p>
                      <a:pPr algn="r"/>
                      <a:r>
                        <a:rPr sz="950" b="0" i="0">
                          <a:solidFill>
                            <a:srgbClr val="1A1A2E"/>
                          </a:solidFill>
                        </a:rPr>
                        <a:t>$1.3B</a:t>
                      </a:r>
                    </a:p>
                  </a:txBody>
                  <a:tcPr>
                    <a:solidFill>
                      <a:srgbClr val="EAF0FB"/>
                    </a:solidFill>
                  </a:tcPr>
                </a:tc>
                <a:tc>
                  <a:txBody>
                    <a:bodyPr wrap="square"/>
                    <a:lstStyle/>
                    <a:p>
                      <a:pPr algn="r"/>
                      <a:r>
                        <a:rPr sz="950" b="0" i="0">
                          <a:solidFill>
                            <a:srgbClr val="1A1A2E"/>
                          </a:solidFill>
                        </a:rPr>
                        <a:t>$2.6B</a:t>
                      </a:r>
                    </a:p>
                  </a:txBody>
                  <a:tcPr>
                    <a:solidFill>
                      <a:srgbClr val="EAF0FB"/>
                    </a:solidFill>
                  </a:tcPr>
                </a:tc>
                <a:tc>
                  <a:txBody>
                    <a:bodyPr wrap="square"/>
                    <a:lstStyle/>
                    <a:p>
                      <a:pPr algn="r"/>
                      <a:r>
                        <a:rPr sz="950" b="0" i="0">
                          <a:solidFill>
                            <a:srgbClr val="1A1A2E"/>
                          </a:solidFill>
                        </a:rPr>
                        <a:t>$4.4B</a:t>
                      </a:r>
                    </a:p>
                  </a:txBody>
                  <a:tcPr>
                    <a:solidFill>
                      <a:srgbClr val="EAF0FB"/>
                    </a:solidFill>
                  </a:tcPr>
                </a:tc>
              </a:tr>
              <a:tr h="292608">
                <a:tc>
                  <a:txBody>
                    <a:bodyPr wrap="square"/>
                    <a:lstStyle/>
                    <a:p>
                      <a:pPr algn="l"/>
                      <a:r>
                        <a:rPr sz="950" b="0" i="0">
                          <a:solidFill>
                            <a:srgbClr val="1A1A2E"/>
                          </a:solidFill>
                        </a:rPr>
                        <a:t>One-Time Costs (est.)</a:t>
                      </a:r>
                    </a:p>
                  </a:txBody>
                  <a:tcPr/>
                </a:tc>
                <a:tc>
                  <a:txBody>
                    <a:bodyPr wrap="square"/>
                    <a:lstStyle/>
                    <a:p>
                      <a:pPr algn="r"/>
                      <a:r>
                        <a:rPr sz="950" b="0" i="0">
                          <a:solidFill>
                            <a:srgbClr val="1A1A2E"/>
                          </a:solidFill>
                        </a:rPr>
                        <a:t>$0.8B</a:t>
                      </a:r>
                    </a:p>
                  </a:txBody>
                  <a:tcPr/>
                </a:tc>
                <a:tc>
                  <a:txBody>
                    <a:bodyPr wrap="square"/>
                    <a:lstStyle/>
                    <a:p>
                      <a:pPr algn="r"/>
                      <a:r>
                        <a:rPr sz="950" b="0" i="0">
                          <a:solidFill>
                            <a:srgbClr val="1A1A2E"/>
                          </a:solidFill>
                        </a:rPr>
                        <a:t>$0.5B</a:t>
                      </a:r>
                    </a:p>
                  </a:txBody>
                  <a:tcPr/>
                </a:tc>
                <a:tc>
                  <a:txBody>
                    <a:bodyPr wrap="square"/>
                    <a:lstStyle/>
                    <a:p>
                      <a:pPr algn="r"/>
                      <a:r>
                        <a:rPr sz="950" b="0" i="0">
                          <a:solidFill>
                            <a:srgbClr val="1A1A2E"/>
                          </a:solidFill>
                        </a:rPr>
                        <a:t>$0.2B</a:t>
                      </a:r>
                    </a:p>
                  </a:txBody>
                  <a:tcPr/>
                </a:tc>
              </a:tr>
              <a:tr h="292608">
                <a:tc>
                  <a:txBody>
                    <a:bodyPr wrap="square"/>
                    <a:lstStyle/>
                    <a:p>
                      <a:pPr algn="l"/>
                      <a:r>
                        <a:rPr sz="950" b="1" i="0">
                          <a:solidFill>
                            <a:srgbClr val="1A1A2E"/>
                          </a:solidFill>
                        </a:rPr>
                        <a:t>Net Cumulative Benefit</a:t>
                      </a:r>
                    </a:p>
                  </a:txBody>
                  <a:tcPr>
                    <a:solidFill>
                      <a:srgbClr val="EAF0FB"/>
                    </a:solidFill>
                  </a:tcPr>
                </a:tc>
                <a:tc>
                  <a:txBody>
                    <a:bodyPr wrap="square"/>
                    <a:lstStyle/>
                    <a:p>
                      <a:pPr algn="r"/>
                      <a:r>
                        <a:rPr sz="950" b="1" i="0">
                          <a:solidFill>
                            <a:srgbClr val="1A1A2E"/>
                          </a:solidFill>
                        </a:rPr>
                        <a:t>$0.5B</a:t>
                      </a:r>
                    </a:p>
                  </a:txBody>
                  <a:tcPr>
                    <a:solidFill>
                      <a:srgbClr val="EAF0FB"/>
                    </a:solidFill>
                  </a:tcPr>
                </a:tc>
                <a:tc>
                  <a:txBody>
                    <a:bodyPr wrap="square"/>
                    <a:lstStyle/>
                    <a:p>
                      <a:pPr algn="r"/>
                      <a:r>
                        <a:rPr sz="950" b="1" i="0">
                          <a:solidFill>
                            <a:srgbClr val="1A1A2E"/>
                          </a:solidFill>
                        </a:rPr>
                        <a:t>$2.1B</a:t>
                      </a:r>
                    </a:p>
                  </a:txBody>
                  <a:tcPr>
                    <a:solidFill>
                      <a:srgbClr val="EAF0FB"/>
                    </a:solidFill>
                  </a:tcPr>
                </a:tc>
                <a:tc>
                  <a:txBody>
                    <a:bodyPr wrap="square"/>
                    <a:lstStyle/>
                    <a:p>
                      <a:pPr algn="r"/>
                      <a:r>
                        <a:rPr sz="950" b="1" i="0">
                          <a:solidFill>
                            <a:srgbClr val="1A1A2E"/>
                          </a:solidFill>
                        </a:rPr>
                        <a:t>$4.2B</a:t>
                      </a:r>
                    </a:p>
                  </a:txBody>
                  <a:tcPr>
                    <a:solidFill>
                      <a:srgbClr val="EAF0FB"/>
                    </a:solidFill>
                  </a:tcPr>
                </a:tc>
              </a:tr>
              <a:tr h="292608">
                <a:tc>
                  <a:txBody>
                    <a:bodyPr wrap="square"/>
                    <a:lstStyle/>
                    <a:p>
                      <a:pPr algn="l"/>
                      <a:r>
                        <a:rPr sz="950" b="1" i="0">
                          <a:solidFill>
                            <a:srgbClr val="1A1A2E"/>
                          </a:solidFill>
                        </a:rPr>
                        <a:t>Payback Period</a:t>
                      </a:r>
                    </a:p>
                  </a:txBody>
                  <a:tcPr/>
                </a:tc>
                <a:tc>
                  <a:txBody>
                    <a:bodyPr wrap="square"/>
                    <a:lstStyle/>
                    <a:p>
                      <a:pPr algn="r"/>
                      <a:r>
                        <a:rPr sz="950" b="1" i="0">
                          <a:solidFill>
                            <a:srgbClr val="1A1A2E"/>
                          </a:solidFill>
                        </a:rPr>
                        <a:t>—</a:t>
                      </a:r>
                    </a:p>
                  </a:txBody>
                  <a:tcPr/>
                </a:tc>
                <a:tc>
                  <a:txBody>
                    <a:bodyPr wrap="square"/>
                    <a:lstStyle/>
                    <a:p>
                      <a:pPr algn="r"/>
                      <a:r>
                        <a:rPr sz="950" b="1" i="0">
                          <a:solidFill>
                            <a:srgbClr val="1A1A2E"/>
                          </a:solidFill>
                        </a:rPr>
                        <a:t>—</a:t>
                      </a:r>
                    </a:p>
                  </a:txBody>
                  <a:tcPr/>
                </a:tc>
                <a:tc>
                  <a:txBody>
                    <a:bodyPr wrap="square"/>
                    <a:lstStyle/>
                    <a:p>
                      <a:pPr algn="r"/>
                      <a:r>
                        <a:rPr sz="950" b="1" i="0">
                          <a:solidFill>
                            <a:srgbClr val="1A1A2E"/>
                          </a:solidFill>
                        </a:rPr>
                        <a:t>~5.5 years</a:t>
                      </a:r>
                    </a:p>
                  </a:txBody>
                  <a:tcPr/>
                </a:tc>
              </a:tr>
            </a:tbl>
          </a:graphicData>
        </a:graphic>
      </p:graphicFrame>
      <p:sp>
        <p:nvSpPr>
          <p:cNvPr id="14" name="Rectangle 13"/>
          <p:cNvSpPr/>
          <p:nvPr/>
        </p:nvSpPr>
        <p:spPr>
          <a:xfrm>
            <a:off x="0" y="6583680"/>
            <a:ext cx="12188952" cy="13716"/>
          </a:xfrm>
          <a:prstGeom prst="rect">
            <a:avLst/>
          </a:prstGeom>
          <a:solidFill>
            <a:srgbClr val="8A8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611112"/>
            <a:ext cx="11704320" cy="292608"/>
          </a:xfrm>
          <a:prstGeom prst="rect">
            <a:avLst/>
          </a:prstGeom>
          <a:noFill/>
        </p:spPr>
        <p:txBody>
          <a:bodyPr wrap="square">
            <a:spAutoFit/>
          </a:bodyPr>
          <a:lstStyle/>
          <a:p>
            <a:pPr algn="l"/>
            <a:r>
              <a:rPr sz="800" b="0" i="1">
                <a:solidFill>
                  <a:srgbClr val="8A8A9A"/>
                </a:solidFill>
              </a:rPr>
              <a:t>All figures sourced from company 10-K filings (FY2022–FY2024). Synergy NPV uses 8.75% WACC and $4.4B peak annual synergies. This presentation was validated using LibreOffice — please review in Microsoft PowerPoint before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